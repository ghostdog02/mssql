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_rels/notesSlide1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.xml.rels" ContentType="application/vnd.openxmlformats-package.relationships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9.png" ContentType="image/png"/>
  <Override PartName="/ppt/slideLayouts/_rels/slideLayout52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53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23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9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234465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dt" idx="3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" name="PlaceHolder 5"/>
          <p:cNvSpPr>
            <a:spLocks noGrp="1"/>
          </p:cNvSpPr>
          <p:nvPr>
            <p:ph type="ftr" idx="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" name="PlaceHolder 6"/>
          <p:cNvSpPr>
            <a:spLocks noGrp="1"/>
          </p:cNvSpPr>
          <p:nvPr>
            <p:ph type="sldNum" idx="5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4169340-3E48-4396-8811-6CAB1FF8D9A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3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3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4.xml"/><Relationship Id="rId3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5.xml"/><Relationship Id="rId3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6.xml"/><Relationship Id="rId3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7.xml"/><Relationship Id="rId3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8.xml"/><Relationship Id="rId3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9.xml"/><Relationship Id="rId3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10.xml"/><Relationship Id="rId3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12.xml"/><Relationship Id="rId3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13.xml"/><Relationship Id="rId3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14.xml"/><Relationship Id="rId3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15.xml"/><Relationship Id="rId3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16.xml"/><Relationship Id="rId3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17.xml"/><Relationship Id="rId3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18.xml"/><Relationship Id="rId3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19.xml"/><Relationship Id="rId3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20.xml"/><Relationship Id="rId3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21.xml"/><Relationship Id="rId3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22.xml"/><Relationship Id="rId3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23.xml"/><Relationship Id="rId3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Num" idx="24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2E9112B-6911-4A5F-84E7-2B886E6DDE3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23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8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PlaceHolder 4"/>
          <p:cNvSpPr>
            <a:spLocks noGrp="1"/>
          </p:cNvSpPr>
          <p:nvPr>
            <p:ph type="ftr" idx="25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Slide Number Placeholder 5"/>
          <p:cNvSpPr/>
          <p:nvPr/>
        </p:nvSpPr>
        <p:spPr>
          <a:xfrm>
            <a:off x="6489000" y="8847000"/>
            <a:ext cx="36720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711CD9AB-3914-4196-BB94-544AE9E396E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23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ftr" idx="26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27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9AC6632-E686-4D3B-92A0-75BC16CF21E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4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8" name="PlaceHolder 4"/>
          <p:cNvSpPr>
            <a:spLocks noGrp="1"/>
          </p:cNvSpPr>
          <p:nvPr>
            <p:ph type="ftr" idx="28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ldNum" idx="29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E595D8E-C4EA-4BCD-B9E2-719076B132A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4</a:t>
            </a:fld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##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3"/>
          <p:cNvSpPr>
            <a:spLocks noGrp="1"/>
          </p:cNvSpPr>
          <p:nvPr>
            <p:ph type="body"/>
          </p:nvPr>
        </p:nvSpPr>
        <p:spPr>
          <a:xfrm>
            <a:off x="688320" y="4416120"/>
            <a:ext cx="5504400" cy="418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PlaceHolder 4"/>
          <p:cNvSpPr>
            <a:spLocks noGrp="1"/>
          </p:cNvSpPr>
          <p:nvPr>
            <p:ph type="ftr" idx="30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Num" idx="31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F7AC00F-96CF-43D3-881E-CDF6789FD00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4</a:t>
            </a:fld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##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4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3"/>
          <p:cNvSpPr>
            <a:spLocks noGrp="1"/>
          </p:cNvSpPr>
          <p:nvPr>
            <p:ph type="body"/>
          </p:nvPr>
        </p:nvSpPr>
        <p:spPr>
          <a:xfrm>
            <a:off x="688320" y="4416120"/>
            <a:ext cx="5504400" cy="418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PlaceHolder 4"/>
          <p:cNvSpPr>
            <a:spLocks noGrp="1"/>
          </p:cNvSpPr>
          <p:nvPr>
            <p:ph type="ftr" idx="32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sldNum" idx="33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A14DF42-CC9B-4377-B798-B78144221D9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4</a:t>
            </a:fld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##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8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9" name="PlaceHolder 3"/>
          <p:cNvSpPr>
            <a:spLocks noGrp="1"/>
          </p:cNvSpPr>
          <p:nvPr>
            <p:ph type="body"/>
          </p:nvPr>
        </p:nvSpPr>
        <p:spPr>
          <a:xfrm>
            <a:off x="688320" y="4416120"/>
            <a:ext cx="5504400" cy="418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PlaceHolder 4"/>
          <p:cNvSpPr>
            <a:spLocks noGrp="1"/>
          </p:cNvSpPr>
          <p:nvPr>
            <p:ph type="ftr" idx="34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sldNum" idx="35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490A88D-DA6A-4BBB-B0AE-899104E3785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8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4" name="PlaceHolder 4"/>
          <p:cNvSpPr>
            <a:spLocks noGrp="1"/>
          </p:cNvSpPr>
          <p:nvPr>
            <p:ph type="ftr" idx="36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37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DDDEE81-0253-49CB-B988-9819B5D7A4A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9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8" name="PlaceHolder 4"/>
          <p:cNvSpPr>
            <a:spLocks noGrp="1"/>
          </p:cNvSpPr>
          <p:nvPr>
            <p:ph type="ftr" idx="38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 type="sldNum" idx="39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9D7FA0F-57F4-401C-AE3E-3895C1AFF7D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10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2" name="PlaceHolder 4"/>
          <p:cNvSpPr>
            <a:spLocks noGrp="1"/>
          </p:cNvSpPr>
          <p:nvPr>
            <p:ph type="ftr" idx="40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sldNum" idx="41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3186516-3626-4C06-BFDD-DBFAE947A4D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12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6" name="PlaceHolder 4"/>
          <p:cNvSpPr>
            <a:spLocks noGrp="1"/>
          </p:cNvSpPr>
          <p:nvPr>
            <p:ph type="ftr" idx="42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sldNum" idx="43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B7CFF42-ABB2-4BE2-9FE7-5825A5AFE03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13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0" name="PlaceHolder 4"/>
          <p:cNvSpPr>
            <a:spLocks noGrp="1"/>
          </p:cNvSpPr>
          <p:nvPr>
            <p:ph type="ftr" idx="44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 type="sldNum" idx="45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56209BD-C73C-483E-A7BA-15F089ECB78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14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4" name="PlaceHolder 4"/>
          <p:cNvSpPr>
            <a:spLocks noGrp="1"/>
          </p:cNvSpPr>
          <p:nvPr>
            <p:ph type="ftr" idx="46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ldNum" idx="47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09D8ED6-5EE7-42AB-A39D-DA1EE8501D5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8" name="PlaceHolder 4"/>
          <p:cNvSpPr>
            <a:spLocks noGrp="1"/>
          </p:cNvSpPr>
          <p:nvPr>
            <p:ph type="ftr" idx="48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sldNum" idx="49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D8E1DA9-E943-402B-B315-3ABEDD6BF6A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16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2" name="PlaceHolder 4"/>
          <p:cNvSpPr>
            <a:spLocks noGrp="1"/>
          </p:cNvSpPr>
          <p:nvPr>
            <p:ph type="ftr" idx="50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 type="sldNum" idx="51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0B63142-3B39-46A4-9AB7-D4F6AB032BB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6" name="PlaceHolder 4"/>
          <p:cNvSpPr>
            <a:spLocks noGrp="1"/>
          </p:cNvSpPr>
          <p:nvPr>
            <p:ph type="ftr" idx="52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sldNum" idx="53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E11EF08-70FE-4E32-8738-8B93B89FDC9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18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0" name="PlaceHolder 4"/>
          <p:cNvSpPr>
            <a:spLocks noGrp="1"/>
          </p:cNvSpPr>
          <p:nvPr>
            <p:ph type="ftr" idx="54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 type="sldNum" idx="55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4DF15BD-C704-4844-A171-0C6D01EF7AE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19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4" name="PlaceHolder 4"/>
          <p:cNvSpPr>
            <a:spLocks noGrp="1"/>
          </p:cNvSpPr>
          <p:nvPr>
            <p:ph type="ftr" idx="56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PlaceHolder 3"/>
          <p:cNvSpPr>
            <a:spLocks noGrp="1"/>
          </p:cNvSpPr>
          <p:nvPr>
            <p:ph type="sldNum" idx="57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03285CE-E9AE-41D0-9E77-C53FFC6BAA7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20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8" name="PlaceHolder 4"/>
          <p:cNvSpPr>
            <a:spLocks noGrp="1"/>
          </p:cNvSpPr>
          <p:nvPr>
            <p:ph type="ftr" idx="58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Slide Number Placeholder 5"/>
          <p:cNvSpPr/>
          <p:nvPr/>
        </p:nvSpPr>
        <p:spPr>
          <a:xfrm>
            <a:off x="6489000" y="8847000"/>
            <a:ext cx="36720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C66C779B-50A8-4628-85B5-10F690C27E6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20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PlaceHolder 3"/>
          <p:cNvSpPr>
            <a:spLocks noGrp="1"/>
          </p:cNvSpPr>
          <p:nvPr>
            <p:ph type="ftr" idx="59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Slide Number Placeholder 5"/>
          <p:cNvSpPr/>
          <p:nvPr/>
        </p:nvSpPr>
        <p:spPr>
          <a:xfrm>
            <a:off x="6489000" y="8847000"/>
            <a:ext cx="36720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D6AAAAE1-7685-40B1-9A87-5CD7F2B4563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PlaceHolder 3"/>
          <p:cNvSpPr>
            <a:spLocks noGrp="1"/>
          </p:cNvSpPr>
          <p:nvPr>
            <p:ph type="ftr" idx="60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Slide Number Placeholder 5"/>
          <p:cNvSpPr/>
          <p:nvPr/>
        </p:nvSpPr>
        <p:spPr>
          <a:xfrm>
            <a:off x="6489000" y="8847000"/>
            <a:ext cx="36720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E79AFE06-C2FB-4A8C-AAEE-20C7054062B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 type="ftr" idx="61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190440" y="100800"/>
            <a:ext cx="10270080" cy="409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4186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/>
          </p:nvPr>
        </p:nvSpPr>
        <p:spPr>
          <a:xfrm>
            <a:off x="818208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/>
          </p:nvPr>
        </p:nvSpPr>
        <p:spPr>
          <a:xfrm>
            <a:off x="190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/>
          </p:nvPr>
        </p:nvSpPr>
        <p:spPr>
          <a:xfrm>
            <a:off x="4186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/>
          </p:nvPr>
        </p:nvSpPr>
        <p:spPr>
          <a:xfrm>
            <a:off x="818208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91D6847-8244-49AF-96DA-CC3A5FC4304F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46257ED-6650-4329-B5E2-430C1C35FE87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6377EC6-DD12-451D-A8C3-61C6547F1201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58DF91C-80F4-413E-90CD-BAB1FC31C07F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E5AEECE-B0C8-46C9-9A7B-672904B42EA5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190440" y="100800"/>
            <a:ext cx="10270080" cy="409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3EDF829-4843-4BBF-80DF-CFEA21895215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A2EA79A-A756-43CB-9F92-228CCE8F9993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8B10106-C694-4F8E-A3BD-82178929A577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792A3CE-2AD7-473E-83F3-67A145299735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3D9BCAA-C2A0-4811-95EC-2D63F9988435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9218554-7660-4213-9313-A17A899AC4B7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186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818208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190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/>
          </p:nvPr>
        </p:nvSpPr>
        <p:spPr>
          <a:xfrm>
            <a:off x="4186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/>
          </p:nvPr>
        </p:nvSpPr>
        <p:spPr>
          <a:xfrm>
            <a:off x="818208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2107F69-2716-4C71-B11E-6B7D45705916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ubTitle"/>
          </p:nvPr>
        </p:nvSpPr>
        <p:spPr>
          <a:xfrm>
            <a:off x="190440" y="100800"/>
            <a:ext cx="10270080" cy="409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4186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/>
          </p:nvPr>
        </p:nvSpPr>
        <p:spPr>
          <a:xfrm>
            <a:off x="818208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/>
          </p:nvPr>
        </p:nvSpPr>
        <p:spPr>
          <a:xfrm>
            <a:off x="190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23" name="PlaceHolder 6"/>
          <p:cNvSpPr>
            <a:spLocks noGrp="1"/>
          </p:cNvSpPr>
          <p:nvPr>
            <p:ph/>
          </p:nvPr>
        </p:nvSpPr>
        <p:spPr>
          <a:xfrm>
            <a:off x="4186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24" name="PlaceHolder 7"/>
          <p:cNvSpPr>
            <a:spLocks noGrp="1"/>
          </p:cNvSpPr>
          <p:nvPr>
            <p:ph/>
          </p:nvPr>
        </p:nvSpPr>
        <p:spPr>
          <a:xfrm>
            <a:off x="818208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A2A1C1B-7C2B-4560-A905-7AD1519B9594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subTitle"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FDA8D30-BE84-4DB3-B229-7E0DC74A27E7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D06193B-83FA-45D9-AC99-1C8BA28E09A5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C89C096-2FE1-45FA-9A6C-56CF129B50E6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5ADD06C-3C21-4441-BD5D-AE6966A4C0F8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ubTitle"/>
          </p:nvPr>
        </p:nvSpPr>
        <p:spPr>
          <a:xfrm>
            <a:off x="190440" y="100800"/>
            <a:ext cx="10270080" cy="409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FDBEC65-C66A-40AD-AA57-750EEE4E2269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42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E3AC982-BA4A-4A39-A269-12AE1085F589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B2FD7AE-0166-4ADD-95A4-3BF88A508459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93AA916-6AA2-436C-85A3-96BDB47FDB01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D1CE1D2-EF47-4B73-924B-F62F9C68B4B5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58" name="PlaceHolder 5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6EFBB73-9EBE-4261-B756-13D39EB4AAD8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/>
          </p:nvPr>
        </p:nvSpPr>
        <p:spPr>
          <a:xfrm>
            <a:off x="4186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/>
          </p:nvPr>
        </p:nvSpPr>
        <p:spPr>
          <a:xfrm>
            <a:off x="818208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63" name="PlaceHolder 5"/>
          <p:cNvSpPr>
            <a:spLocks noGrp="1"/>
          </p:cNvSpPr>
          <p:nvPr>
            <p:ph/>
          </p:nvPr>
        </p:nvSpPr>
        <p:spPr>
          <a:xfrm>
            <a:off x="190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64" name="PlaceHolder 6"/>
          <p:cNvSpPr>
            <a:spLocks noGrp="1"/>
          </p:cNvSpPr>
          <p:nvPr>
            <p:ph/>
          </p:nvPr>
        </p:nvSpPr>
        <p:spPr>
          <a:xfrm>
            <a:off x="4186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65" name="PlaceHolder 7"/>
          <p:cNvSpPr>
            <a:spLocks noGrp="1"/>
          </p:cNvSpPr>
          <p:nvPr>
            <p:ph/>
          </p:nvPr>
        </p:nvSpPr>
        <p:spPr>
          <a:xfrm>
            <a:off x="818208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2BDB4AF-9BDD-4722-A554-5157823FEE5C}" type="slidenum">
              <a:t>&lt;#&gt;</a:t>
            </a:fld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subTitle"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ubTitle"/>
          </p:nvPr>
        </p:nvSpPr>
        <p:spPr>
          <a:xfrm>
            <a:off x="190440" y="100800"/>
            <a:ext cx="10270080" cy="409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97" name="PlaceHolder 5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/>
          </p:nvPr>
        </p:nvSpPr>
        <p:spPr>
          <a:xfrm>
            <a:off x="4186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/>
          </p:nvPr>
        </p:nvSpPr>
        <p:spPr>
          <a:xfrm>
            <a:off x="818208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02" name="PlaceHolder 5"/>
          <p:cNvSpPr>
            <a:spLocks noGrp="1"/>
          </p:cNvSpPr>
          <p:nvPr>
            <p:ph/>
          </p:nvPr>
        </p:nvSpPr>
        <p:spPr>
          <a:xfrm>
            <a:off x="190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03" name="PlaceHolder 6"/>
          <p:cNvSpPr>
            <a:spLocks noGrp="1"/>
          </p:cNvSpPr>
          <p:nvPr>
            <p:ph/>
          </p:nvPr>
        </p:nvSpPr>
        <p:spPr>
          <a:xfrm>
            <a:off x="4186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04" name="PlaceHolder 7"/>
          <p:cNvSpPr>
            <a:spLocks noGrp="1"/>
          </p:cNvSpPr>
          <p:nvPr>
            <p:ph/>
          </p:nvPr>
        </p:nvSpPr>
        <p:spPr>
          <a:xfrm>
            <a:off x="818208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hyperlink" Target="http://creativecommons.org/licenses/by-nc-sa/4.0/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Relationship Id="rId9" Type="http://schemas.openxmlformats.org/officeDocument/2006/relationships/slideLayout" Target="../slideLayouts/slideLayout5.xml"/><Relationship Id="rId10" Type="http://schemas.openxmlformats.org/officeDocument/2006/relationships/slideLayout" Target="../slideLayouts/slideLayout6.xml"/><Relationship Id="rId11" Type="http://schemas.openxmlformats.org/officeDocument/2006/relationships/slideLayout" Target="../slideLayouts/slideLayout7.xml"/><Relationship Id="rId12" Type="http://schemas.openxmlformats.org/officeDocument/2006/relationships/slideLayout" Target="../slideLayouts/slideLayout8.xml"/><Relationship Id="rId13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Bottom"/>
          <p:cNvSpPr/>
          <p:nvPr/>
        </p:nvSpPr>
        <p:spPr>
          <a:xfrm>
            <a:off x="0" y="6702840"/>
            <a:ext cx="12194640" cy="154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f7c86d"/>
              </a:solidFill>
              <a:latin typeface="Calibri"/>
              <a:ea typeface="맑은 고딕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body"/>
          </p:nvPr>
        </p:nvSpPr>
        <p:spPr>
          <a:xfrm>
            <a:off x="6390000" y="3399840"/>
            <a:ext cx="5248080" cy="21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bf7800"/>
                </a:solidFill>
                <a:latin typeface="Calibri"/>
              </a:rPr>
              <a:t>Click icon to add picture</a:t>
            </a: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390000" y="6086160"/>
            <a:ext cx="5248080" cy="3409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indent="0" algn="r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234465"/>
                </a:solidFill>
                <a:latin typeface="Calibri"/>
              </a:rPr>
              <a:t>https://softuni.foundation  </a:t>
            </a: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6390000" y="5698080"/>
            <a:ext cx="5248080" cy="37404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rmAutofit fontScale="94000"/>
          </a:bodyPr>
          <a:p>
            <a:pPr indent="0" algn="r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1a334c"/>
                </a:solidFill>
                <a:latin typeface="Calibri"/>
              </a:rPr>
              <a:t>SoftUni Foundation</a:t>
            </a:r>
            <a:endParaRPr b="0" lang="en-US" sz="2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533880" y="6085800"/>
            <a:ext cx="4751640" cy="34128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indent="0"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1a334c"/>
                </a:solidFill>
                <a:latin typeface="Calibri"/>
              </a:rPr>
              <a:t>URL</a:t>
            </a: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533880" y="5250960"/>
            <a:ext cx="4751640" cy="72468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indent="0"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1a334c"/>
                </a:solidFill>
                <a:latin typeface="Calibri"/>
              </a:rPr>
              <a:t>Authors</a:t>
            </a:r>
            <a:endParaRPr b="0" lang="en-US" sz="2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" name="PlaceHolder 6"/>
          <p:cNvSpPr>
            <a:spLocks noGrp="1"/>
          </p:cNvSpPr>
          <p:nvPr>
            <p:ph type="title"/>
          </p:nvPr>
        </p:nvSpPr>
        <p:spPr>
          <a:xfrm>
            <a:off x="554760" y="321480"/>
            <a:ext cx="11083320" cy="9712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rm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234465"/>
                </a:solidFill>
                <a:latin typeface="Calibri"/>
              </a:rPr>
              <a:t>Presentation Title</a:t>
            </a:r>
            <a:endParaRPr b="0" lang="en-US" sz="5400" spc="-1" strike="noStrike">
              <a:solidFill>
                <a:srgbClr val="234465"/>
              </a:solidFill>
              <a:latin typeface="Calibri"/>
            </a:endParaRPr>
          </a:p>
        </p:txBody>
      </p:sp>
      <p:pic>
        <p:nvPicPr>
          <p:cNvPr id="7" name="Picture 3" descr=""/>
          <p:cNvPicPr/>
          <p:nvPr/>
        </p:nvPicPr>
        <p:blipFill>
          <a:blip r:embed="rId2"/>
          <a:stretch/>
        </p:blipFill>
        <p:spPr>
          <a:xfrm>
            <a:off x="536400" y="4326120"/>
            <a:ext cx="2537640" cy="632520"/>
          </a:xfrm>
          <a:prstGeom prst="rect">
            <a:avLst/>
          </a:prstGeom>
          <a:ln w="0">
            <a:noFill/>
          </a:ln>
        </p:spPr>
      </p:pic>
      <p:sp>
        <p:nvSpPr>
          <p:cNvPr id="8" name="Picture 4">
            <a:hlinkClick r:id="rId3"/>
          </p:cNvPr>
          <p:cNvSpPr/>
          <p:nvPr/>
        </p:nvSpPr>
        <p:spPr>
          <a:xfrm>
            <a:off x="3402720" y="4321440"/>
            <a:ext cx="1809000" cy="632520"/>
          </a:xfrm>
          <a:prstGeom prst="roundRect">
            <a:avLst>
              <a:gd name="adj" fmla="val 3940"/>
            </a:avLst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sldNum" idx="1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B9FD1A7-FA3B-4EB8-B82B-4D273C8A5308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196920" y="1371600"/>
            <a:ext cx="11781360" cy="520704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rmAutofit/>
          </a:bodyPr>
          <a:p>
            <a:pPr marL="514080" indent="-51408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Calibri"/>
              <a:buAutoNum type="arabicPeriod"/>
            </a:pPr>
            <a:r>
              <a:rPr b="0" lang="en-US" sz="3600" spc="-1" strike="noStrike">
                <a:solidFill>
                  <a:srgbClr val="234465"/>
                </a:solidFill>
                <a:latin typeface="Calibri"/>
              </a:rPr>
              <a:t>…</a:t>
            </a: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…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…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marL="514080" indent="-51408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Calibri"/>
              <a:buAutoNum type="arabicPeriod"/>
            </a:pPr>
            <a:r>
              <a:rPr b="0" lang="en-US" sz="3600" spc="-1" strike="noStrike">
                <a:solidFill>
                  <a:srgbClr val="234465"/>
                </a:solidFill>
                <a:latin typeface="Calibri"/>
              </a:rPr>
              <a:t>…</a:t>
            </a: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…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…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marL="514080" indent="-51408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Calibri"/>
              <a:buAutoNum type="arabicPeriod"/>
            </a:pPr>
            <a:r>
              <a:rPr b="0" lang="en-US" sz="3600" spc="-1" strike="noStrike">
                <a:solidFill>
                  <a:srgbClr val="234465"/>
                </a:solidFill>
                <a:latin typeface="Calibri"/>
              </a:rPr>
              <a:t>…</a:t>
            </a: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7" name="Rectangle Top"/>
          <p:cNvSpPr/>
          <p:nvPr/>
        </p:nvSpPr>
        <p:spPr>
          <a:xfrm>
            <a:off x="0" y="0"/>
            <a:ext cx="12196440" cy="1095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f7c86d"/>
              </a:solidFill>
              <a:latin typeface="Calibri"/>
              <a:ea typeface="맑은 고딕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Table of Contents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pic>
        <p:nvPicPr>
          <p:cNvPr id="49" name="Picture 2" descr=""/>
          <p:cNvPicPr/>
          <p:nvPr/>
        </p:nvPicPr>
        <p:blipFill>
          <a:blip r:embed="rId2"/>
          <a:stretch/>
        </p:blipFill>
        <p:spPr>
          <a:xfrm>
            <a:off x="10553400" y="369000"/>
            <a:ext cx="1442880" cy="3596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Oval Center Icon"/>
          <p:cNvSpPr/>
          <p:nvPr/>
        </p:nvSpPr>
        <p:spPr>
          <a:xfrm>
            <a:off x="4319640" y="867600"/>
            <a:ext cx="3552120" cy="355212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f7c86d"/>
              </a:solidFill>
              <a:latin typeface="Calibri"/>
              <a:ea typeface="맑은 고딕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15240" y="4704840"/>
            <a:ext cx="10961280" cy="7678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390" spc="-1" strike="noStrike">
                <a:solidFill>
                  <a:srgbClr val="234465"/>
                </a:solidFill>
                <a:latin typeface="Calibri"/>
              </a:rPr>
              <a:t>Click to Edit Section Title</a:t>
            </a:r>
            <a:endParaRPr b="0" lang="en-US" sz="539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Click to edit the outline text format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64000" indent="-324000">
              <a:lnSpc>
                <a:spcPct val="10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pc="-1" strike="noStrike">
                <a:solidFill>
                  <a:srgbClr val="234465"/>
                </a:solidFill>
                <a:latin typeface="Calibri"/>
              </a:rPr>
              <a:t>Second Outline Level</a:t>
            </a:r>
            <a:endParaRPr b="0" lang="en-US" sz="3000" spc="-1" strike="noStrike">
              <a:solidFill>
                <a:srgbClr val="234465"/>
              </a:solidFill>
              <a:latin typeface="Calibri"/>
            </a:endParaRPr>
          </a:p>
          <a:p>
            <a:pPr lvl="2" marL="1296000" indent="-288000">
              <a:lnSpc>
                <a:spcPct val="10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234465"/>
                </a:solidFill>
                <a:latin typeface="Calibri"/>
              </a:rPr>
              <a:t>Third Outline Level</a:t>
            </a:r>
            <a:endParaRPr b="0" lang="en-US" sz="2800" spc="-1" strike="noStrike">
              <a:solidFill>
                <a:srgbClr val="234465"/>
              </a:solidFill>
              <a:latin typeface="Calibri"/>
            </a:endParaRPr>
          </a:p>
          <a:p>
            <a:pPr lvl="3" marL="1728000" indent="-216000">
              <a:lnSpc>
                <a:spcPct val="10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600" spc="-1" strike="noStrike">
                <a:solidFill>
                  <a:srgbClr val="234465"/>
                </a:solidFill>
                <a:latin typeface="Calibri"/>
              </a:rPr>
              <a:t>Fourth Outline Level</a:t>
            </a:r>
            <a:endParaRPr b="0" lang="en-US" sz="2600" spc="-1" strike="noStrike">
              <a:solidFill>
                <a:srgbClr val="234465"/>
              </a:solidFill>
              <a:latin typeface="Calibri"/>
            </a:endParaRPr>
          </a:p>
          <a:p>
            <a:pPr lvl="4" marL="2160000" indent="-216000">
              <a:lnSpc>
                <a:spcPct val="10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34465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234465"/>
              </a:solidFill>
              <a:latin typeface="Calibri"/>
            </a:endParaRPr>
          </a:p>
          <a:p>
            <a:pPr lvl="5" marL="2592000" indent="-216000">
              <a:lnSpc>
                <a:spcPct val="10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34465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234465"/>
              </a:solidFill>
              <a:latin typeface="Calibri"/>
            </a:endParaRPr>
          </a:p>
          <a:p>
            <a:pPr lvl="6" marL="3024000" indent="-216000">
              <a:lnSpc>
                <a:spcPct val="10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34465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Num" idx="2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843258A-3B0C-4DC0-B150-2B11819F2944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Edit Master text styles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200" spc="-1" strike="noStrike">
                <a:solidFill>
                  <a:srgbClr val="234465"/>
                </a:solidFill>
                <a:latin typeface="Calibri"/>
              </a:rPr>
              <a:t>Second level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lvl="2" marL="125568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000" spc="-1" strike="noStrike">
                <a:solidFill>
                  <a:srgbClr val="234465"/>
                </a:solidFill>
                <a:latin typeface="Calibri"/>
              </a:rPr>
              <a:t>Third level</a:t>
            </a:r>
            <a:endParaRPr b="0" lang="en-US" sz="3000" spc="-1" strike="noStrike">
              <a:solidFill>
                <a:srgbClr val="234465"/>
              </a:solidFill>
              <a:latin typeface="Calibri"/>
            </a:endParaRPr>
          </a:p>
          <a:p>
            <a:pPr lvl="3" marL="1700280" indent="-35244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2800" spc="-1" strike="noStrike">
                <a:solidFill>
                  <a:srgbClr val="234465"/>
                </a:solidFill>
                <a:latin typeface="Calibri"/>
              </a:rPr>
              <a:t>Fourth level</a:t>
            </a:r>
            <a:endParaRPr b="0" lang="en-US" sz="2800" spc="-1" strike="noStrike">
              <a:solidFill>
                <a:srgbClr val="234465"/>
              </a:solidFill>
              <a:latin typeface="Calibri"/>
            </a:endParaRPr>
          </a:p>
          <a:p>
            <a:pPr lvl="4" marL="2058840" indent="-2667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2600" spc="-1" strike="noStrike">
                <a:solidFill>
                  <a:srgbClr val="234465"/>
                </a:solidFill>
                <a:latin typeface="Calibri"/>
              </a:rPr>
              <a:t>Fifth level</a:t>
            </a:r>
            <a:endParaRPr b="0" lang="en-US" sz="26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27" name="Rectangle Top"/>
          <p:cNvSpPr/>
          <p:nvPr/>
        </p:nvSpPr>
        <p:spPr>
          <a:xfrm>
            <a:off x="0" y="0"/>
            <a:ext cx="12196440" cy="1095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f7c86d"/>
              </a:solidFill>
              <a:latin typeface="Calibri"/>
              <a:ea typeface="맑은 고딕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Slide Title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pic>
        <p:nvPicPr>
          <p:cNvPr id="129" name="Picture 3" descr=""/>
          <p:cNvPicPr/>
          <p:nvPr/>
        </p:nvPicPr>
        <p:blipFill>
          <a:blip r:embed="rId2"/>
          <a:stretch/>
        </p:blipFill>
        <p:spPr>
          <a:xfrm>
            <a:off x="10553400" y="369000"/>
            <a:ext cx="1442880" cy="3596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Bottom"/>
          <p:cNvSpPr/>
          <p:nvPr/>
        </p:nvSpPr>
        <p:spPr>
          <a:xfrm>
            <a:off x="0" y="6371280"/>
            <a:ext cx="12194640" cy="4867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f7c86d"/>
              </a:solidFill>
              <a:latin typeface="Calibri"/>
              <a:ea typeface="맑은 고딕"/>
            </a:endParaRPr>
          </a:p>
        </p:txBody>
      </p:sp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726840" y="1461960"/>
            <a:ext cx="10731240" cy="30466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rmAutofit/>
          </a:bodyPr>
          <a:p>
            <a:pPr indent="0" algn="ctr">
              <a:lnSpc>
                <a:spcPct val="100000"/>
              </a:lnSpc>
              <a:buNone/>
            </a:pPr>
            <a:r>
              <a:rPr b="1" lang="bg-BG" sz="13800" spc="-1" strike="noStrike">
                <a:solidFill>
                  <a:srgbClr val="234465"/>
                </a:solidFill>
                <a:latin typeface="Calibri"/>
              </a:rPr>
              <a:t>Въпроси?</a:t>
            </a:r>
            <a:endParaRPr b="0" lang="en-US" sz="13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Click to edit the outline text format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64000" indent="-324000">
              <a:lnSpc>
                <a:spcPct val="10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pc="-1" strike="noStrike">
                <a:solidFill>
                  <a:srgbClr val="234465"/>
                </a:solidFill>
                <a:latin typeface="Calibri"/>
              </a:rPr>
              <a:t>Second Outline Level</a:t>
            </a:r>
            <a:endParaRPr b="0" lang="en-US" sz="3000" spc="-1" strike="noStrike">
              <a:solidFill>
                <a:srgbClr val="234465"/>
              </a:solidFill>
              <a:latin typeface="Calibri"/>
            </a:endParaRPr>
          </a:p>
          <a:p>
            <a:pPr lvl="2" marL="1296000" indent="-288000">
              <a:lnSpc>
                <a:spcPct val="10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234465"/>
                </a:solidFill>
                <a:latin typeface="Calibri"/>
              </a:rPr>
              <a:t>Third Outline Level</a:t>
            </a:r>
            <a:endParaRPr b="0" lang="en-US" sz="2800" spc="-1" strike="noStrike">
              <a:solidFill>
                <a:srgbClr val="234465"/>
              </a:solidFill>
              <a:latin typeface="Calibri"/>
            </a:endParaRPr>
          </a:p>
          <a:p>
            <a:pPr lvl="3" marL="1728000" indent="-216000">
              <a:lnSpc>
                <a:spcPct val="10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600" spc="-1" strike="noStrike">
                <a:solidFill>
                  <a:srgbClr val="234465"/>
                </a:solidFill>
                <a:latin typeface="Calibri"/>
              </a:rPr>
              <a:t>Fourth Outline Level</a:t>
            </a:r>
            <a:endParaRPr b="0" lang="en-US" sz="2600" spc="-1" strike="noStrike">
              <a:solidFill>
                <a:srgbClr val="234465"/>
              </a:solidFill>
              <a:latin typeface="Calibri"/>
            </a:endParaRPr>
          </a:p>
          <a:p>
            <a:pPr lvl="4" marL="2160000" indent="-216000">
              <a:lnSpc>
                <a:spcPct val="10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34465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234465"/>
              </a:solidFill>
              <a:latin typeface="Calibri"/>
            </a:endParaRPr>
          </a:p>
          <a:p>
            <a:pPr lvl="5" marL="2592000" indent="-216000">
              <a:lnSpc>
                <a:spcPct val="10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34465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234465"/>
              </a:solidFill>
              <a:latin typeface="Calibri"/>
            </a:endParaRPr>
          </a:p>
          <a:p>
            <a:pPr lvl="6" marL="3024000" indent="-216000">
              <a:lnSpc>
                <a:spcPct val="10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34465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s://about.softuni.bg/" TargetMode="Externa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37.xml"/><Relationship Id="rId4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hyperlink" Target="https://github.com/BG-IT-Edu" TargetMode="External"/><Relationship Id="rId2" Type="http://schemas.openxmlformats.org/officeDocument/2006/relationships/slideLayout" Target="../slideLayouts/slideLayout49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hyperlink" Target="https://github.com/BG-IT-Edu" TargetMode="External"/><Relationship Id="rId3" Type="http://schemas.openxmlformats.org/officeDocument/2006/relationships/hyperlink" Target="http://creativecommons.org/licenses/by-nc-sa/4.0/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37.xml"/><Relationship Id="rId6" Type="http://schemas.openxmlformats.org/officeDocument/2006/relationships/notesSlide" Target="../notesSlides/notesSlide2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/>
          </p:nvPr>
        </p:nvSpPr>
        <p:spPr>
          <a:xfrm>
            <a:off x="6390000" y="6086160"/>
            <a:ext cx="5248080" cy="3409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indent="0" algn="r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bg-BG" sz="1800" spc="-1" strike="noStrike">
                <a:solidFill>
                  <a:srgbClr val="234465"/>
                </a:solidFill>
                <a:latin typeface="Calibri"/>
              </a:rPr>
              <a:t>Софтуерни и хардуерни науки</a:t>
            </a: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6390000" y="5698080"/>
            <a:ext cx="5248080" cy="37404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rmAutofit fontScale="94000"/>
          </a:bodyPr>
          <a:p>
            <a:pPr indent="0" algn="r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bg-BG" sz="2000" spc="-1" strike="noStrike">
                <a:solidFill>
                  <a:srgbClr val="234465"/>
                </a:solidFill>
                <a:latin typeface="Calibri"/>
              </a:rPr>
              <a:t>Курс "Релационни бази данни"</a:t>
            </a:r>
            <a:endParaRPr b="0" lang="en-US" sz="2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/>
          </p:nvPr>
        </p:nvSpPr>
        <p:spPr>
          <a:xfrm>
            <a:off x="533880" y="6085800"/>
            <a:ext cx="4751640" cy="34128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indent="0"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1800" spc="-1" strike="noStrike" u="sng">
                <a:solidFill>
                  <a:srgbClr val="8f5a00"/>
                </a:solidFill>
                <a:uFillTx/>
                <a:latin typeface="Calibri"/>
                <a:hlinkClick r:id="rId1"/>
              </a:rPr>
              <a:t>https://about.softuni.bg</a:t>
            </a: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/>
          </p:nvPr>
        </p:nvSpPr>
        <p:spPr>
          <a:xfrm>
            <a:off x="533880" y="5250960"/>
            <a:ext cx="4751640" cy="72468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indent="0"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1a334c"/>
                </a:solidFill>
                <a:latin typeface="Calibri"/>
              </a:rPr>
              <a:t>Software University</a:t>
            </a:r>
            <a:endParaRPr b="0" lang="en-US" sz="2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 type="subTitle"/>
          </p:nvPr>
        </p:nvSpPr>
        <p:spPr>
          <a:xfrm>
            <a:off x="554760" y="1402920"/>
            <a:ext cx="11083320" cy="13057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rmAutofit/>
          </a:bodyPr>
          <a:p>
            <a:pPr indent="0" algn="ctr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bg-BG" sz="3600" spc="-1" strike="noStrike">
                <a:solidFill>
                  <a:srgbClr val="234465"/>
                </a:solidFill>
                <a:latin typeface="Calibri"/>
              </a:rPr>
              <a:t>Използване на агрегатни функции. </a:t>
            </a:r>
            <a:r>
              <a:rPr b="0" lang="en-US" sz="3600" spc="-1" strike="noStrike">
                <a:solidFill>
                  <a:srgbClr val="234465"/>
                </a:solidFill>
                <a:latin typeface="Calibri"/>
              </a:rPr>
              <a:t>GROUP BY </a:t>
            </a:r>
            <a:r>
              <a:rPr b="0" lang="bg-BG" sz="3600" spc="-1" strike="noStrike">
                <a:solidFill>
                  <a:srgbClr val="234465"/>
                </a:solidFill>
                <a:latin typeface="Calibri"/>
              </a:rPr>
              <a:t>и </a:t>
            </a:r>
            <a:r>
              <a:rPr b="0" lang="en-US" sz="3600" spc="-1" strike="noStrike">
                <a:solidFill>
                  <a:srgbClr val="234465"/>
                </a:solidFill>
                <a:latin typeface="Calibri"/>
              </a:rPr>
              <a:t>HAVING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6"/>
          <p:cNvSpPr>
            <a:spLocks noGrp="1"/>
          </p:cNvSpPr>
          <p:nvPr>
            <p:ph type="title"/>
          </p:nvPr>
        </p:nvSpPr>
        <p:spPr>
          <a:xfrm>
            <a:off x="554760" y="321480"/>
            <a:ext cx="11083320" cy="9712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rmAutofit/>
          </a:bodyPr>
          <a:p>
            <a:pPr indent="0" algn="ctr">
              <a:lnSpc>
                <a:spcPct val="100000"/>
              </a:lnSpc>
              <a:buNone/>
            </a:pPr>
            <a:r>
              <a:rPr b="1" lang="ru-RU" sz="4400" spc="-1" strike="noStrike">
                <a:solidFill>
                  <a:srgbClr val="234465"/>
                </a:solidFill>
                <a:latin typeface="Calibri"/>
              </a:rPr>
              <a:t>Групови и агрегатни функции</a:t>
            </a:r>
            <a:endParaRPr b="0" lang="en-US" sz="4400" spc="-1" strike="noStrike">
              <a:solidFill>
                <a:srgbClr val="234465"/>
              </a:solidFill>
              <a:latin typeface="Calibri"/>
            </a:endParaRPr>
          </a:p>
        </p:txBody>
      </p:sp>
      <p:pic>
        <p:nvPicPr>
          <p:cNvPr id="217" name="Picture 2" descr="Grouping - Free business and finance icons"/>
          <p:cNvPicPr/>
          <p:nvPr/>
        </p:nvPicPr>
        <p:blipFill>
          <a:blip r:embed="rId2"/>
          <a:stretch/>
        </p:blipFill>
        <p:spPr>
          <a:xfrm>
            <a:off x="8840880" y="2186640"/>
            <a:ext cx="3047760" cy="3047760"/>
          </a:xfrm>
          <a:prstGeom prst="rect">
            <a:avLst/>
          </a:prstGeom>
          <a:ln w="0">
            <a:noFill/>
          </a:ln>
        </p:spPr>
      </p:pic>
      <p:pic>
        <p:nvPicPr>
          <p:cNvPr id="218" name="Picture 3" descr=""/>
          <p:cNvPicPr/>
          <p:nvPr/>
        </p:nvPicPr>
        <p:blipFill>
          <a:blip r:embed="rId3"/>
          <a:stretch/>
        </p:blipFill>
        <p:spPr>
          <a:xfrm>
            <a:off x="584280" y="3002400"/>
            <a:ext cx="1956240" cy="875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advTm="5000" p14:dur="2000"/>
    </mc:Choice>
    <mc:Fallback>
      <p:transition spd="slow" advTm="5000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/>
          </p:nvPr>
        </p:nvSpPr>
        <p:spPr>
          <a:xfrm>
            <a:off x="304920" y="1219320"/>
            <a:ext cx="10671480" cy="520704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514080" indent="-51408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Calibri"/>
              <a:buAutoNum type="arabicPeriod"/>
            </a:pP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Агрегатни функции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24464"/>
              </a:buClr>
              <a:buFont typeface="Wingdings" charset="2"/>
              <a:buChar char=""/>
            </a:pPr>
            <a:r>
              <a:rPr b="1" lang="en-US" sz="3000" spc="-1" strike="noStrike">
                <a:solidFill>
                  <a:srgbClr val="bf7800"/>
                </a:solidFill>
                <a:latin typeface="Consolas"/>
              </a:rPr>
              <a:t>COUNT</a:t>
            </a:r>
            <a:endParaRPr b="0" lang="en-US" sz="30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24464"/>
              </a:buClr>
              <a:buFont typeface="Wingdings" charset="2"/>
              <a:buChar char=""/>
            </a:pPr>
            <a:r>
              <a:rPr b="1" lang="en-US" sz="3000" spc="-1" strike="noStrike">
                <a:solidFill>
                  <a:srgbClr val="bf7800"/>
                </a:solidFill>
                <a:latin typeface="Consolas"/>
              </a:rPr>
              <a:t>MIN</a:t>
            </a:r>
            <a:endParaRPr b="0" lang="en-US" sz="30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24464"/>
              </a:buClr>
              <a:buFont typeface="Wingdings" charset="2"/>
              <a:buChar char=""/>
            </a:pPr>
            <a:r>
              <a:rPr b="1" lang="en-US" sz="3000" spc="-1" strike="noStrike">
                <a:solidFill>
                  <a:srgbClr val="bf7800"/>
                </a:solidFill>
                <a:latin typeface="Consolas"/>
              </a:rPr>
              <a:t>MAX</a:t>
            </a:r>
            <a:endParaRPr b="0" lang="en-US" sz="30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24464"/>
              </a:buClr>
              <a:buFont typeface="Wingdings" charset="2"/>
              <a:buChar char=""/>
            </a:pPr>
            <a:r>
              <a:rPr b="1" lang="en-US" sz="3000" spc="-1" strike="noStrike">
                <a:solidFill>
                  <a:srgbClr val="bf7800"/>
                </a:solidFill>
                <a:latin typeface="Consolas"/>
              </a:rPr>
              <a:t>AVG</a:t>
            </a:r>
            <a:endParaRPr b="0" lang="en-US" sz="3000" spc="-1" strike="noStrike">
              <a:solidFill>
                <a:srgbClr val="234465"/>
              </a:solidFill>
              <a:latin typeface="Calibri"/>
            </a:endParaRPr>
          </a:p>
          <a:p>
            <a:pPr marL="514080" indent="-51408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24464"/>
              </a:buClr>
              <a:buFont typeface="Calibri"/>
              <a:buAutoNum type="arabicPeriod"/>
            </a:pP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Групиране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24464"/>
              </a:buClr>
              <a:buFont typeface="Wingdings" charset="2"/>
              <a:buChar char=""/>
            </a:pPr>
            <a:r>
              <a:rPr b="1" lang="en-US" sz="3000" spc="-1" strike="noStrike">
                <a:solidFill>
                  <a:srgbClr val="bf7800"/>
                </a:solidFill>
                <a:latin typeface="Consolas"/>
              </a:rPr>
              <a:t>GROUP</a:t>
            </a:r>
            <a:r>
              <a:rPr b="1" lang="en-US" sz="3000" spc="-1" strike="noStrike">
                <a:solidFill>
                  <a:srgbClr val="bf7800"/>
                </a:solidFill>
                <a:latin typeface="Calibri"/>
              </a:rPr>
              <a:t> </a:t>
            </a:r>
            <a:r>
              <a:rPr b="1" lang="en-US" sz="3000" spc="-1" strike="noStrike">
                <a:solidFill>
                  <a:srgbClr val="bf7800"/>
                </a:solidFill>
                <a:latin typeface="Consolas"/>
              </a:rPr>
              <a:t>BY</a:t>
            </a:r>
            <a:endParaRPr b="0" lang="en-US" sz="30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24464"/>
              </a:buClr>
              <a:buFont typeface="Wingdings" charset="2"/>
              <a:buChar char=""/>
            </a:pPr>
            <a:r>
              <a:rPr b="1" lang="en-US" sz="3000" spc="-1" strike="noStrike">
                <a:solidFill>
                  <a:srgbClr val="bf7800"/>
                </a:solidFill>
                <a:latin typeface="Consolas"/>
              </a:rPr>
              <a:t>HAVING</a:t>
            </a:r>
            <a:endParaRPr b="0" lang="en-US" sz="3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96688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Съдържание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21" name="Slide Number"/>
          <p:cNvSpPr/>
          <p:nvPr/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13D749A1-8BF4-406A-A00D-04E55FE2A448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</a:t>
            </a:fld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Picture 2" descr="Borromean rings - Wikipedia"/>
          <p:cNvPicPr/>
          <p:nvPr/>
        </p:nvPicPr>
        <p:blipFill>
          <a:blip r:embed="rId1"/>
          <a:stretch/>
        </p:blipFill>
        <p:spPr>
          <a:xfrm>
            <a:off x="4555800" y="1219320"/>
            <a:ext cx="3080520" cy="3057120"/>
          </a:xfrm>
          <a:prstGeom prst="rect">
            <a:avLst/>
          </a:prstGeom>
          <a:ln w="0">
            <a:noFill/>
          </a:ln>
        </p:spPr>
      </p:pic>
      <p:sp>
        <p:nvSpPr>
          <p:cNvPr id="223" name="PlaceHolder 1"/>
          <p:cNvSpPr>
            <a:spLocks noGrp="1"/>
          </p:cNvSpPr>
          <p:nvPr>
            <p:ph type="subTitle"/>
          </p:nvPr>
        </p:nvSpPr>
        <p:spPr>
          <a:xfrm>
            <a:off x="615240" y="5585760"/>
            <a:ext cx="10961280" cy="7678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algn="ctr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4000" spc="-1" strike="noStrike">
                <a:solidFill>
                  <a:srgbClr val="234465"/>
                </a:solidFill>
                <a:latin typeface="Calibri"/>
              </a:rPr>
              <a:t>COUNT, MIN, MAX, AVG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title"/>
          </p:nvPr>
        </p:nvSpPr>
        <p:spPr>
          <a:xfrm>
            <a:off x="615240" y="4704840"/>
            <a:ext cx="10961280" cy="7678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bg-BG" sz="5390" spc="-1" strike="noStrike">
                <a:solidFill>
                  <a:srgbClr val="234465"/>
                </a:solidFill>
                <a:latin typeface="Calibri"/>
              </a:rPr>
              <a:t>Агрегатни функции</a:t>
            </a:r>
            <a:endParaRPr b="0" lang="en-US" sz="539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Line 2"/>
          <p:cNvSpPr/>
          <p:nvPr/>
        </p:nvSpPr>
        <p:spPr>
          <a:xfrm>
            <a:off x="5964120" y="4528440"/>
            <a:ext cx="1656000" cy="360"/>
          </a:xfrm>
          <a:prstGeom prst="line">
            <a:avLst/>
          </a:prstGeom>
          <a:ln cap="rnd" w="34925">
            <a:solidFill>
              <a:srgbClr val="67748e">
                <a:lumMod val="20000"/>
                <a:lumOff val="80000"/>
              </a:srgbClr>
            </a:solidFill>
            <a:prstDash val="sysDot"/>
            <a:round/>
            <a:tailEnd len="sm" type="arrow" w="sm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 anchorCtr="1">
            <a:noAutofit/>
          </a:bodyPr>
          <a:p>
            <a:endParaRPr b="0" lang="bg-BG" sz="2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26" name="Line 3"/>
          <p:cNvSpPr/>
          <p:nvPr/>
        </p:nvSpPr>
        <p:spPr>
          <a:xfrm>
            <a:off x="5964120" y="3665160"/>
            <a:ext cx="1656000" cy="647640"/>
          </a:xfrm>
          <a:prstGeom prst="line">
            <a:avLst/>
          </a:prstGeom>
          <a:ln cap="rnd" w="34925">
            <a:solidFill>
              <a:srgbClr val="67748e">
                <a:lumMod val="20000"/>
                <a:lumOff val="80000"/>
              </a:srgbClr>
            </a:solidFill>
            <a:prstDash val="sysDot"/>
            <a:round/>
            <a:tailEnd len="sm" type="arrow" w="sm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endParaRPr b="0" lang="bg-BG" sz="2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27" name="Line 4"/>
          <p:cNvSpPr/>
          <p:nvPr/>
        </p:nvSpPr>
        <p:spPr>
          <a:xfrm flipV="1">
            <a:off x="5964120" y="4744440"/>
            <a:ext cx="1656000" cy="576360"/>
          </a:xfrm>
          <a:prstGeom prst="line">
            <a:avLst/>
          </a:prstGeom>
          <a:ln cap="rnd" w="34925">
            <a:solidFill>
              <a:srgbClr val="67748e">
                <a:lumMod val="20000"/>
                <a:lumOff val="80000"/>
              </a:srgbClr>
            </a:solidFill>
            <a:prstDash val="sysDot"/>
            <a:round/>
            <a:tailEnd len="sm" type="arrow" w="sm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endParaRPr b="0" lang="bg-BG" sz="2800" spc="-1" strike="noStrike">
              <a:solidFill>
                <a:srgbClr val="234465"/>
              </a:solidFill>
              <a:latin typeface="Calibri"/>
            </a:endParaRPr>
          </a:p>
        </p:txBody>
      </p:sp>
      <p:pic>
        <p:nvPicPr>
          <p:cNvPr id="228" name="Picture 6" descr="http://www.iconarchive.com/icons/dryicons/aesthetica-2/128/database-process-icon.png"/>
          <p:cNvPicPr/>
          <p:nvPr/>
        </p:nvPicPr>
        <p:blipFill>
          <a:blip r:embed="rId1"/>
          <a:stretch/>
        </p:blipFill>
        <p:spPr>
          <a:xfrm>
            <a:off x="6283440" y="4095360"/>
            <a:ext cx="838080" cy="837720"/>
          </a:xfrm>
          <a:prstGeom prst="rect">
            <a:avLst/>
          </a:prstGeom>
          <a:ln w="0">
            <a:noFill/>
          </a:ln>
        </p:spPr>
      </p:pic>
      <p:sp>
        <p:nvSpPr>
          <p:cNvPr id="229" name="PlaceHolder 1"/>
          <p:cNvSpPr>
            <a:spLocks noGrp="1"/>
          </p:cNvSpPr>
          <p:nvPr>
            <p:ph/>
          </p:nvPr>
        </p:nvSpPr>
        <p:spPr>
          <a:xfrm>
            <a:off x="190440" y="1287720"/>
            <a:ext cx="11807640" cy="55699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Работят върху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набори от редове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, за да върнат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един единствен резултат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Агрегатни функции – същност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graphicFrame>
        <p:nvGraphicFramePr>
          <p:cNvPr id="231" name="Group 8"/>
          <p:cNvGraphicFramePr/>
          <p:nvPr/>
        </p:nvGraphicFramePr>
        <p:xfrm>
          <a:off x="2473920" y="2904120"/>
          <a:ext cx="3285360" cy="5847480"/>
        </p:xfrm>
        <a:graphic>
          <a:graphicData uri="http://schemas.openxmlformats.org/drawingml/2006/table">
            <a:tbl>
              <a:tblPr/>
              <a:tblGrid>
                <a:gridCol w="1854720"/>
                <a:gridCol w="1430640"/>
              </a:tblGrid>
              <a:tr h="342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1040"/>
                        </a:spcBef>
                        <a:tabLst>
                          <a:tab algn="l" pos="0"/>
                        </a:tabLst>
                      </a:pPr>
                      <a:r>
                        <a:rPr b="1" lang="en-US" sz="26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EmployeeID</a:t>
                      </a:r>
                      <a:endParaRPr b="0" lang="en-US" sz="2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1040"/>
                        </a:spcBef>
                        <a:tabLst>
                          <a:tab algn="l" pos="0"/>
                        </a:tabLst>
                      </a:pPr>
                      <a:r>
                        <a:rPr b="1" lang="en-US" sz="26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Salary</a:t>
                      </a:r>
                      <a:endParaRPr b="0" lang="en-US" sz="2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0" lang="bg-BG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1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0" lang="bg-BG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12500</a:t>
                      </a: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.</a:t>
                      </a:r>
                      <a:r>
                        <a:rPr b="0" lang="bg-BG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00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0" lang="bg-BG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2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0" lang="bg-BG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13500</a:t>
                      </a: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.</a:t>
                      </a:r>
                      <a:r>
                        <a:rPr b="0" lang="bg-BG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00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0" lang="bg-BG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3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0" lang="bg-BG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43300</a:t>
                      </a: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.</a:t>
                      </a:r>
                      <a:r>
                        <a:rPr b="0" lang="bg-BG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00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0" lang="bg-BG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4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0" lang="bg-BG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29800</a:t>
                      </a: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.</a:t>
                      </a:r>
                      <a:r>
                        <a:rPr b="0" lang="bg-BG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00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0" lang="bg-BG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5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0" lang="bg-BG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25000</a:t>
                      </a: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.</a:t>
                      </a:r>
                      <a:r>
                        <a:rPr b="0" lang="bg-BG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00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0" lang="bg-BG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...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0" lang="bg-BG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...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32" name="Group 34"/>
          <p:cNvGraphicFramePr/>
          <p:nvPr/>
        </p:nvGraphicFramePr>
        <p:xfrm>
          <a:off x="7893360" y="4081320"/>
          <a:ext cx="2393280" cy="1007280"/>
        </p:xfrm>
        <a:graphic>
          <a:graphicData uri="http://schemas.openxmlformats.org/drawingml/2006/table">
            <a:tbl>
              <a:tblPr/>
              <a:tblGrid>
                <a:gridCol w="2393280"/>
              </a:tblGrid>
              <a:tr h="2664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1040"/>
                        </a:spcBef>
                        <a:tabLst>
                          <a:tab algn="l" pos="0"/>
                        </a:tabLst>
                      </a:pPr>
                      <a:r>
                        <a:rPr b="1" lang="en-US" sz="26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MAX(Salary)</a:t>
                      </a:r>
                      <a:endParaRPr b="0" lang="en-US" sz="2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50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bg-BG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125500</a:t>
                      </a:r>
                      <a:r>
                        <a:rPr b="1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.</a:t>
                      </a:r>
                      <a:r>
                        <a:rPr b="1" lang="bg-BG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00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33" name="Freeform 5"/>
          <p:cNvSpPr/>
          <p:nvPr/>
        </p:nvSpPr>
        <p:spPr>
          <a:xfrm>
            <a:off x="5760360" y="2908440"/>
            <a:ext cx="2133720" cy="3111120"/>
          </a:xfrm>
          <a:custGeom>
            <a:avLst/>
            <a:gdLst>
              <a:gd name="textAreaLeft" fmla="*/ 0 w 2133720"/>
              <a:gd name="textAreaRight" fmla="*/ 2134080 w 2133720"/>
              <a:gd name="textAreaTop" fmla="*/ 0 h 3111120"/>
              <a:gd name="textAreaBottom" fmla="*/ 3111480 h 3111120"/>
            </a:gdLst>
            <a:ahLst/>
            <a:rect l="textAreaLeft" t="textAreaTop" r="textAreaRight" b="textAreaBottom"/>
            <a:pathLst>
              <a:path w="1359" h="2543">
                <a:moveTo>
                  <a:pt x="0" y="2542"/>
                </a:moveTo>
                <a:lnTo>
                  <a:pt x="0" y="0"/>
                </a:lnTo>
                <a:lnTo>
                  <a:pt x="1358" y="962"/>
                </a:lnTo>
                <a:lnTo>
                  <a:pt x="1358" y="1702"/>
                </a:lnTo>
                <a:lnTo>
                  <a:pt x="0" y="2542"/>
                </a:lnTo>
              </a:path>
            </a:pathLst>
          </a:custGeom>
          <a:solidFill>
            <a:schemeClr val="accent5">
              <a:lumMod val="60000"/>
              <a:lumOff val="40000"/>
              <a:alpha val="25000"/>
            </a:schemeClr>
          </a:solidFill>
          <a:ln cap="rnd" w="22225">
            <a:solidFill>
              <a:srgbClr val="67748e">
                <a:lumMod val="20000"/>
                <a:lumOff val="80000"/>
                <a:alpha val="50000"/>
              </a:srgbClr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bg-BG" sz="2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6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C05D181-6E4D-4141-B895-AB1432BE51DA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/>
          </p:nvPr>
        </p:nvSpPr>
        <p:spPr>
          <a:xfrm>
            <a:off x="190440" y="1151280"/>
            <a:ext cx="11807640" cy="56059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rmAutofit fontScale="89000"/>
          </a:bodyPr>
          <a:p>
            <a:pPr marL="320400" indent="-32040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1" lang="en-US" sz="3600" spc="-1" strike="noStrike">
                <a:solidFill>
                  <a:srgbClr val="bf7800"/>
                </a:solidFill>
                <a:latin typeface="Consolas"/>
              </a:rPr>
              <a:t>COUNT</a:t>
            </a:r>
            <a:r>
              <a:rPr b="1" lang="en-US" sz="3600" spc="-1" strike="noStrike">
                <a:solidFill>
                  <a:srgbClr val="234465"/>
                </a:solidFill>
                <a:latin typeface="Consolas"/>
              </a:rPr>
              <a:t>(*)</a:t>
            </a:r>
            <a:r>
              <a:rPr b="1" lang="en-US" sz="3600" spc="-1" strike="noStrike">
                <a:solidFill>
                  <a:srgbClr val="1a334c"/>
                </a:solidFill>
                <a:latin typeface="Calibri"/>
              </a:rPr>
              <a:t> </a:t>
            </a:r>
            <a:r>
              <a:rPr b="0" lang="en-US" sz="3600" spc="-1" strike="noStrike">
                <a:solidFill>
                  <a:srgbClr val="234465"/>
                </a:solidFill>
                <a:latin typeface="Calibri"/>
              </a:rPr>
              <a:t>– </a:t>
            </a:r>
            <a:r>
              <a:rPr b="0" lang="bg-BG" sz="3600" spc="-1" strike="noStrike">
                <a:solidFill>
                  <a:srgbClr val="234465"/>
                </a:solidFill>
                <a:latin typeface="Calibri"/>
              </a:rPr>
              <a:t>брой на избраните редове</a:t>
            </a: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  <a:p>
            <a:pPr marL="320400" indent="-32040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24464"/>
              </a:buClr>
              <a:buFont typeface="Wingdings" charset="2"/>
              <a:buChar char=""/>
            </a:pPr>
            <a:r>
              <a:rPr b="1" lang="en-US" sz="3600" spc="-1" strike="noStrike">
                <a:solidFill>
                  <a:srgbClr val="bf7800"/>
                </a:solidFill>
                <a:latin typeface="Consolas"/>
              </a:rPr>
              <a:t>COUNT</a:t>
            </a:r>
            <a:r>
              <a:rPr b="1" lang="en-US" sz="3600" spc="-1" strike="noStrike">
                <a:solidFill>
                  <a:srgbClr val="234465"/>
                </a:solidFill>
                <a:latin typeface="Consolas"/>
              </a:rPr>
              <a:t>(</a:t>
            </a:r>
            <a:r>
              <a:rPr b="1" lang="bg-BG" sz="3600" spc="-1" strike="noStrike">
                <a:solidFill>
                  <a:srgbClr val="234465"/>
                </a:solidFill>
                <a:latin typeface="Consolas"/>
              </a:rPr>
              <a:t>колона</a:t>
            </a:r>
            <a:r>
              <a:rPr b="1" lang="en-US" sz="3600" spc="-1" strike="noStrike">
                <a:solidFill>
                  <a:srgbClr val="234465"/>
                </a:solidFill>
                <a:latin typeface="Consolas"/>
              </a:rPr>
              <a:t>)</a:t>
            </a:r>
            <a:r>
              <a:rPr b="1" lang="en-US" sz="36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0" lang="en-US" sz="3600" spc="-1" strike="noStrike">
                <a:solidFill>
                  <a:srgbClr val="234465"/>
                </a:solidFill>
                <a:latin typeface="Calibri"/>
              </a:rPr>
              <a:t>– </a:t>
            </a:r>
            <a:r>
              <a:rPr b="0" lang="ru-RU" sz="3600" spc="-1" strike="noStrike">
                <a:solidFill>
                  <a:srgbClr val="234465"/>
                </a:solidFill>
                <a:latin typeface="Calibri"/>
              </a:rPr>
              <a:t>брой на стойности, които не са </a:t>
            </a:r>
            <a:r>
              <a:rPr b="1" lang="en-US" sz="3600" spc="-1" strike="noStrike">
                <a:solidFill>
                  <a:srgbClr val="234465"/>
                </a:solidFill>
                <a:latin typeface="Calibri"/>
              </a:rPr>
              <a:t>NULL</a:t>
            </a:r>
            <a:r>
              <a:rPr b="0" lang="ru-RU" sz="3600" spc="-1" strike="noStrike">
                <a:solidFill>
                  <a:srgbClr val="234465"/>
                </a:solidFill>
                <a:latin typeface="Calibri"/>
              </a:rPr>
              <a:t> в дадена колона</a:t>
            </a: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  <a:p>
            <a:pPr marL="320400" indent="-32040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24464"/>
              </a:buClr>
              <a:buFont typeface="Wingdings" charset="2"/>
              <a:buChar char=""/>
            </a:pPr>
            <a:r>
              <a:rPr b="1" lang="en-US" sz="3600" spc="-1" strike="noStrike">
                <a:solidFill>
                  <a:srgbClr val="bf7800"/>
                </a:solidFill>
                <a:latin typeface="Consolas"/>
              </a:rPr>
              <a:t>SUM</a:t>
            </a:r>
            <a:r>
              <a:rPr b="1" lang="en-US" sz="3600" spc="-1" strike="noStrike">
                <a:solidFill>
                  <a:srgbClr val="234465"/>
                </a:solidFill>
                <a:latin typeface="Consolas"/>
              </a:rPr>
              <a:t>(</a:t>
            </a:r>
            <a:r>
              <a:rPr b="1" lang="bg-BG" sz="3600" spc="-1" strike="noStrike">
                <a:solidFill>
                  <a:srgbClr val="234465"/>
                </a:solidFill>
                <a:latin typeface="Consolas"/>
              </a:rPr>
              <a:t>колона</a:t>
            </a:r>
            <a:r>
              <a:rPr b="1" lang="en-US" sz="3600" spc="-1" strike="noStrike">
                <a:solidFill>
                  <a:srgbClr val="234465"/>
                </a:solidFill>
                <a:latin typeface="Consolas"/>
              </a:rPr>
              <a:t>)</a:t>
            </a:r>
            <a:r>
              <a:rPr b="1" lang="en-US" sz="36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0" lang="en-US" sz="3600" spc="-1" strike="noStrike">
                <a:solidFill>
                  <a:srgbClr val="234465"/>
                </a:solidFill>
                <a:latin typeface="Calibri"/>
              </a:rPr>
              <a:t>– </a:t>
            </a:r>
            <a:r>
              <a:rPr b="0" lang="ru-RU" sz="3600" spc="-1" strike="noStrike">
                <a:solidFill>
                  <a:srgbClr val="234465"/>
                </a:solidFill>
                <a:latin typeface="Calibri"/>
              </a:rPr>
              <a:t>сбор от стойностите в дадена колона</a:t>
            </a: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  <a:p>
            <a:pPr marL="320400" indent="-32040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24464"/>
              </a:buClr>
              <a:buFont typeface="Wingdings" charset="2"/>
              <a:buChar char=""/>
            </a:pPr>
            <a:r>
              <a:rPr b="1" lang="en-US" sz="3600" spc="-1" strike="noStrike">
                <a:solidFill>
                  <a:srgbClr val="bf7800"/>
                </a:solidFill>
                <a:latin typeface="Consolas"/>
              </a:rPr>
              <a:t>AVG</a:t>
            </a:r>
            <a:r>
              <a:rPr b="1" lang="en-US" sz="3600" spc="-1" strike="noStrike">
                <a:solidFill>
                  <a:srgbClr val="234465"/>
                </a:solidFill>
                <a:latin typeface="Consolas"/>
              </a:rPr>
              <a:t>(</a:t>
            </a:r>
            <a:r>
              <a:rPr b="1" lang="bg-BG" sz="3600" spc="-1" strike="noStrike">
                <a:solidFill>
                  <a:srgbClr val="234465"/>
                </a:solidFill>
                <a:latin typeface="Consolas"/>
              </a:rPr>
              <a:t>колона</a:t>
            </a:r>
            <a:r>
              <a:rPr b="1" lang="en-US" sz="3600" spc="-1" strike="noStrike">
                <a:solidFill>
                  <a:srgbClr val="234465"/>
                </a:solidFill>
                <a:latin typeface="Consolas"/>
              </a:rPr>
              <a:t>)</a:t>
            </a:r>
            <a:r>
              <a:rPr b="1" lang="en-US" sz="36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0" lang="en-US" sz="3600" spc="-1" strike="noStrike">
                <a:solidFill>
                  <a:srgbClr val="234465"/>
                </a:solidFill>
                <a:latin typeface="Calibri"/>
              </a:rPr>
              <a:t>– </a:t>
            </a:r>
            <a:r>
              <a:rPr b="0" lang="ru-RU" sz="3600" spc="-1" strike="noStrike">
                <a:solidFill>
                  <a:srgbClr val="234465"/>
                </a:solidFill>
                <a:latin typeface="Calibri"/>
              </a:rPr>
              <a:t>средноаритметична стойност в дадена колона</a:t>
            </a: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  <a:p>
            <a:pPr marL="320400" indent="-32040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24464"/>
              </a:buClr>
              <a:buFont typeface="Wingdings" charset="2"/>
              <a:buChar char=""/>
            </a:pPr>
            <a:r>
              <a:rPr b="1" lang="en-US" sz="3600" spc="-1" strike="noStrike">
                <a:solidFill>
                  <a:srgbClr val="bf7800"/>
                </a:solidFill>
                <a:latin typeface="Consolas"/>
              </a:rPr>
              <a:t>MIN</a:t>
            </a:r>
            <a:r>
              <a:rPr b="1" lang="en-US" sz="3600" spc="-1" strike="noStrike">
                <a:solidFill>
                  <a:srgbClr val="234465"/>
                </a:solidFill>
                <a:latin typeface="Consolas"/>
              </a:rPr>
              <a:t>(</a:t>
            </a:r>
            <a:r>
              <a:rPr b="1" lang="bg-BG" sz="3600" spc="-1" strike="noStrike">
                <a:solidFill>
                  <a:srgbClr val="234465"/>
                </a:solidFill>
                <a:latin typeface="Consolas"/>
              </a:rPr>
              <a:t>колона</a:t>
            </a:r>
            <a:r>
              <a:rPr b="1" lang="en-US" sz="3600" spc="-1" strike="noStrike">
                <a:solidFill>
                  <a:srgbClr val="234465"/>
                </a:solidFill>
                <a:latin typeface="Consolas"/>
              </a:rPr>
              <a:t>)</a:t>
            </a:r>
            <a:r>
              <a:rPr b="1" lang="en-US" sz="36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0" lang="en-US" sz="3600" spc="-1" strike="noStrike">
                <a:solidFill>
                  <a:srgbClr val="234465"/>
                </a:solidFill>
                <a:latin typeface="Calibri"/>
              </a:rPr>
              <a:t>– </a:t>
            </a:r>
            <a:r>
              <a:rPr b="0" lang="ru-RU" sz="3600" spc="-1" strike="noStrike">
                <a:solidFill>
                  <a:srgbClr val="234465"/>
                </a:solidFill>
                <a:latin typeface="Calibri"/>
              </a:rPr>
              <a:t>минималната стойност в дадена колона</a:t>
            </a: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  <a:p>
            <a:pPr marL="320400" indent="-32040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24464"/>
              </a:buClr>
              <a:buFont typeface="Wingdings" charset="2"/>
              <a:buChar char=""/>
            </a:pPr>
            <a:r>
              <a:rPr b="1" lang="en-US" sz="3600" spc="-1" strike="noStrike">
                <a:solidFill>
                  <a:srgbClr val="bf7800"/>
                </a:solidFill>
                <a:latin typeface="Consolas"/>
              </a:rPr>
              <a:t>MAX</a:t>
            </a:r>
            <a:r>
              <a:rPr b="1" lang="en-US" sz="3600" spc="-1" strike="noStrike">
                <a:solidFill>
                  <a:srgbClr val="234465"/>
                </a:solidFill>
                <a:latin typeface="Consolas"/>
              </a:rPr>
              <a:t>(</a:t>
            </a:r>
            <a:r>
              <a:rPr b="1" lang="bg-BG" sz="3600" spc="-1" strike="noStrike">
                <a:solidFill>
                  <a:srgbClr val="234465"/>
                </a:solidFill>
                <a:latin typeface="Consolas"/>
              </a:rPr>
              <a:t>колона</a:t>
            </a:r>
            <a:r>
              <a:rPr b="1" lang="en-US" sz="3600" spc="-1" strike="noStrike">
                <a:solidFill>
                  <a:srgbClr val="234465"/>
                </a:solidFill>
                <a:latin typeface="Consolas"/>
              </a:rPr>
              <a:t>)</a:t>
            </a:r>
            <a:r>
              <a:rPr b="1" lang="en-US" sz="36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0" lang="en-US" sz="3600" spc="-1" strike="noStrike">
                <a:solidFill>
                  <a:srgbClr val="234465"/>
                </a:solidFill>
                <a:latin typeface="Calibri"/>
              </a:rPr>
              <a:t>– </a:t>
            </a:r>
            <a:r>
              <a:rPr b="0" lang="ru-RU" sz="3600" spc="-1" strike="noStrike">
                <a:solidFill>
                  <a:srgbClr val="234465"/>
                </a:solidFill>
                <a:latin typeface="Calibri"/>
              </a:rPr>
              <a:t>максималната стойност в дадена колона</a:t>
            </a: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Агрегатни функции – примери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7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C7780AA-7195-4A2D-B1FF-795FE47BBAF4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5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" dur="indefinite" restart="never" nodeType="tmRoot">
          <p:childTnLst>
            <p:seq>
              <p:cTn id="26" dur="indefinite" nodeType="mainSeq">
                <p:childTnLst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/>
          </p:nvPr>
        </p:nvSpPr>
        <p:spPr>
          <a:xfrm>
            <a:off x="190440" y="1151280"/>
            <a:ext cx="11807640" cy="55699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rmAutofit/>
          </a:bodyPr>
          <a:p>
            <a:pPr marL="3603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24464"/>
              </a:buClr>
              <a:buFont typeface="Wingdings" charset="2"/>
              <a:buChar char=""/>
            </a:pPr>
            <a:r>
              <a:rPr b="1" lang="en-US" sz="3200" spc="-1" strike="noStrike">
                <a:solidFill>
                  <a:srgbClr val="bf7800"/>
                </a:solidFill>
                <a:latin typeface="Consolas"/>
              </a:rPr>
              <a:t>COUNT</a:t>
            </a:r>
            <a:r>
              <a:rPr b="1" lang="bg-BG" sz="3200" spc="-1" strike="noStrike">
                <a:solidFill>
                  <a:srgbClr val="bf7800"/>
                </a:solidFill>
                <a:latin typeface="Calibri"/>
              </a:rPr>
              <a:t> </a:t>
            </a:r>
            <a:r>
              <a:rPr b="1" lang="en-US" sz="3200" spc="-1" strike="noStrike">
                <a:solidFill>
                  <a:srgbClr val="1a334c"/>
                </a:solidFill>
                <a:latin typeface="Consolas"/>
              </a:rPr>
              <a:t>(*)</a:t>
            </a:r>
            <a:r>
              <a:rPr b="1" lang="en-US" sz="3200" spc="-1" strike="noStrike">
                <a:solidFill>
                  <a:srgbClr val="1a334c"/>
                </a:solidFill>
                <a:latin typeface="Calibri"/>
              </a:rPr>
              <a:t> 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връща броя на редовете в резултантния набор от записи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marL="36036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marL="3603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24464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1" lang="en-US" sz="3200" spc="-1" strike="noStrike">
                <a:solidFill>
                  <a:srgbClr val="bf7800"/>
                </a:solidFill>
                <a:latin typeface="Consolas"/>
              </a:rPr>
              <a:t>COUNT</a:t>
            </a:r>
            <a:r>
              <a:rPr b="1" lang="en-US" sz="3200" spc="-1" strike="noStrike">
                <a:solidFill>
                  <a:srgbClr val="224464"/>
                </a:solidFill>
                <a:latin typeface="Calibri"/>
              </a:rPr>
              <a:t> </a:t>
            </a:r>
            <a:r>
              <a:rPr b="1" lang="en-US" sz="3200" spc="-1" strike="noStrike">
                <a:solidFill>
                  <a:srgbClr val="224464"/>
                </a:solidFill>
                <a:latin typeface="Consolas"/>
              </a:rPr>
              <a:t>(</a:t>
            </a:r>
            <a:r>
              <a:rPr b="1" lang="bg-BG" sz="3200" spc="-1" strike="noStrike">
                <a:solidFill>
                  <a:srgbClr val="1a334c"/>
                </a:solidFill>
                <a:latin typeface="Consolas"/>
              </a:rPr>
              <a:t>колона</a:t>
            </a:r>
            <a:r>
              <a:rPr b="1" lang="en-US" sz="3200" spc="-1" strike="noStrike">
                <a:solidFill>
                  <a:srgbClr val="1a334c"/>
                </a:solidFill>
                <a:latin typeface="Consolas"/>
              </a:rPr>
              <a:t>)</a:t>
            </a:r>
            <a:r>
              <a:rPr b="1" lang="en-US" sz="3200" spc="-1" strike="noStrike">
                <a:solidFill>
                  <a:srgbClr val="1a334c"/>
                </a:solidFill>
                <a:latin typeface="Calibri"/>
              </a:rPr>
              <a:t> </a:t>
            </a:r>
            <a:r>
              <a:rPr b="0" lang="bg-BG" sz="3200" spc="-1" strike="noStrike">
                <a:solidFill>
                  <a:srgbClr val="1a334c"/>
                </a:solidFill>
                <a:latin typeface="Calibri"/>
              </a:rPr>
              <a:t>връща</a:t>
            </a:r>
            <a:r>
              <a:rPr b="1" lang="bg-BG" sz="3200" spc="-1" strike="noStrike">
                <a:solidFill>
                  <a:srgbClr val="1a334c"/>
                </a:solidFill>
                <a:latin typeface="Calibri"/>
              </a:rPr>
              <a:t> 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броя на стойностите, които не са </a:t>
            </a:r>
            <a:r>
              <a:rPr b="1" lang="en-US" sz="3200" spc="-1" strike="noStrike">
                <a:solidFill>
                  <a:srgbClr val="234465"/>
                </a:solidFill>
                <a:latin typeface="Calibri"/>
              </a:rPr>
              <a:t>NULL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 в дадената колона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Функцията </a:t>
            </a: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COUNT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40" name="Rectangle 4"/>
          <p:cNvSpPr/>
          <p:nvPr/>
        </p:nvSpPr>
        <p:spPr>
          <a:xfrm>
            <a:off x="1108800" y="2286000"/>
            <a:ext cx="6243480" cy="115668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rgbClr val="67748e">
                <a:lumMod val="60000"/>
                <a:lumOff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801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SELECT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</a:t>
            </a: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COUNT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(*) as Count </a:t>
            </a: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FROM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Employees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2801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WHERE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DepartmentID = 3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41" name="Group 5"/>
          <p:cNvGraphicFramePr/>
          <p:nvPr/>
        </p:nvGraphicFramePr>
        <p:xfrm>
          <a:off x="8130600" y="2443320"/>
          <a:ext cx="2080080" cy="849240"/>
        </p:xfrm>
        <a:graphic>
          <a:graphicData uri="http://schemas.openxmlformats.org/drawingml/2006/table">
            <a:tbl>
              <a:tblPr/>
              <a:tblGrid>
                <a:gridCol w="2080080"/>
              </a:tblGrid>
              <a:tr h="1292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Count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206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1" lang="bg-BG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18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2" name="Rectangle 13"/>
          <p:cNvSpPr/>
          <p:nvPr/>
        </p:nvSpPr>
        <p:spPr>
          <a:xfrm>
            <a:off x="880200" y="4784400"/>
            <a:ext cx="6739560" cy="206964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rgbClr val="67748e">
                <a:lumMod val="60000"/>
                <a:lumOff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SELECT COUNT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(ManagerID) as MgrCount,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 </a:t>
            </a: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COUNT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(*) as AllCount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FROM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Employees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WHERE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DepartmentID = 16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43" name="Group 14"/>
          <p:cNvGraphicFramePr/>
          <p:nvPr/>
        </p:nvGraphicFramePr>
        <p:xfrm>
          <a:off x="8106480" y="5192640"/>
          <a:ext cx="2867040" cy="1227960"/>
        </p:xfrm>
        <a:graphic>
          <a:graphicData uri="http://schemas.openxmlformats.org/drawingml/2006/table">
            <a:tbl>
              <a:tblPr/>
              <a:tblGrid>
                <a:gridCol w="1526400"/>
                <a:gridCol w="1340640"/>
              </a:tblGrid>
              <a:tr h="47268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MgrCount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AllCount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441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bg-BG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bg-BG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2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4" name="PlaceHolder 3"/>
          <p:cNvSpPr>
            <a:spLocks noGrp="1"/>
          </p:cNvSpPr>
          <p:nvPr>
            <p:ph type="sldNum" idx="8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E81FA23-7C0E-44A5-844C-2DEC14C3484C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6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7" dur="indefinite" restart="never" nodeType="tmRoot">
          <p:childTnLst>
            <p:seq>
              <p:cTn id="48" dur="indefinite" nodeType="mainSeq">
                <p:childTnLst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/>
          </p:nvPr>
        </p:nvSpPr>
        <p:spPr>
          <a:xfrm>
            <a:off x="190440" y="1151280"/>
            <a:ext cx="11807640" cy="55699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Можете да използвате </a:t>
            </a:r>
            <a:r>
              <a:rPr b="1" lang="en-US" sz="3200" spc="-1" strike="noStrike">
                <a:solidFill>
                  <a:srgbClr val="bf7800"/>
                </a:solidFill>
                <a:latin typeface="Consolas"/>
              </a:rPr>
              <a:t>AVG</a:t>
            </a:r>
            <a:r>
              <a:rPr b="1" lang="en-US" sz="3400" spc="-1" strike="noStrike">
                <a:solidFill>
                  <a:srgbClr val="1a334c"/>
                </a:solidFill>
                <a:latin typeface="Calibri"/>
              </a:rPr>
              <a:t> </a:t>
            </a: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и </a:t>
            </a:r>
            <a:r>
              <a:rPr b="1" lang="en-US" sz="3200" spc="-1" strike="noStrike">
                <a:solidFill>
                  <a:srgbClr val="bf7800"/>
                </a:solidFill>
                <a:latin typeface="Consolas"/>
              </a:rPr>
              <a:t>SUM</a:t>
            </a: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само за числови типове данни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 type="title"/>
          </p:nvPr>
        </p:nvSpPr>
        <p:spPr>
          <a:xfrm>
            <a:off x="189000" y="1800"/>
            <a:ext cx="9579600" cy="111060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Функциите </a:t>
            </a: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AVG </a:t>
            </a: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и</a:t>
            </a: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 SUM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47" name="Rectangle 4"/>
          <p:cNvSpPr/>
          <p:nvPr/>
        </p:nvSpPr>
        <p:spPr>
          <a:xfrm>
            <a:off x="1209240" y="2362320"/>
            <a:ext cx="9770400" cy="286164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rgbClr val="67748e">
                <a:lumMod val="60000"/>
                <a:lumOff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SELECT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 </a:t>
            </a: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AVG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(Salary) [Average Salary],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 </a:t>
            </a: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MAX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(Salary) [Max Salary],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 </a:t>
            </a: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MIN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(Salary) [Min Salary],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 </a:t>
            </a: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SUM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(Salary) [Salary Sum]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FROM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Employees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WHERE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JobTitle = 'Production Technician'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48" name="Group 5"/>
          <p:cNvGraphicFramePr/>
          <p:nvPr/>
        </p:nvGraphicFramePr>
        <p:xfrm>
          <a:off x="1211760" y="5646600"/>
          <a:ext cx="9762120" cy="907200"/>
        </p:xfrm>
        <a:graphic>
          <a:graphicData uri="http://schemas.openxmlformats.org/drawingml/2006/table">
            <a:tbl>
              <a:tblPr/>
              <a:tblGrid>
                <a:gridCol w="2811960"/>
                <a:gridCol w="2403360"/>
                <a:gridCol w="2202840"/>
                <a:gridCol w="2343600"/>
              </a:tblGrid>
              <a:tr h="342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1040"/>
                        </a:spcBef>
                        <a:tabLst>
                          <a:tab algn="l" pos="0"/>
                        </a:tabLst>
                      </a:pPr>
                      <a:r>
                        <a:rPr b="1" lang="en-US" sz="26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Average Salary</a:t>
                      </a:r>
                      <a:endParaRPr b="0" lang="en-US" sz="2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1040"/>
                        </a:spcBef>
                        <a:tabLst>
                          <a:tab algn="l" pos="0"/>
                        </a:tabLst>
                      </a:pPr>
                      <a:r>
                        <a:rPr b="1" lang="en-US" sz="26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Max Salary</a:t>
                      </a:r>
                      <a:endParaRPr b="0" lang="en-US" sz="2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1040"/>
                        </a:spcBef>
                        <a:tabLst>
                          <a:tab algn="l" pos="0"/>
                        </a:tabLst>
                      </a:pPr>
                      <a:r>
                        <a:rPr b="1" lang="en-US" sz="26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Min Salary</a:t>
                      </a:r>
                      <a:endParaRPr b="0" lang="en-US" sz="2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1040"/>
                        </a:spcBef>
                        <a:tabLst>
                          <a:tab algn="l" pos="0"/>
                        </a:tabLst>
                      </a:pPr>
                      <a:r>
                        <a:rPr b="1" lang="en-US" sz="26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Salary Sum</a:t>
                      </a:r>
                      <a:endParaRPr b="0" lang="en-US" sz="2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12267.5159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15000.00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9500.00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1926000.00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9" name="PlaceHolder 3"/>
          <p:cNvSpPr>
            <a:spLocks noGrp="1"/>
          </p:cNvSpPr>
          <p:nvPr>
            <p:ph type="sldNum" idx="9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2198781-531D-4CB4-ACA9-FF04C89F9407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6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3" dur="indefinite" restart="never" nodeType="tmRoot">
          <p:childTnLst>
            <p:seq>
              <p:cTn id="64" dur="indefinite" nodeType="mainSeq">
                <p:childTnLst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/>
          </p:nvPr>
        </p:nvSpPr>
        <p:spPr>
          <a:xfrm>
            <a:off x="190440" y="1151280"/>
            <a:ext cx="11807640" cy="55699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Можете да използвате</a:t>
            </a: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1" lang="en-US" sz="3400" spc="-1" strike="noStrike">
                <a:solidFill>
                  <a:srgbClr val="bf7800"/>
                </a:solidFill>
                <a:latin typeface="Consolas"/>
              </a:rPr>
              <a:t>MIN</a:t>
            </a:r>
            <a:r>
              <a:rPr b="1" lang="en-US" sz="3400" spc="-1" strike="noStrike">
                <a:solidFill>
                  <a:srgbClr val="bf7800"/>
                </a:solidFill>
                <a:latin typeface="Calibri"/>
              </a:rPr>
              <a:t> </a:t>
            </a: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и </a:t>
            </a:r>
            <a:r>
              <a:rPr b="1" lang="en-US" sz="3400" spc="-1" strike="noStrike">
                <a:solidFill>
                  <a:srgbClr val="bf7800"/>
                </a:solidFill>
                <a:latin typeface="Consolas"/>
              </a:rPr>
              <a:t>MAX</a:t>
            </a:r>
            <a:r>
              <a:rPr b="1" lang="en-US" sz="3400" spc="-1" strike="noStrike">
                <a:solidFill>
                  <a:srgbClr val="bf7800"/>
                </a:solidFill>
                <a:latin typeface="Calibri"/>
              </a:rPr>
              <a:t> 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за почти всеки тип данни</a:t>
            </a: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 (int, datetime, varchar, ...)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marL="360360" indent="-360360">
              <a:lnSpc>
                <a:spcPct val="100000"/>
              </a:lnSpc>
              <a:spcBef>
                <a:spcPts val="2999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Покажете първото и последното име на служител по азбучен ред: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Функциите </a:t>
            </a: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MIN </a:t>
            </a: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и </a:t>
            </a: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MAX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52" name="Rectangle 4"/>
          <p:cNvSpPr/>
          <p:nvPr/>
        </p:nvSpPr>
        <p:spPr>
          <a:xfrm>
            <a:off x="1223640" y="2449440"/>
            <a:ext cx="9755640" cy="88164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rgbClr val="67748e">
                <a:lumMod val="60000"/>
                <a:lumOff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SELECT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</a:t>
            </a: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MIN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(HireDate) MinHD, </a:t>
            </a: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MAX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(HireDate) MaxHD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FROM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Employees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53" name="Group 5"/>
          <p:cNvGraphicFramePr/>
          <p:nvPr/>
        </p:nvGraphicFramePr>
        <p:xfrm>
          <a:off x="3240720" y="3646800"/>
          <a:ext cx="5710320" cy="849240"/>
        </p:xfrm>
        <a:graphic>
          <a:graphicData uri="http://schemas.openxmlformats.org/drawingml/2006/table">
            <a:tbl>
              <a:tblPr/>
              <a:tblGrid>
                <a:gridCol w="2802600"/>
                <a:gridCol w="2908080"/>
              </a:tblGrid>
              <a:tr h="342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MinHD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MaxHD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bg-BG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1996-07-31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bg-BG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2003-06-03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4" name="Rectangle 16"/>
          <p:cNvSpPr/>
          <p:nvPr/>
        </p:nvSpPr>
        <p:spPr>
          <a:xfrm>
            <a:off x="1143000" y="5867280"/>
            <a:ext cx="9755640" cy="88164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rgbClr val="67748e">
                <a:lumMod val="60000"/>
                <a:lumOff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SELECT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</a:t>
            </a: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MIN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(LastName), </a:t>
            </a: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MAX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(LastName)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FROM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Employees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10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074F22A-0812-4468-B18D-5CE5B2EA7AF5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6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9" dur="indefinite" restart="never" nodeType="tmRoot">
          <p:childTnLst>
            <p:seq>
              <p:cTn id="70" dur="indefinite" nodeType="mainSeq">
                <p:childTnLst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/>
          </p:nvPr>
        </p:nvSpPr>
        <p:spPr>
          <a:xfrm>
            <a:off x="190440" y="1151280"/>
            <a:ext cx="11807640" cy="55699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rmAutofit fontScale="98000"/>
          </a:bodyPr>
          <a:p>
            <a:pPr marL="352800" indent="-3528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Груповите функции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игнорират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1" lang="ru-RU" sz="3400" spc="-1" strike="noStrike">
                <a:solidFill>
                  <a:srgbClr val="234465"/>
                </a:solidFill>
                <a:latin typeface="Calibri"/>
              </a:rPr>
              <a:t>NULL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 стойностите в избраната колона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marL="352800" indent="-3528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Ако всяка </a:t>
            </a:r>
            <a:r>
              <a:rPr b="1" lang="ru-RU" sz="3400" spc="-1" strike="noStrike">
                <a:solidFill>
                  <a:srgbClr val="234465"/>
                </a:solidFill>
                <a:latin typeface="Calibri"/>
              </a:rPr>
              <a:t>NULL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 стойност в колоната </a:t>
            </a:r>
            <a:r>
              <a:rPr b="1" lang="ru-RU" sz="3400" spc="-1" strike="noStrike">
                <a:solidFill>
                  <a:srgbClr val="234465"/>
                </a:solidFill>
                <a:latin typeface="Calibri"/>
              </a:rPr>
              <a:t>ManagerID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 се счита за </a:t>
            </a:r>
            <a:r>
              <a:rPr b="1" lang="ru-RU" sz="3400" spc="-1" strike="noStrike">
                <a:solidFill>
                  <a:srgbClr val="234465"/>
                </a:solidFill>
                <a:latin typeface="Calibri"/>
              </a:rPr>
              <a:t>0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 в изчислението, резултатът ще бъде </a:t>
            </a:r>
            <a:r>
              <a:rPr b="1" lang="ru-RU" sz="3400" spc="-1" strike="noStrike">
                <a:solidFill>
                  <a:srgbClr val="234465"/>
                </a:solidFill>
                <a:latin typeface="Calibri"/>
              </a:rPr>
              <a:t>106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Агрегатни функции и </a:t>
            </a: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NULL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58" name="Rectangle 4"/>
          <p:cNvSpPr/>
          <p:nvPr/>
        </p:nvSpPr>
        <p:spPr>
          <a:xfrm>
            <a:off x="1975320" y="2209680"/>
            <a:ext cx="8236080" cy="167364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rgbClr val="67748e">
                <a:lumMod val="60000"/>
                <a:lumOff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SELECT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234465"/>
                </a:solidFill>
                <a:latin typeface="Consolas"/>
              </a:rPr>
              <a:t>  </a:t>
            </a: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AVG</a:t>
            </a:r>
            <a:r>
              <a:rPr b="1" lang="en-US" sz="2600" spc="-1" strike="noStrike">
                <a:solidFill>
                  <a:srgbClr val="234465"/>
                </a:solidFill>
                <a:latin typeface="Consolas"/>
              </a:rPr>
              <a:t>(ManagerID) Avg,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234465"/>
                </a:solidFill>
                <a:latin typeface="Consolas"/>
              </a:rPr>
              <a:t>  </a:t>
            </a: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SUM</a:t>
            </a:r>
            <a:r>
              <a:rPr b="1" lang="en-US" sz="2600" spc="-1" strike="noStrike">
                <a:solidFill>
                  <a:srgbClr val="234465"/>
                </a:solidFill>
                <a:latin typeface="Consolas"/>
              </a:rPr>
              <a:t>(ManagerID) / COUNT(*) AvgAll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FROM</a:t>
            </a:r>
            <a:r>
              <a:rPr b="1" lang="en-US" sz="2600" spc="-1" strike="noStrike">
                <a:solidFill>
                  <a:srgbClr val="234465"/>
                </a:solidFill>
                <a:latin typeface="Consolas"/>
              </a:rPr>
              <a:t> Employees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59" name="Group 5"/>
          <p:cNvGraphicFramePr/>
          <p:nvPr/>
        </p:nvGraphicFramePr>
        <p:xfrm>
          <a:off x="4634280" y="4275000"/>
          <a:ext cx="2953080" cy="907200"/>
        </p:xfrm>
        <a:graphic>
          <a:graphicData uri="http://schemas.openxmlformats.org/drawingml/2006/table">
            <a:tbl>
              <a:tblPr/>
              <a:tblGrid>
                <a:gridCol w="1447920"/>
                <a:gridCol w="1505160"/>
              </a:tblGrid>
              <a:tr h="288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1040"/>
                        </a:spcBef>
                        <a:tabLst>
                          <a:tab algn="l" pos="0"/>
                        </a:tabLst>
                      </a:pPr>
                      <a:r>
                        <a:rPr b="1" lang="en-US" sz="26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Avg</a:t>
                      </a:r>
                      <a:endParaRPr b="0" lang="en-US" sz="2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1040"/>
                        </a:spcBef>
                        <a:tabLst>
                          <a:tab algn="l" pos="0"/>
                        </a:tabLst>
                      </a:pPr>
                      <a:r>
                        <a:rPr b="1" lang="en-US" sz="26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AvgAll</a:t>
                      </a:r>
                      <a:endParaRPr b="0" lang="en-US" sz="2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108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106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60" name="PlaceHolder 3"/>
          <p:cNvSpPr>
            <a:spLocks noGrp="1"/>
          </p:cNvSpPr>
          <p:nvPr>
            <p:ph type="sldNum" idx="11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DC27F89-AA82-454B-BDB0-3DF8ED9840E8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9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1" dur="indefinite" restart="never" nodeType="tmRoot">
          <p:childTnLst>
            <p:seq>
              <p:cTn id="82" dur="indefinite" nodeType="mainSeq">
                <p:childTnLst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/>
          </p:nvPr>
        </p:nvSpPr>
        <p:spPr>
          <a:xfrm>
            <a:off x="190440" y="914400"/>
            <a:ext cx="11807640" cy="55699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360">
              <a:lnSpc>
                <a:spcPct val="100000"/>
              </a:lnSpc>
              <a:spcBef>
                <a:spcPts val="1528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Намерете </a:t>
            </a:r>
            <a:r>
              <a:rPr b="1" lang="ru-RU" sz="3400" spc="-1" strike="noStrike">
                <a:solidFill>
                  <a:srgbClr val="234465"/>
                </a:solidFill>
                <a:latin typeface="Calibri"/>
              </a:rPr>
              <a:t>най-рано наетия 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служител за всеки отдел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rmAutofit fontScale="81000"/>
          </a:bodyPr>
          <a:p>
            <a:pPr indent="0">
              <a:lnSpc>
                <a:spcPct val="100000"/>
              </a:lnSpc>
              <a:buNone/>
            </a:pPr>
            <a:r>
              <a:rPr b="1" lang="ru-RU" sz="4000" spc="-1" strike="noStrike">
                <a:solidFill>
                  <a:srgbClr val="ffffff"/>
                </a:solidFill>
                <a:latin typeface="Calibri"/>
              </a:rPr>
              <a:t>Агрегатни функции във вложени заявки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63" name="Rectangle 4"/>
          <p:cNvSpPr/>
          <p:nvPr/>
        </p:nvSpPr>
        <p:spPr>
          <a:xfrm>
            <a:off x="457200" y="1710360"/>
            <a:ext cx="10886400" cy="286164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rgbClr val="67748e">
                <a:lumMod val="60000"/>
                <a:lumOff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SELECT 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e.FirstName, e.LastName, e.HireDate, d.Name as Dept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FROM 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Employees e</a:t>
            </a:r>
            <a:r>
              <a:rPr b="1" lang="en-US" sz="2600" spc="-1" strike="noStrike">
                <a:solidFill>
                  <a:srgbClr val="fbeedc"/>
                </a:solidFill>
                <a:latin typeface="Consolas"/>
              </a:rPr>
              <a:t> </a:t>
            </a: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JOIN 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Departments d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   </a:t>
            </a: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ON</a:t>
            </a:r>
            <a:r>
              <a:rPr b="1" lang="en-US" sz="2600" spc="-1" strike="noStrike">
                <a:solidFill>
                  <a:srgbClr val="1a334c"/>
                </a:solidFill>
                <a:latin typeface="Consolas"/>
              </a:rPr>
              <a:t> 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e.DepartmentID = d.DepartmentID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WHERE 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e.HireDate =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8cf4f2"/>
                </a:solidFill>
                <a:latin typeface="Consolas"/>
              </a:rPr>
              <a:t>  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(</a:t>
            </a: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SELECT MIN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(</a:t>
            </a: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HireDate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)</a:t>
            </a:r>
            <a:r>
              <a:rPr b="1" lang="en-US" sz="2600" spc="-1" strike="noStrike">
                <a:solidFill>
                  <a:srgbClr val="8cf4f2"/>
                </a:solidFill>
                <a:latin typeface="Consolas"/>
              </a:rPr>
              <a:t> </a:t>
            </a: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FROM</a:t>
            </a:r>
            <a:r>
              <a:rPr b="1" lang="en-US" sz="2600" spc="-1" strike="noStrike">
                <a:solidFill>
                  <a:srgbClr val="8cf4f2"/>
                </a:solidFill>
                <a:latin typeface="Consolas"/>
              </a:rPr>
              <a:t> 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Employees</a:t>
            </a:r>
            <a:r>
              <a:rPr b="1" lang="en-US" sz="2600" spc="-1" strike="noStrike">
                <a:solidFill>
                  <a:srgbClr val="fbeedc"/>
                </a:solidFill>
                <a:latin typeface="Consolas"/>
              </a:rPr>
              <a:t>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8cf4f2"/>
                </a:solidFill>
                <a:latin typeface="Consolas"/>
              </a:rPr>
              <a:t>   </a:t>
            </a: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WHERE</a:t>
            </a:r>
            <a:r>
              <a:rPr b="1" lang="en-US" sz="2600" spc="-1" strike="noStrike">
                <a:solidFill>
                  <a:srgbClr val="8cf4f2"/>
                </a:solidFill>
                <a:latin typeface="Consolas"/>
              </a:rPr>
              <a:t> 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DepartmentID = d.DepartmentID)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64" name="Group 5"/>
          <p:cNvGraphicFramePr/>
          <p:nvPr/>
        </p:nvGraphicFramePr>
        <p:xfrm>
          <a:off x="779760" y="4629600"/>
          <a:ext cx="8002800" cy="2653200"/>
        </p:xfrm>
        <a:graphic>
          <a:graphicData uri="http://schemas.openxmlformats.org/drawingml/2006/table">
            <a:tbl>
              <a:tblPr/>
              <a:tblGrid>
                <a:gridCol w="1752840"/>
                <a:gridCol w="1752840"/>
                <a:gridCol w="2819880"/>
                <a:gridCol w="1676520"/>
              </a:tblGrid>
              <a:tr h="3603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FirstName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LastName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HireDate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Dept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50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Guy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Gilbert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bg-BG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1998-07-31 00:00:00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Production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50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Kevin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Brown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bg-BG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1999-02-26 00:00:00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Marketing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50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…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…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…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…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65" name="PlaceHolder 3"/>
          <p:cNvSpPr>
            <a:spLocks noGrp="1"/>
          </p:cNvSpPr>
          <p:nvPr>
            <p:ph type="sldNum" idx="12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F4FF4F3-E88E-40A0-9F45-5148047B00E0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10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1" dur="indefinite" restart="never" nodeType="tmRoot">
          <p:childTnLst>
            <p:seq>
              <p:cTn id="92" dur="indefinite" nodeType="mainSeq">
                <p:childTnLst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Picture 2" descr="SQL GROUP BY: Fungsi, Contoh, dan Cara Menggunakan 2023 | RevoU"/>
          <p:cNvPicPr/>
          <p:nvPr/>
        </p:nvPicPr>
        <p:blipFill>
          <a:blip r:embed="rId1"/>
          <a:stretch/>
        </p:blipFill>
        <p:spPr>
          <a:xfrm>
            <a:off x="4605480" y="1600200"/>
            <a:ext cx="2980800" cy="1989000"/>
          </a:xfrm>
          <a:prstGeom prst="rect">
            <a:avLst/>
          </a:prstGeom>
          <a:ln w="0">
            <a:noFill/>
          </a:ln>
        </p:spPr>
      </p:pic>
      <p:sp>
        <p:nvSpPr>
          <p:cNvPr id="267" name="PlaceHolder 1"/>
          <p:cNvSpPr>
            <a:spLocks noGrp="1"/>
          </p:cNvSpPr>
          <p:nvPr>
            <p:ph type="subTitle"/>
          </p:nvPr>
        </p:nvSpPr>
        <p:spPr>
          <a:xfrm>
            <a:off x="468720" y="5715000"/>
            <a:ext cx="10961280" cy="7678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algn="ctr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4000" spc="-1" strike="noStrike">
                <a:solidFill>
                  <a:srgbClr val="234465"/>
                </a:solidFill>
                <a:latin typeface="Calibri"/>
              </a:rPr>
              <a:t>GROUP BY </a:t>
            </a:r>
            <a:r>
              <a:rPr b="0" lang="bg-BG" sz="4000" spc="-1" strike="noStrike">
                <a:solidFill>
                  <a:srgbClr val="234465"/>
                </a:solidFill>
                <a:latin typeface="Calibri"/>
              </a:rPr>
              <a:t>и </a:t>
            </a:r>
            <a:r>
              <a:rPr b="0" lang="en-US" sz="4000" spc="-1" strike="noStrike">
                <a:solidFill>
                  <a:srgbClr val="234465"/>
                </a:solidFill>
                <a:latin typeface="Calibri"/>
              </a:rPr>
              <a:t>HAVING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title"/>
          </p:nvPr>
        </p:nvSpPr>
        <p:spPr>
          <a:xfrm>
            <a:off x="615240" y="4704840"/>
            <a:ext cx="10961280" cy="7678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5390" spc="-1" strike="noStrike">
                <a:solidFill>
                  <a:srgbClr val="234465"/>
                </a:solidFill>
                <a:latin typeface="Calibri"/>
              </a:rPr>
              <a:t>Групиране и филтриране на данни</a:t>
            </a:r>
            <a:endParaRPr b="0" lang="en-US" sz="539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Picture 6" descr="http://www.iconarchive.com/icons/dryicons/aesthetica-2/128/database-process-icon.png"/>
          <p:cNvPicPr/>
          <p:nvPr/>
        </p:nvPicPr>
        <p:blipFill>
          <a:blip r:embed="rId1"/>
          <a:stretch/>
        </p:blipFill>
        <p:spPr>
          <a:xfrm>
            <a:off x="5763960" y="3149640"/>
            <a:ext cx="838080" cy="837720"/>
          </a:xfrm>
          <a:prstGeom prst="rect">
            <a:avLst/>
          </a:prstGeom>
          <a:ln w="0">
            <a:noFill/>
          </a:ln>
        </p:spPr>
      </p:pic>
      <p:sp>
        <p:nvSpPr>
          <p:cNvPr id="270" name="Freeform 5"/>
          <p:cNvSpPr/>
          <p:nvPr/>
        </p:nvSpPr>
        <p:spPr>
          <a:xfrm>
            <a:off x="5154120" y="1691280"/>
            <a:ext cx="1706760" cy="4583880"/>
          </a:xfrm>
          <a:custGeom>
            <a:avLst/>
            <a:gdLst>
              <a:gd name="textAreaLeft" fmla="*/ 0 w 1706760"/>
              <a:gd name="textAreaRight" fmla="*/ 1707120 w 1706760"/>
              <a:gd name="textAreaTop" fmla="*/ 0 h 4583880"/>
              <a:gd name="textAreaBottom" fmla="*/ 4584240 h 4583880"/>
            </a:gdLst>
            <a:ahLst/>
            <a:rect l="textAreaLeft" t="textAreaTop" r="textAreaRight" b="textAreaBottom"/>
            <a:pathLst>
              <a:path w="10123" h="10000">
                <a:moveTo>
                  <a:pt x="0" y="10000"/>
                </a:moveTo>
                <a:lnTo>
                  <a:pt x="0" y="0"/>
                </a:lnTo>
                <a:cubicBezTo>
                  <a:pt x="3361" y="972"/>
                  <a:pt x="6723" y="2213"/>
                  <a:pt x="10084" y="3185"/>
                </a:cubicBezTo>
                <a:cubicBezTo>
                  <a:pt x="10028" y="4802"/>
                  <a:pt x="10166" y="6226"/>
                  <a:pt x="10109" y="7843"/>
                </a:cubicBezTo>
                <a:lnTo>
                  <a:pt x="0" y="10000"/>
                </a:lnTo>
              </a:path>
            </a:pathLst>
          </a:custGeom>
          <a:solidFill>
            <a:schemeClr val="accent5">
              <a:lumMod val="60000"/>
              <a:lumOff val="40000"/>
              <a:alpha val="25000"/>
            </a:schemeClr>
          </a:solidFill>
          <a:ln cap="rnd" w="22225">
            <a:solidFill>
              <a:srgbClr val="67748e">
                <a:lumMod val="20000"/>
                <a:lumOff val="80000"/>
              </a:srgbClr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bg-BG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71" name="Text Box 50"/>
          <p:cNvSpPr/>
          <p:nvPr/>
        </p:nvSpPr>
        <p:spPr>
          <a:xfrm>
            <a:off x="5434200" y="2487960"/>
            <a:ext cx="834840" cy="3639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24464"/>
                </a:solidFill>
                <a:latin typeface="Calibri"/>
              </a:rPr>
              <a:t>72000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Box 52"/>
          <p:cNvSpPr/>
          <p:nvPr/>
        </p:nvSpPr>
        <p:spPr>
          <a:xfrm>
            <a:off x="5430600" y="4188960"/>
            <a:ext cx="965880" cy="3639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24464"/>
                </a:solidFill>
                <a:latin typeface="Calibri"/>
              </a:rPr>
              <a:t>108600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Box 54"/>
          <p:cNvSpPr/>
          <p:nvPr/>
        </p:nvSpPr>
        <p:spPr>
          <a:xfrm>
            <a:off x="5412960" y="5327640"/>
            <a:ext cx="965880" cy="3639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24464"/>
                </a:solidFill>
                <a:latin typeface="Calibri"/>
              </a:rPr>
              <a:t>185600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ru-RU" sz="4000" spc="-1" strike="noStrike">
                <a:solidFill>
                  <a:srgbClr val="ffffff"/>
                </a:solidFill>
                <a:latin typeface="Calibri"/>
              </a:rPr>
              <a:t>Агрегиране и групи от данни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graphicFrame>
        <p:nvGraphicFramePr>
          <p:cNvPr id="275" name="Group 4"/>
          <p:cNvGraphicFramePr/>
          <p:nvPr/>
        </p:nvGraphicFramePr>
        <p:xfrm>
          <a:off x="2109960" y="1295280"/>
          <a:ext cx="3044160" cy="6204600"/>
        </p:xfrm>
        <a:graphic>
          <a:graphicData uri="http://schemas.openxmlformats.org/drawingml/2006/table">
            <a:tbl>
              <a:tblPr/>
              <a:tblGrid>
                <a:gridCol w="1991520"/>
                <a:gridCol w="1052640"/>
              </a:tblGrid>
              <a:tr h="342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1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DepartmentID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1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Salary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12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16feb6">
                        <a:alpha val="50000"/>
                      </a:srgb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10300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16feb6">
                        <a:alpha val="50000"/>
                      </a:srgbClr>
                    </a:solidFill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12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16feb6">
                        <a:alpha val="50000"/>
                      </a:srgb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16800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16feb6">
                        <a:alpha val="50000"/>
                      </a:srgbClr>
                    </a:solidFill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12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16feb6">
                        <a:alpha val="50000"/>
                      </a:srgb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16800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16feb6">
                        <a:alpha val="50000"/>
                      </a:srgbClr>
                    </a:solidFill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12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16feb6">
                        <a:alpha val="50000"/>
                      </a:srgb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10300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16feb6">
                        <a:alpha val="50000"/>
                      </a:srgbClr>
                    </a:solidFill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12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16feb6">
                        <a:alpha val="50000"/>
                      </a:srgb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17800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16feb6">
                        <a:alpha val="50000"/>
                      </a:srgbClr>
                    </a:solidFill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2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a3dcff">
                        <a:alpha val="50000"/>
                      </a:srgb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28800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a3dcff">
                        <a:alpha val="50000"/>
                      </a:srgbClr>
                    </a:solidFill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2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a3dcff">
                        <a:alpha val="50000"/>
                      </a:srgb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25000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a3dcff">
                        <a:alpha val="50000"/>
                      </a:srgbClr>
                    </a:solidFill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2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a3dcff">
                        <a:alpha val="50000"/>
                      </a:srgb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29800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a3dcff">
                        <a:alpha val="50000"/>
                      </a:srgbClr>
                    </a:solidFill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2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a3dcff">
                        <a:alpha val="50000"/>
                      </a:srgb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25000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a3dcff">
                        <a:alpha val="50000"/>
                      </a:srgbClr>
                    </a:solidFill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16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f1a9a9">
                        <a:alpha val="50000"/>
                      </a:srgb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125500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f1a9a9">
                        <a:alpha val="50000"/>
                      </a:srgbClr>
                    </a:solidFill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16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f1a9a9">
                        <a:alpha val="50000"/>
                      </a:srgb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60100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f1a9a9">
                        <a:alpha val="50000"/>
                      </a:srgbClr>
                    </a:solidFill>
                  </a:tcPr>
                </a:tc>
              </a:tr>
              <a:tr h="342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...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...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76" name="Group 55"/>
          <p:cNvGraphicFramePr/>
          <p:nvPr/>
        </p:nvGraphicFramePr>
        <p:xfrm>
          <a:off x="6866280" y="3149640"/>
          <a:ext cx="3663720" cy="2502360"/>
        </p:xfrm>
        <a:graphic>
          <a:graphicData uri="http://schemas.openxmlformats.org/drawingml/2006/table">
            <a:tbl>
              <a:tblPr/>
              <a:tblGrid>
                <a:gridCol w="1910880"/>
                <a:gridCol w="1752840"/>
              </a:tblGrid>
              <a:tr h="4521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1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DepartmentID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1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SUM (Salary)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4201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12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16feb6">
                        <a:alpha val="50000"/>
                      </a:srgb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72000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16feb6">
                        <a:alpha val="50000"/>
                      </a:srgbClr>
                    </a:solidFill>
                  </a:tcPr>
                </a:tc>
              </a:tr>
              <a:tr h="4201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2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a3dcff">
                        <a:alpha val="50000"/>
                      </a:srgb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108600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a3dcff">
                        <a:alpha val="50000"/>
                      </a:srgbClr>
                    </a:solidFill>
                  </a:tcPr>
                </a:tc>
              </a:tr>
              <a:tr h="4201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16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f1a9a9">
                        <a:alpha val="50000"/>
                      </a:srgb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185600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f1a9a9">
                        <a:alpha val="50000"/>
                      </a:srgbClr>
                    </a:solidFill>
                  </a:tcPr>
                </a:tc>
              </a:tr>
              <a:tr h="4201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...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...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77" name="AutoShape 88"/>
          <p:cNvSpPr/>
          <p:nvPr/>
        </p:nvSpPr>
        <p:spPr>
          <a:xfrm>
            <a:off x="5172120" y="1733400"/>
            <a:ext cx="237600" cy="1819080"/>
          </a:xfrm>
          <a:prstGeom prst="rightBrace">
            <a:avLst>
              <a:gd name="adj1" fmla="val 47358"/>
              <a:gd name="adj2" fmla="val 50000"/>
            </a:avLst>
          </a:prstGeom>
          <a:noFill/>
          <a:ln w="25400">
            <a:solidFill>
              <a:srgbClr val="67748e">
                <a:lumMod val="20000"/>
                <a:lumOff val="80000"/>
              </a:srgbClr>
            </a:solidFill>
            <a:round/>
          </a:ln>
          <a:effectLst>
            <a:outerShdw algn="ctr" dir="2700000" dist="17819" rotWithShape="0">
              <a:schemeClr val="bg1">
                <a:lumMod val="75000"/>
                <a:lumOff val="25000"/>
              </a:scheme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bg-BG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78" name="AutoShape 88"/>
          <p:cNvSpPr/>
          <p:nvPr/>
        </p:nvSpPr>
        <p:spPr>
          <a:xfrm>
            <a:off x="5181480" y="3657600"/>
            <a:ext cx="218880" cy="1428480"/>
          </a:xfrm>
          <a:prstGeom prst="rightBrace">
            <a:avLst>
              <a:gd name="adj1" fmla="val 47358"/>
              <a:gd name="adj2" fmla="val 50000"/>
            </a:avLst>
          </a:prstGeom>
          <a:noFill/>
          <a:ln w="25400">
            <a:solidFill>
              <a:srgbClr val="67748e">
                <a:lumMod val="20000"/>
                <a:lumOff val="80000"/>
              </a:srgbClr>
            </a:solidFill>
            <a:round/>
          </a:ln>
          <a:effectLst>
            <a:outerShdw algn="ctr" dir="2700000" dist="17819" rotWithShape="0">
              <a:schemeClr val="bg1">
                <a:lumMod val="75000"/>
                <a:lumOff val="25000"/>
              </a:scheme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bg-BG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79" name="AutoShape 88"/>
          <p:cNvSpPr/>
          <p:nvPr/>
        </p:nvSpPr>
        <p:spPr>
          <a:xfrm>
            <a:off x="5162400" y="5172120"/>
            <a:ext cx="228240" cy="685440"/>
          </a:xfrm>
          <a:prstGeom prst="rightBrace">
            <a:avLst>
              <a:gd name="adj1" fmla="val 47358"/>
              <a:gd name="adj2" fmla="val 50000"/>
            </a:avLst>
          </a:prstGeom>
          <a:noFill/>
          <a:ln w="25400">
            <a:solidFill>
              <a:srgbClr val="67748e">
                <a:lumMod val="20000"/>
                <a:lumOff val="80000"/>
              </a:srgbClr>
            </a:solidFill>
            <a:round/>
          </a:ln>
          <a:effectLst>
            <a:outerShdw algn="ctr" dir="2700000" dist="17819" rotWithShape="0">
              <a:schemeClr val="bg1">
                <a:lumMod val="75000"/>
                <a:lumOff val="25000"/>
              </a:scheme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bg-BG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sldNum" idx="13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8059E61-43BE-43B7-A37D-EF423C3639F7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10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/>
          </p:nvPr>
        </p:nvSpPr>
        <p:spPr>
          <a:xfrm>
            <a:off x="190440" y="1151280"/>
            <a:ext cx="11807640" cy="55699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rmAutofit/>
          </a:bodyPr>
          <a:p>
            <a:pPr marL="3603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Р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азделя редовете на таблицата на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групи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marL="3603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24464"/>
              </a:buClr>
              <a:buFont typeface="Wingdings" charset="2"/>
              <a:buChar char=""/>
            </a:pPr>
            <a:r>
              <a:rPr b="1" lang="en-US" sz="3400" spc="-1" strike="noStrike">
                <a:solidFill>
                  <a:srgbClr val="bf7800"/>
                </a:solidFill>
                <a:latin typeface="Consolas"/>
              </a:rPr>
              <a:t>SELECT</a:t>
            </a:r>
            <a:r>
              <a:rPr b="0" lang="en-US" sz="3400" spc="-1" strike="noStrike">
                <a:solidFill>
                  <a:srgbClr val="bf7800"/>
                </a:solidFill>
                <a:latin typeface="Calibri"/>
              </a:rPr>
              <a:t> </a:t>
            </a: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+ </a:t>
            </a:r>
            <a:r>
              <a:rPr b="1" lang="en-US" sz="3400" spc="-1" strike="noStrike">
                <a:solidFill>
                  <a:srgbClr val="bf7800"/>
                </a:solidFill>
                <a:latin typeface="Consolas"/>
              </a:rPr>
              <a:t>GROUP BY</a:t>
            </a: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: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marL="3603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1a334c"/>
              </a:buClr>
              <a:buFont typeface="Wingdings" charset="2"/>
              <a:buChar char=""/>
            </a:pPr>
            <a:r>
              <a:rPr b="1" lang="en-US" sz="3400" spc="-1" strike="noStrike">
                <a:solidFill>
                  <a:srgbClr val="1a334c"/>
                </a:solidFill>
                <a:latin typeface="Calibri"/>
              </a:rPr>
              <a:t>&lt;</a:t>
            </a:r>
            <a:r>
              <a:rPr b="1" lang="bg-BG" sz="3600" spc="-1" strike="noStrike">
                <a:solidFill>
                  <a:srgbClr val="224464"/>
                </a:solidFill>
                <a:latin typeface="Calibri"/>
              </a:rPr>
              <a:t>колони за групиране</a:t>
            </a:r>
            <a:r>
              <a:rPr b="1" lang="en-US" sz="3400" spc="-1" strike="noStrike">
                <a:solidFill>
                  <a:srgbClr val="1a334c"/>
                </a:solidFill>
                <a:latin typeface="Calibri"/>
              </a:rPr>
              <a:t>&gt;</a:t>
            </a: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е списък от колони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GROUP BY</a:t>
            </a: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 (1)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83" name="Rectangle 4"/>
          <p:cNvSpPr/>
          <p:nvPr/>
        </p:nvSpPr>
        <p:spPr>
          <a:xfrm>
            <a:off x="1217880" y="2743200"/>
            <a:ext cx="9755640" cy="277668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rgbClr val="67748e">
                <a:lumMod val="60000"/>
                <a:lumOff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</a:pPr>
            <a:r>
              <a:rPr b="1" lang="en-US" sz="2800" spc="-1" strike="noStrike">
                <a:solidFill>
                  <a:srgbClr val="bf7800"/>
                </a:solidFill>
                <a:latin typeface="Consolas"/>
              </a:rPr>
              <a:t>SELECT</a:t>
            </a:r>
            <a:r>
              <a:rPr b="1" lang="en-US" sz="2800" spc="-1" strike="noStrike">
                <a:solidFill>
                  <a:srgbClr val="224464"/>
                </a:solidFill>
                <a:latin typeface="Consolas"/>
              </a:rPr>
              <a:t> &lt;</a:t>
            </a:r>
            <a:r>
              <a:rPr b="1" lang="bg-BG" sz="2800" spc="-1" strike="noStrike">
                <a:solidFill>
                  <a:srgbClr val="224464"/>
                </a:solidFill>
                <a:latin typeface="Consolas"/>
              </a:rPr>
              <a:t>колони</a:t>
            </a:r>
            <a:r>
              <a:rPr b="1" lang="en-US" sz="2800" spc="-1" strike="noStrike">
                <a:solidFill>
                  <a:srgbClr val="224464"/>
                </a:solidFill>
                <a:latin typeface="Consolas"/>
              </a:rPr>
              <a:t>&gt;, &lt;</a:t>
            </a:r>
            <a:r>
              <a:rPr b="1" lang="bg-BG" sz="2800" spc="-1" strike="noStrike">
                <a:solidFill>
                  <a:srgbClr val="224464"/>
                </a:solidFill>
                <a:latin typeface="Consolas"/>
              </a:rPr>
              <a:t>групираща функция</a:t>
            </a:r>
            <a:r>
              <a:rPr b="1" lang="en-US" sz="2800" spc="-1" strike="noStrike">
                <a:solidFill>
                  <a:srgbClr val="224464"/>
                </a:solidFill>
                <a:latin typeface="Consolas"/>
              </a:rPr>
              <a:t>(</a:t>
            </a:r>
            <a:r>
              <a:rPr b="1" lang="bg-BG" sz="2800" spc="-1" strike="noStrike">
                <a:solidFill>
                  <a:srgbClr val="224464"/>
                </a:solidFill>
                <a:latin typeface="Consolas"/>
              </a:rPr>
              <a:t>колони</a:t>
            </a:r>
            <a:r>
              <a:rPr b="1" lang="en-US" sz="2800" spc="-1" strike="noStrike">
                <a:solidFill>
                  <a:srgbClr val="224464"/>
                </a:solidFill>
                <a:latin typeface="Consolas"/>
              </a:rPr>
              <a:t>)&gt;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b="1" lang="en-US" sz="2800" spc="-1" strike="noStrike">
                <a:solidFill>
                  <a:srgbClr val="bf7800"/>
                </a:solidFill>
                <a:latin typeface="Consolas"/>
              </a:rPr>
              <a:t>FROM</a:t>
            </a:r>
            <a:r>
              <a:rPr b="1" lang="en-US" sz="2800" spc="-1" strike="noStrike">
                <a:solidFill>
                  <a:srgbClr val="224464"/>
                </a:solidFill>
                <a:latin typeface="Consolas"/>
              </a:rPr>
              <a:t>   &lt;</a:t>
            </a:r>
            <a:r>
              <a:rPr b="1" lang="bg-BG" sz="2800" spc="-1" strike="noStrike">
                <a:solidFill>
                  <a:srgbClr val="224464"/>
                </a:solidFill>
                <a:latin typeface="Consolas"/>
              </a:rPr>
              <a:t>таблица</a:t>
            </a:r>
            <a:r>
              <a:rPr b="1" lang="en-US" sz="2800" spc="-1" strike="noStrike">
                <a:solidFill>
                  <a:srgbClr val="224464"/>
                </a:solidFill>
                <a:latin typeface="Consolas"/>
              </a:rPr>
              <a:t>&gt;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b="1" lang="en-US" sz="2800" spc="-1" strike="noStrike">
                <a:solidFill>
                  <a:srgbClr val="224464"/>
                </a:solidFill>
                <a:latin typeface="Consolas"/>
              </a:rPr>
              <a:t>[</a:t>
            </a:r>
            <a:r>
              <a:rPr b="1" lang="en-US" sz="2800" spc="-1" strike="noStrike">
                <a:solidFill>
                  <a:srgbClr val="bf7800"/>
                </a:solidFill>
                <a:latin typeface="Consolas"/>
              </a:rPr>
              <a:t>WHERE</a:t>
            </a:r>
            <a:r>
              <a:rPr b="1" lang="en-US" sz="2800" spc="-1" strike="noStrike">
                <a:solidFill>
                  <a:srgbClr val="224464"/>
                </a:solidFill>
                <a:latin typeface="Consolas"/>
              </a:rPr>
              <a:t> &lt;</a:t>
            </a:r>
            <a:r>
              <a:rPr b="1" lang="bg-BG" sz="2800" spc="-1" strike="noStrike">
                <a:solidFill>
                  <a:srgbClr val="224464"/>
                </a:solidFill>
                <a:latin typeface="Consolas"/>
              </a:rPr>
              <a:t>условия</a:t>
            </a:r>
            <a:r>
              <a:rPr b="1" lang="en-US" sz="2800" spc="-1" strike="noStrike">
                <a:solidFill>
                  <a:srgbClr val="224464"/>
                </a:solidFill>
                <a:latin typeface="Consolas"/>
              </a:rPr>
              <a:t>&gt;]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b="1" lang="en-US" sz="2800" spc="-1" strike="noStrike">
                <a:solidFill>
                  <a:srgbClr val="224464"/>
                </a:solidFill>
                <a:latin typeface="Consolas"/>
              </a:rPr>
              <a:t>[</a:t>
            </a:r>
            <a:r>
              <a:rPr b="1" lang="en-US" sz="2800" spc="-1" strike="noStrike">
                <a:solidFill>
                  <a:srgbClr val="bf7800"/>
                </a:solidFill>
                <a:latin typeface="Consolas"/>
              </a:rPr>
              <a:t>GROUP BY</a:t>
            </a:r>
            <a:r>
              <a:rPr b="1" lang="en-US" sz="2800" spc="-1" strike="noStrike">
                <a:solidFill>
                  <a:srgbClr val="224464"/>
                </a:solidFill>
                <a:latin typeface="Consolas"/>
              </a:rPr>
              <a:t> &lt;</a:t>
            </a:r>
            <a:r>
              <a:rPr b="1" lang="bg-BG" sz="2800" spc="-1" strike="noStrike">
                <a:solidFill>
                  <a:srgbClr val="224464"/>
                </a:solidFill>
                <a:latin typeface="Consolas"/>
              </a:rPr>
              <a:t>колони за групиране</a:t>
            </a:r>
            <a:r>
              <a:rPr b="1" lang="en-US" sz="2800" spc="-1" strike="noStrike">
                <a:solidFill>
                  <a:srgbClr val="224464"/>
                </a:solidFill>
                <a:latin typeface="Consolas"/>
              </a:rPr>
              <a:t>&gt;]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b="1" lang="en-US" sz="2800" spc="-1" strike="noStrike">
                <a:solidFill>
                  <a:srgbClr val="224464"/>
                </a:solidFill>
                <a:latin typeface="Consolas"/>
              </a:rPr>
              <a:t>[</a:t>
            </a:r>
            <a:r>
              <a:rPr b="1" lang="en-US" sz="2800" spc="-1" strike="noStrike">
                <a:solidFill>
                  <a:srgbClr val="bf7800"/>
                </a:solidFill>
                <a:latin typeface="Consolas"/>
              </a:rPr>
              <a:t>HAVING</a:t>
            </a:r>
            <a:r>
              <a:rPr b="1" lang="en-US" sz="2800" spc="-1" strike="noStrike">
                <a:solidFill>
                  <a:srgbClr val="224464"/>
                </a:solidFill>
                <a:latin typeface="Consolas"/>
              </a:rPr>
              <a:t>   &lt;</a:t>
            </a:r>
            <a:r>
              <a:rPr b="1" lang="bg-BG" sz="2800" spc="-1" strike="noStrike">
                <a:solidFill>
                  <a:srgbClr val="224464"/>
                </a:solidFill>
                <a:latin typeface="Consolas"/>
              </a:rPr>
              <a:t>условие</a:t>
            </a:r>
            <a:r>
              <a:rPr b="1" lang="en-US" sz="2800" spc="-1" strike="noStrike">
                <a:solidFill>
                  <a:srgbClr val="224464"/>
                </a:solidFill>
                <a:latin typeface="Consolas"/>
              </a:rPr>
              <a:t>&gt;]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b="1" lang="en-US" sz="2800" spc="-1" strike="noStrike">
                <a:solidFill>
                  <a:srgbClr val="224464"/>
                </a:solidFill>
                <a:latin typeface="Consolas"/>
              </a:rPr>
              <a:t>[</a:t>
            </a:r>
            <a:r>
              <a:rPr b="1" lang="en-US" sz="2800" spc="-1" strike="noStrike">
                <a:solidFill>
                  <a:srgbClr val="bf7800"/>
                </a:solidFill>
                <a:latin typeface="Consolas"/>
              </a:rPr>
              <a:t>ORDER</a:t>
            </a:r>
            <a:r>
              <a:rPr b="1" lang="en-US" sz="2800" spc="-1" strike="noStrike">
                <a:solidFill>
                  <a:srgbClr val="224464"/>
                </a:solidFill>
                <a:latin typeface="Consolas"/>
              </a:rPr>
              <a:t> </a:t>
            </a:r>
            <a:r>
              <a:rPr b="1" lang="en-US" sz="2800" spc="-1" strike="noStrike">
                <a:solidFill>
                  <a:srgbClr val="bf7800"/>
                </a:solidFill>
                <a:latin typeface="Consolas"/>
              </a:rPr>
              <a:t>BY</a:t>
            </a:r>
            <a:r>
              <a:rPr b="1" lang="en-US" sz="2800" spc="-1" strike="noStrike">
                <a:solidFill>
                  <a:srgbClr val="224464"/>
                </a:solidFill>
                <a:latin typeface="Consolas"/>
              </a:rPr>
              <a:t> &lt;</a:t>
            </a:r>
            <a:r>
              <a:rPr b="1" lang="bg-BG" sz="2800" spc="-1" strike="noStrike">
                <a:solidFill>
                  <a:srgbClr val="224464"/>
                </a:solidFill>
                <a:latin typeface="Consolas"/>
              </a:rPr>
              <a:t>колони</a:t>
            </a:r>
            <a:r>
              <a:rPr b="1" lang="en-US" sz="2800" spc="-1" strike="noStrike">
                <a:solidFill>
                  <a:srgbClr val="224464"/>
                </a:solidFill>
                <a:latin typeface="Consolas"/>
              </a:rPr>
              <a:t>&gt;]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14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3F1B6EE-197C-4DEA-9C45-D637C182B6B5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13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7" dur="indefinite" restart="never" nodeType="tmRoot">
          <p:childTnLst>
            <p:seq>
              <p:cTn id="98" dur="indefinite" nodeType="mainSeq">
                <p:childTnLst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/>
          </p:nvPr>
        </p:nvSpPr>
        <p:spPr>
          <a:xfrm>
            <a:off x="190440" y="1151280"/>
            <a:ext cx="11807640" cy="55699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rmAutofit/>
          </a:bodyPr>
          <a:p>
            <a:pPr marL="360360" indent="-360360">
              <a:lnSpc>
                <a:spcPct val="100000"/>
              </a:lnSpc>
              <a:spcBef>
                <a:spcPts val="1528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Пример за групиране на данни</a:t>
            </a: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: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marL="360360" indent="-360360">
              <a:lnSpc>
                <a:spcPct val="100000"/>
              </a:lnSpc>
              <a:spcBef>
                <a:spcPts val="1199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Колоната след </a:t>
            </a:r>
            <a:r>
              <a:rPr b="1" lang="ru-RU" sz="3400" spc="-1" strike="noStrike">
                <a:solidFill>
                  <a:srgbClr val="234465"/>
                </a:solidFill>
                <a:latin typeface="Consolas"/>
              </a:rPr>
              <a:t>GROUP</a:t>
            </a:r>
            <a:r>
              <a:rPr b="1" lang="ru-RU" sz="34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1" lang="ru-RU" sz="3400" spc="-1" strike="noStrike">
                <a:solidFill>
                  <a:srgbClr val="234465"/>
                </a:solidFill>
                <a:latin typeface="Consolas"/>
              </a:rPr>
              <a:t>BY</a:t>
            </a:r>
            <a:r>
              <a:rPr b="1" lang="ru-RU" sz="34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не е задължително да бъде в списъка </a:t>
            </a:r>
            <a:r>
              <a:rPr b="1" lang="ru-RU" sz="3400" spc="-1" strike="noStrike">
                <a:solidFill>
                  <a:srgbClr val="234465"/>
                </a:solidFill>
                <a:latin typeface="Consolas"/>
              </a:rPr>
              <a:t>SELECT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GROUP BY</a:t>
            </a: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 (2)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87" name="Rectangle 4"/>
          <p:cNvSpPr/>
          <p:nvPr/>
        </p:nvSpPr>
        <p:spPr>
          <a:xfrm>
            <a:off x="1370520" y="1859040"/>
            <a:ext cx="9451080" cy="167364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rgbClr val="67748e">
                <a:lumMod val="60000"/>
                <a:lumOff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SELECT 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DepartmentID, </a:t>
            </a: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SUM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(Salary) as SalariesCost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FROM 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Employees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GROUP BY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DepartmentID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88" name="Group 5"/>
          <p:cNvGraphicFramePr/>
          <p:nvPr/>
        </p:nvGraphicFramePr>
        <p:xfrm>
          <a:off x="5871960" y="3168360"/>
          <a:ext cx="4842720" cy="2079360"/>
        </p:xfrm>
        <a:graphic>
          <a:graphicData uri="http://schemas.openxmlformats.org/drawingml/2006/table">
            <a:tbl>
              <a:tblPr/>
              <a:tblGrid>
                <a:gridCol w="2402640"/>
                <a:gridCol w="2440080"/>
              </a:tblGrid>
              <a:tr h="3506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DepartmentID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SalariesCost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50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bg-BG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12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bg-BG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72000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50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bg-BG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2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bg-BG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108600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50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bg-BG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16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bg-BG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185600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50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bg-BG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...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bg-BG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...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89" name="PlaceHolder 3"/>
          <p:cNvSpPr>
            <a:spLocks noGrp="1"/>
          </p:cNvSpPr>
          <p:nvPr>
            <p:ph type="sldNum" idx="15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63C0096-8878-402E-9011-A4F9852C4037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9" dur="indefinite" restart="never" nodeType="tmRoot">
          <p:childTnLst>
            <p:seq>
              <p:cTn id="110" dur="indefinite" nodeType="mainSeq">
                <p:childTnLst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Picture 6" descr="http://www.iconarchive.com/icons/dryicons/aesthetica-2/128/database-process-icon.png"/>
          <p:cNvPicPr/>
          <p:nvPr/>
        </p:nvPicPr>
        <p:blipFill>
          <a:blip r:embed="rId1"/>
          <a:stretch/>
        </p:blipFill>
        <p:spPr>
          <a:xfrm>
            <a:off x="5917680" y="4076280"/>
            <a:ext cx="482760" cy="482760"/>
          </a:xfrm>
          <a:prstGeom prst="rect">
            <a:avLst/>
          </a:prstGeom>
          <a:ln w="0">
            <a:noFill/>
          </a:ln>
        </p:spPr>
      </p:pic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rmAutofit fontScale="81000"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Групиране по няколко колони – Пример (1)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92" name="Freeform 3"/>
          <p:cNvSpPr/>
          <p:nvPr/>
        </p:nvSpPr>
        <p:spPr>
          <a:xfrm>
            <a:off x="5492160" y="1143000"/>
            <a:ext cx="1207080" cy="5159880"/>
          </a:xfrm>
          <a:custGeom>
            <a:avLst/>
            <a:gdLst>
              <a:gd name="textAreaLeft" fmla="*/ 0 w 1207080"/>
              <a:gd name="textAreaRight" fmla="*/ 1207440 w 1207080"/>
              <a:gd name="textAreaTop" fmla="*/ 0 h 5159880"/>
              <a:gd name="textAreaBottom" fmla="*/ 5160240 h 5159880"/>
            </a:gdLst>
            <a:ahLst/>
            <a:rect l="textAreaLeft" t="textAreaTop" r="textAreaRight" b="textAreaBottom"/>
            <a:pathLst>
              <a:path w="966" h="3238">
                <a:moveTo>
                  <a:pt x="0" y="3238"/>
                </a:moveTo>
                <a:lnTo>
                  <a:pt x="0" y="0"/>
                </a:lnTo>
                <a:lnTo>
                  <a:pt x="966" y="550"/>
                </a:lnTo>
                <a:lnTo>
                  <a:pt x="966" y="2827"/>
                </a:lnTo>
                <a:lnTo>
                  <a:pt x="0" y="3238"/>
                </a:lnTo>
              </a:path>
            </a:pathLst>
          </a:custGeom>
          <a:solidFill>
            <a:schemeClr val="accent5">
              <a:lumMod val="60000"/>
              <a:lumOff val="40000"/>
              <a:alpha val="25000"/>
            </a:schemeClr>
          </a:solidFill>
          <a:ln cap="rnd" w="22225">
            <a:solidFill>
              <a:srgbClr val="67748e">
                <a:lumMod val="20000"/>
                <a:lumOff val="80000"/>
              </a:srgbClr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bg-BG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93" name="AutoShape 50"/>
          <p:cNvSpPr/>
          <p:nvPr/>
        </p:nvSpPr>
        <p:spPr>
          <a:xfrm>
            <a:off x="5531760" y="1849320"/>
            <a:ext cx="210960" cy="377640"/>
          </a:xfrm>
          <a:prstGeom prst="rightBrace">
            <a:avLst>
              <a:gd name="adj1" fmla="val 19424"/>
              <a:gd name="adj2" fmla="val 50000"/>
            </a:avLst>
          </a:prstGeom>
          <a:noFill/>
          <a:ln w="25400">
            <a:solidFill>
              <a:srgbClr val="67748e">
                <a:lumMod val="20000"/>
                <a:lumOff val="80000"/>
              </a:srgbClr>
            </a:solidFill>
            <a:round/>
          </a:ln>
          <a:effectLst>
            <a:outerShdw algn="ctr" dir="2700000" dist="17819" rotWithShape="0">
              <a:schemeClr val="bg1">
                <a:lumMod val="75000"/>
                <a:lumOff val="25000"/>
              </a:scheme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bg-BG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94" name="Text Box 51"/>
          <p:cNvSpPr/>
          <p:nvPr/>
        </p:nvSpPr>
        <p:spPr>
          <a:xfrm>
            <a:off x="5711760" y="1905120"/>
            <a:ext cx="834840" cy="3639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24464"/>
                </a:solidFill>
                <a:latin typeface="Calibri"/>
              </a:rPr>
              <a:t>39700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Box 52"/>
          <p:cNvSpPr/>
          <p:nvPr/>
        </p:nvSpPr>
        <p:spPr>
          <a:xfrm>
            <a:off x="5745240" y="3673800"/>
            <a:ext cx="834840" cy="3639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24464"/>
                </a:solidFill>
                <a:latin typeface="Calibri"/>
              </a:rPr>
              <a:t>77000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 Box 53"/>
          <p:cNvSpPr/>
          <p:nvPr/>
        </p:nvSpPr>
        <p:spPr>
          <a:xfrm>
            <a:off x="5732640" y="4587120"/>
            <a:ext cx="834840" cy="3639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24464"/>
                </a:solidFill>
                <a:latin typeface="Calibri"/>
              </a:rPr>
              <a:t>52800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AutoShape 88"/>
          <p:cNvSpPr/>
          <p:nvPr/>
        </p:nvSpPr>
        <p:spPr>
          <a:xfrm>
            <a:off x="5547600" y="2351160"/>
            <a:ext cx="195120" cy="876240"/>
          </a:xfrm>
          <a:prstGeom prst="rightBrace">
            <a:avLst>
              <a:gd name="adj1" fmla="val 47358"/>
              <a:gd name="adj2" fmla="val 50000"/>
            </a:avLst>
          </a:prstGeom>
          <a:noFill/>
          <a:ln w="25400">
            <a:solidFill>
              <a:srgbClr val="67748e">
                <a:lumMod val="20000"/>
                <a:lumOff val="80000"/>
              </a:srgbClr>
            </a:solidFill>
            <a:round/>
          </a:ln>
          <a:effectLst>
            <a:outerShdw algn="ctr" dir="2700000" dist="17819" rotWithShape="0">
              <a:schemeClr val="bg1">
                <a:lumMod val="75000"/>
                <a:lumOff val="25000"/>
              </a:scheme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bg-BG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98" name="AutoShape 89"/>
          <p:cNvSpPr/>
          <p:nvPr/>
        </p:nvSpPr>
        <p:spPr>
          <a:xfrm>
            <a:off x="5547600" y="3352680"/>
            <a:ext cx="203040" cy="968760"/>
          </a:xfrm>
          <a:prstGeom prst="rightBrace">
            <a:avLst>
              <a:gd name="adj1" fmla="val 47358"/>
              <a:gd name="adj2" fmla="val 50000"/>
            </a:avLst>
          </a:prstGeom>
          <a:noFill/>
          <a:ln w="25400">
            <a:solidFill>
              <a:srgbClr val="67748e">
                <a:lumMod val="20000"/>
                <a:lumOff val="80000"/>
              </a:srgbClr>
            </a:solidFill>
            <a:round/>
          </a:ln>
          <a:effectLst>
            <a:outerShdw algn="ctr" dir="2700000" dist="17819" rotWithShape="0">
              <a:schemeClr val="bg1">
                <a:lumMod val="75000"/>
                <a:lumOff val="25000"/>
              </a:scheme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bg-BG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99" name="AutoShape 90"/>
          <p:cNvSpPr/>
          <p:nvPr/>
        </p:nvSpPr>
        <p:spPr>
          <a:xfrm flipV="1">
            <a:off x="5531760" y="4375080"/>
            <a:ext cx="154080" cy="895680"/>
          </a:xfrm>
          <a:prstGeom prst="rightBrace">
            <a:avLst>
              <a:gd name="adj1" fmla="val 23568"/>
              <a:gd name="adj2" fmla="val 50000"/>
            </a:avLst>
          </a:prstGeom>
          <a:noFill/>
          <a:ln w="25400">
            <a:solidFill>
              <a:srgbClr val="67748e">
                <a:lumMod val="20000"/>
                <a:lumOff val="80000"/>
              </a:srgbClr>
            </a:solidFill>
            <a:round/>
          </a:ln>
          <a:effectLst>
            <a:outerShdw algn="ctr" dir="2700000" dist="17819" rotWithShape="0">
              <a:schemeClr val="bg1">
                <a:lumMod val="75000"/>
                <a:lumOff val="25000"/>
              </a:scheme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bg-BG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00" name="AutoShape 91"/>
          <p:cNvSpPr/>
          <p:nvPr/>
        </p:nvSpPr>
        <p:spPr>
          <a:xfrm>
            <a:off x="5531760" y="5375160"/>
            <a:ext cx="210960" cy="491760"/>
          </a:xfrm>
          <a:prstGeom prst="rightBrace">
            <a:avLst>
              <a:gd name="adj1" fmla="val 19424"/>
              <a:gd name="adj2" fmla="val 50000"/>
            </a:avLst>
          </a:prstGeom>
          <a:noFill/>
          <a:ln w="25400">
            <a:solidFill>
              <a:srgbClr val="67748e">
                <a:lumMod val="20000"/>
                <a:lumOff val="80000"/>
              </a:srgbClr>
            </a:solidFill>
            <a:round/>
          </a:ln>
          <a:effectLst>
            <a:outerShdw algn="ctr" dir="2700000" dist="17819" rotWithShape="0">
              <a:schemeClr val="bg1">
                <a:lumMod val="75000"/>
                <a:lumOff val="25000"/>
              </a:scheme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bg-BG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01" name="Text Box 92"/>
          <p:cNvSpPr/>
          <p:nvPr/>
        </p:nvSpPr>
        <p:spPr>
          <a:xfrm>
            <a:off x="5707800" y="2678760"/>
            <a:ext cx="834840" cy="3639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24464"/>
                </a:solidFill>
                <a:latin typeface="Calibri"/>
              </a:rPr>
              <a:t>65000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 Box 93"/>
          <p:cNvSpPr/>
          <p:nvPr/>
        </p:nvSpPr>
        <p:spPr>
          <a:xfrm>
            <a:off x="5697360" y="5447160"/>
            <a:ext cx="834840" cy="3639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24464"/>
                </a:solidFill>
                <a:latin typeface="Calibri"/>
              </a:rPr>
              <a:t>43300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03" name="Group 4"/>
          <p:cNvGraphicFramePr/>
          <p:nvPr/>
        </p:nvGraphicFramePr>
        <p:xfrm>
          <a:off x="635400" y="1227240"/>
          <a:ext cx="4854960" cy="5525280"/>
        </p:xfrm>
        <a:graphic>
          <a:graphicData uri="http://schemas.openxmlformats.org/drawingml/2006/table">
            <a:tbl>
              <a:tblPr/>
              <a:tblGrid>
                <a:gridCol w="1661040"/>
                <a:gridCol w="2355840"/>
                <a:gridCol w="838080"/>
              </a:tblGrid>
              <a:tr h="534600"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720"/>
                        </a:spcBef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DepartmentID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720"/>
                        </a:spcBef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JobTitle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720"/>
                        </a:spcBef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Salary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51300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bg-BG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11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16feb6">
                        <a:alpha val="50000"/>
                      </a:srgbClr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en-US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Network Manager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16feb6">
                        <a:alpha val="50000"/>
                      </a:srgbClr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bg-BG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39700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16feb6">
                        <a:alpha val="50000"/>
                      </a:srgbClr>
                    </a:solidFill>
                  </a:tcPr>
                </a:tc>
              </a:tr>
              <a:tr h="51300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bg-BG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11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f1a9a9">
                        <a:alpha val="50000"/>
                      </a:srgbClr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en-US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Network Administrator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f1a9a9">
                        <a:alpha val="50000"/>
                      </a:srgbClr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bg-BG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32500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f1a9a9">
                        <a:alpha val="50000"/>
                      </a:srgbClr>
                    </a:solidFill>
                  </a:tcPr>
                </a:tc>
              </a:tr>
              <a:tr h="51300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bg-BG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11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f1a9a9">
                        <a:alpha val="50000"/>
                      </a:srgbClr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en-US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Network Administrator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f1a9a9">
                        <a:alpha val="50000"/>
                      </a:srgbClr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bg-BG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32500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f1a9a9">
                        <a:alpha val="50000"/>
                      </a:srgbClr>
                    </a:solidFill>
                  </a:tcPr>
                </a:tc>
              </a:tr>
              <a:tr h="51300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bg-BG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11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a3dcff">
                        <a:alpha val="50000"/>
                      </a:srgbClr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en-US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Database Administrator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a3dcff">
                        <a:alpha val="50000"/>
                      </a:srgbClr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bg-BG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38500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a3dcff">
                        <a:alpha val="50000"/>
                      </a:srgbClr>
                    </a:solidFill>
                  </a:tcPr>
                </a:tc>
              </a:tr>
              <a:tr h="51300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bg-BG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11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a3dcff">
                        <a:alpha val="50000"/>
                      </a:srgbClr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en-US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Database Administrator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a3dcff">
                        <a:alpha val="50000"/>
                      </a:srgbClr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bg-BG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38500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a3dcff">
                        <a:alpha val="50000"/>
                      </a:srgbClr>
                    </a:solidFill>
                  </a:tcPr>
                </a:tc>
              </a:tr>
              <a:tr h="51300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bg-BG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10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f3e4af">
                        <a:alpha val="50000"/>
                      </a:srgbClr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en-US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Accountant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f3e4af">
                        <a:alpha val="50000"/>
                      </a:srgbClr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bg-BG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26400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f3e4af">
                        <a:alpha val="50000"/>
                      </a:srgbClr>
                    </a:solidFill>
                  </a:tcPr>
                </a:tc>
              </a:tr>
              <a:tr h="51300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bg-BG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10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f3e4af">
                        <a:alpha val="50000"/>
                      </a:srgbClr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en-US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Accountant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f3e4af">
                        <a:alpha val="50000"/>
                      </a:srgbClr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bg-BG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26400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f3e4af">
                        <a:alpha val="50000"/>
                      </a:srgbClr>
                    </a:solidFill>
                  </a:tcPr>
                </a:tc>
              </a:tr>
              <a:tr h="51300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bg-BG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10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ffb9fa">
                        <a:alpha val="50000"/>
                      </a:srgbClr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en-US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Finance Manager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ffb9fa">
                        <a:alpha val="50000"/>
                      </a:srgbClr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bg-BG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43300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ffb9fa">
                        <a:alpha val="50000"/>
                      </a:srgbClr>
                    </a:solidFill>
                  </a:tcPr>
                </a:tc>
              </a:tr>
              <a:tr h="51300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bg-BG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...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bg-BG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...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bg-BG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...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04" name="Group 54"/>
          <p:cNvGraphicFramePr/>
          <p:nvPr/>
        </p:nvGraphicFramePr>
        <p:xfrm>
          <a:off x="6695280" y="2097000"/>
          <a:ext cx="4767480" cy="3834360"/>
        </p:xfrm>
        <a:graphic>
          <a:graphicData uri="http://schemas.openxmlformats.org/drawingml/2006/table">
            <a:tbl>
              <a:tblPr/>
              <a:tblGrid>
                <a:gridCol w="1593720"/>
                <a:gridCol w="2358720"/>
                <a:gridCol w="814680"/>
              </a:tblGrid>
              <a:tr h="53568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720"/>
                        </a:spcBef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DepartmentID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720"/>
                        </a:spcBef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JobTitle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720"/>
                        </a:spcBef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Salary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513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bg-BG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11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16feb6">
                        <a:alpha val="50000"/>
                      </a:srgb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en-US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Network Manager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16feb6">
                        <a:alpha val="50000"/>
                      </a:srgb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bg-BG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39700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16feb6">
                        <a:alpha val="50000"/>
                      </a:srgbClr>
                    </a:solidFill>
                  </a:tcPr>
                </a:tc>
              </a:tr>
              <a:tr h="513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bg-BG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11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f1a9a9">
                        <a:alpha val="50000"/>
                      </a:srgb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en-US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Network Administrator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f1a9a9">
                        <a:alpha val="50000"/>
                      </a:srgb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en-US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65000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f1a9a9">
                        <a:alpha val="50000"/>
                      </a:srgbClr>
                    </a:solidFill>
                  </a:tcPr>
                </a:tc>
              </a:tr>
              <a:tr h="513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bg-BG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11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a3dcff">
                        <a:alpha val="50000"/>
                      </a:srgb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en-US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Database Administrator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a3dcff">
                        <a:alpha val="50000"/>
                      </a:srgb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en-US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77000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a3dcff">
                        <a:alpha val="50000"/>
                      </a:srgbClr>
                    </a:solidFill>
                  </a:tcPr>
                </a:tc>
              </a:tr>
              <a:tr h="513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bg-BG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10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f3e4af">
                        <a:alpha val="50000"/>
                      </a:srgb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en-US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Accountant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f3e4af">
                        <a:alpha val="50000"/>
                      </a:srgb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en-US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52800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f3e4af">
                        <a:alpha val="50000"/>
                      </a:srgbClr>
                    </a:solidFill>
                  </a:tcPr>
                </a:tc>
              </a:tr>
              <a:tr h="513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bg-BG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10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ffb9fa">
                        <a:alpha val="50000"/>
                      </a:srgb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en-US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Finance Manager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ffb9fa">
                        <a:alpha val="50000"/>
                      </a:srgb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bg-BG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43300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rgbClr val="ffb9fa">
                        <a:alpha val="50000"/>
                      </a:srgbClr>
                    </a:solidFill>
                  </a:tcPr>
                </a:tc>
              </a:tr>
              <a:tr h="513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bg-BG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...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bg-BG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...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680"/>
                        </a:spcBef>
                        <a:tabLst>
                          <a:tab algn="l" pos="0"/>
                        </a:tabLst>
                      </a:pPr>
                      <a:r>
                        <a:rPr b="0" lang="bg-BG" sz="17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...</a:t>
                      </a:r>
                      <a:endParaRPr b="0" lang="en-US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5" name="PlaceHolder 2"/>
          <p:cNvSpPr>
            <a:spLocks noGrp="1"/>
          </p:cNvSpPr>
          <p:nvPr>
            <p:ph type="sldNum" idx="16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D1C8293-4DD3-405C-A4B1-A522D84BE6CD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15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/>
          </p:nvPr>
        </p:nvSpPr>
        <p:spPr>
          <a:xfrm>
            <a:off x="190440" y="1135080"/>
            <a:ext cx="11807640" cy="55699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360">
              <a:lnSpc>
                <a:spcPct val="100000"/>
              </a:lnSpc>
              <a:spcBef>
                <a:spcPts val="1528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Пример за групиране на данни по няколко колони: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rmAutofit fontScale="81000"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Групиране по няколко колони </a:t>
            </a: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–</a:t>
            </a: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 Пример (2)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08" name="Rectangle 4"/>
          <p:cNvSpPr/>
          <p:nvPr/>
        </p:nvSpPr>
        <p:spPr>
          <a:xfrm>
            <a:off x="1294200" y="1854720"/>
            <a:ext cx="9603360" cy="167364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rgbClr val="67748e">
                <a:lumMod val="60000"/>
                <a:lumOff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SELECT 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DepartmentID, JobTitle,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 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SUM(Salary) as Salaries, COUNT(*) as Count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FROM 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Employees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GROUP BY 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DepartmentID, JobTitle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09" name="Group 5"/>
          <p:cNvGraphicFramePr/>
          <p:nvPr/>
        </p:nvGraphicFramePr>
        <p:xfrm>
          <a:off x="1294200" y="3886200"/>
          <a:ext cx="9603360" cy="2489400"/>
        </p:xfrm>
        <a:graphic>
          <a:graphicData uri="http://schemas.openxmlformats.org/drawingml/2006/table">
            <a:tbl>
              <a:tblPr/>
              <a:tblGrid>
                <a:gridCol w="2493360"/>
                <a:gridCol w="3877560"/>
                <a:gridCol w="1846080"/>
                <a:gridCol w="1386000"/>
              </a:tblGrid>
              <a:tr h="3506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DepartmentID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JobTitle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Salaries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961"/>
                        </a:spcBef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Count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50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bg-BG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2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Senior Tool Designer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bg-BG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58600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bg-BG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2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50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bg-BG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2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Tool Designer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bg-BG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50000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bg-BG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2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50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bg-BG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7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Production Supervisor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bg-BG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525000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bg-BG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21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50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bg-BG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7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Production Technician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bg-BG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1926000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bg-BG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157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50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bg-BG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...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bg-BG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...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bg-BG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...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0" lang="bg-BG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...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10" name="PlaceHolder 3"/>
          <p:cNvSpPr>
            <a:spLocks noGrp="1"/>
          </p:cNvSpPr>
          <p:nvPr>
            <p:ph type="sldNum" idx="17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0628E59-2E62-4A46-8C3D-A067A4616647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16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9" dur="indefinite" restart="never" nodeType="tmRoot">
          <p:childTnLst>
            <p:seq>
              <p:cTn id="120" dur="indefinite" nodeType="mainSeq">
                <p:childTnLst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/>
          </p:nvPr>
        </p:nvSpPr>
        <p:spPr>
          <a:xfrm>
            <a:off x="190440" y="1151280"/>
            <a:ext cx="11807640" cy="55699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rmAutofit fontScale="92000"/>
          </a:bodyPr>
          <a:p>
            <a:pPr marL="331200" indent="-331200">
              <a:lnSpc>
                <a:spcPct val="105000"/>
              </a:lnSpc>
              <a:spcBef>
                <a:spcPts val="680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Неправилен </a:t>
            </a:r>
            <a:r>
              <a:rPr b="1" lang="en-US" sz="3400" spc="-1" strike="noStrike">
                <a:solidFill>
                  <a:srgbClr val="234465"/>
                </a:solidFill>
                <a:latin typeface="Consolas"/>
              </a:rPr>
              <a:t>SELECT</a:t>
            </a: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: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lvl="1" marL="738720" indent="-331200">
              <a:lnSpc>
                <a:spcPct val="105000"/>
              </a:lnSpc>
              <a:spcBef>
                <a:spcPts val="638"/>
              </a:spcBef>
              <a:spcAft>
                <a:spcPts val="601"/>
              </a:spcAft>
              <a:buClr>
                <a:srgbClr val="1a334c"/>
              </a:buClr>
              <a:buFont typeface="Wingdings" charset="2"/>
              <a:buChar char=""/>
            </a:pPr>
            <a:r>
              <a:rPr b="0" lang="ru-RU" sz="3200" spc="-1" strike="noStrike">
                <a:solidFill>
                  <a:srgbClr val="1a334c"/>
                </a:solidFill>
                <a:latin typeface="Calibri"/>
              </a:rPr>
              <a:t>Не могат да се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комбинират</a:t>
            </a:r>
            <a:r>
              <a:rPr b="0" lang="ru-RU" sz="3200" spc="-1" strike="noStrike">
                <a:solidFill>
                  <a:srgbClr val="1a334c"/>
                </a:solidFill>
                <a:latin typeface="Calibri"/>
              </a:rPr>
              <a:t> колони с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агрегатни</a:t>
            </a:r>
            <a:r>
              <a:rPr b="0" lang="ru-RU" sz="3200" spc="-1" strike="noStrike">
                <a:solidFill>
                  <a:srgbClr val="1a334c"/>
                </a:solidFill>
                <a:latin typeface="Calibri"/>
              </a:rPr>
              <a:t>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функции</a:t>
            </a:r>
            <a:r>
              <a:rPr b="0" lang="ru-RU" sz="3200" spc="-1" strike="noStrike">
                <a:solidFill>
                  <a:srgbClr val="1a334c"/>
                </a:solidFill>
                <a:latin typeface="Calibri"/>
              </a:rPr>
              <a:t>, освен ако колоните не са в</a:t>
            </a:r>
            <a:r>
              <a:rPr b="0" lang="en-US" sz="3200" spc="-1" strike="noStrike">
                <a:solidFill>
                  <a:srgbClr val="1a334c"/>
                </a:solidFill>
                <a:latin typeface="Calibri"/>
              </a:rPr>
              <a:t> </a:t>
            </a:r>
            <a:r>
              <a:rPr b="1" lang="ru-RU" sz="3200" spc="-1" strike="noStrike">
                <a:solidFill>
                  <a:srgbClr val="bf7800"/>
                </a:solidFill>
                <a:latin typeface="Consolas"/>
              </a:rPr>
              <a:t>GROUP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 </a:t>
            </a:r>
            <a:r>
              <a:rPr b="1" lang="ru-RU" sz="3200" spc="-1" strike="noStrike">
                <a:solidFill>
                  <a:srgbClr val="bf7800"/>
                </a:solidFill>
                <a:latin typeface="Consolas"/>
              </a:rPr>
              <a:t>BY</a:t>
            </a:r>
            <a:r>
              <a:rPr b="0" lang="ru-RU" sz="3200" spc="-1" strike="noStrike">
                <a:solidFill>
                  <a:srgbClr val="1a334c"/>
                </a:solidFill>
                <a:latin typeface="Calibri"/>
              </a:rPr>
              <a:t> клаузата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marL="331200" indent="-331200">
              <a:lnSpc>
                <a:spcPct val="105000"/>
              </a:lnSpc>
              <a:spcBef>
                <a:spcPts val="680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Този </a:t>
            </a:r>
            <a:r>
              <a:rPr b="1" lang="en-US" sz="3400" spc="-1" strike="noStrike">
                <a:solidFill>
                  <a:srgbClr val="234465"/>
                </a:solidFill>
                <a:latin typeface="Consolas"/>
              </a:rPr>
              <a:t>SELECT</a:t>
            </a: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също е </a:t>
            </a:r>
            <a:r>
              <a:rPr b="1" lang="bg-BG" sz="3400" spc="-1" strike="noStrike">
                <a:solidFill>
                  <a:srgbClr val="bf7800"/>
                </a:solidFill>
                <a:latin typeface="Calibri"/>
              </a:rPr>
              <a:t>неправилен</a:t>
            </a: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: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lvl="1" marL="738720" indent="-33120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Не може да се използва </a:t>
            </a:r>
            <a:r>
              <a:rPr b="1" lang="ru-RU" sz="3200" spc="-1" strike="noStrike">
                <a:solidFill>
                  <a:srgbClr val="bf7800"/>
                </a:solidFill>
                <a:latin typeface="Consolas"/>
              </a:rPr>
              <a:t>WHERE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 за </a:t>
            </a: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агрегатни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 функции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rmAutofit fontScale="81000"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Неправилно използване на групови функции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13" name="Rectangle 4"/>
          <p:cNvSpPr/>
          <p:nvPr/>
        </p:nvSpPr>
        <p:spPr>
          <a:xfrm>
            <a:off x="912960" y="1860480"/>
            <a:ext cx="8535240" cy="75996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rgbClr val="67748e">
                <a:lumMod val="60000"/>
                <a:lumOff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bf7800"/>
                </a:solidFill>
                <a:latin typeface="Consolas"/>
              </a:rPr>
              <a:t>SELECT</a:t>
            </a:r>
            <a:r>
              <a:rPr b="1" lang="en-US" sz="2200" spc="-1" strike="noStrike">
                <a:solidFill>
                  <a:srgbClr val="224464"/>
                </a:solidFill>
                <a:latin typeface="Consolas"/>
              </a:rPr>
              <a:t> DepartmentID, </a:t>
            </a:r>
            <a:r>
              <a:rPr b="1" lang="en-US" sz="2200" spc="-1" strike="noStrike">
                <a:solidFill>
                  <a:srgbClr val="ff0000"/>
                </a:solidFill>
                <a:latin typeface="Consolas"/>
              </a:rPr>
              <a:t>COUNT</a:t>
            </a:r>
            <a:r>
              <a:rPr b="1" lang="en-US" sz="2200" spc="-1" strike="noStrike">
                <a:solidFill>
                  <a:srgbClr val="224464"/>
                </a:solidFill>
                <a:latin typeface="Consolas"/>
              </a:rPr>
              <a:t>(LastName) </a:t>
            </a:r>
            <a:r>
              <a:rPr b="1" lang="en-US" sz="2200" spc="-1" strike="noStrike">
                <a:solidFill>
                  <a:srgbClr val="bf7800"/>
                </a:solidFill>
                <a:latin typeface="Consolas"/>
              </a:rPr>
              <a:t>FROM</a:t>
            </a:r>
            <a:r>
              <a:rPr b="1" lang="en-US" sz="2200" spc="-1" strike="noStrike">
                <a:solidFill>
                  <a:srgbClr val="224464"/>
                </a:solidFill>
                <a:latin typeface="Consolas"/>
              </a:rPr>
              <a:t> Employees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Rectangle 5"/>
          <p:cNvSpPr/>
          <p:nvPr/>
        </p:nvSpPr>
        <p:spPr>
          <a:xfrm>
            <a:off x="912960" y="4343400"/>
            <a:ext cx="7849440" cy="143028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rgbClr val="67748e">
                <a:lumMod val="60000"/>
                <a:lumOff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bf7800"/>
                </a:solidFill>
                <a:latin typeface="Consolas"/>
              </a:rPr>
              <a:t>SELECT </a:t>
            </a:r>
            <a:r>
              <a:rPr b="1" lang="en-US" sz="2200" spc="-1" strike="noStrike">
                <a:solidFill>
                  <a:srgbClr val="224464"/>
                </a:solidFill>
                <a:latin typeface="Consolas"/>
              </a:rPr>
              <a:t>DepartmentID, AVG(Salary)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bf7800"/>
                </a:solidFill>
                <a:latin typeface="Consolas"/>
              </a:rPr>
              <a:t>FROM </a:t>
            </a:r>
            <a:r>
              <a:rPr b="1" lang="en-US" sz="2200" spc="-1" strike="noStrike">
                <a:solidFill>
                  <a:srgbClr val="224464"/>
                </a:solidFill>
                <a:latin typeface="Consolas"/>
              </a:rPr>
              <a:t>Employees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ff0000"/>
                </a:solidFill>
                <a:latin typeface="Consolas"/>
              </a:rPr>
              <a:t>WHERE</a:t>
            </a:r>
            <a:r>
              <a:rPr b="1" lang="en-US" sz="2200" spc="-1" strike="noStrike">
                <a:solidFill>
                  <a:srgbClr val="bf7800"/>
                </a:solidFill>
                <a:latin typeface="Consolas"/>
              </a:rPr>
              <a:t> </a:t>
            </a:r>
            <a:r>
              <a:rPr b="1" lang="en-US" sz="2200" spc="-1" strike="noStrike">
                <a:solidFill>
                  <a:srgbClr val="224464"/>
                </a:solidFill>
                <a:latin typeface="Consolas"/>
              </a:rPr>
              <a:t>AVG(Salary) &gt; 30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bf7800"/>
                </a:solidFill>
                <a:latin typeface="Consolas"/>
              </a:rPr>
              <a:t>GROUP BY</a:t>
            </a:r>
            <a:r>
              <a:rPr b="1" lang="en-US" sz="2200" spc="-1" strike="noStrike">
                <a:solidFill>
                  <a:srgbClr val="224464"/>
                </a:solidFill>
                <a:latin typeface="Consolas"/>
              </a:rPr>
              <a:t> DepartmentID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5" name="Picture 4" descr="http://icons.iconarchive.com/icons/kyo-tux/phuzion/256/Sign-Stop-icon.png"/>
          <p:cNvPicPr/>
          <p:nvPr/>
        </p:nvPicPr>
        <p:blipFill>
          <a:blip r:embed="rId1"/>
          <a:stretch/>
        </p:blipFill>
        <p:spPr>
          <a:xfrm>
            <a:off x="9859680" y="1248120"/>
            <a:ext cx="1342800" cy="1342440"/>
          </a:xfrm>
          <a:prstGeom prst="rect">
            <a:avLst/>
          </a:prstGeom>
          <a:ln w="0">
            <a:noFill/>
          </a:ln>
        </p:spPr>
      </p:pic>
      <p:pic>
        <p:nvPicPr>
          <p:cNvPr id="316" name="Picture 4" descr="http://icons.iconarchive.com/icons/kyo-tux/phuzion/256/Sign-Stop-icon.png"/>
          <p:cNvPicPr/>
          <p:nvPr/>
        </p:nvPicPr>
        <p:blipFill>
          <a:blip r:embed="rId2"/>
          <a:stretch/>
        </p:blipFill>
        <p:spPr>
          <a:xfrm>
            <a:off x="9859680" y="4382640"/>
            <a:ext cx="1342800" cy="1342440"/>
          </a:xfrm>
          <a:prstGeom prst="rect">
            <a:avLst/>
          </a:prstGeom>
          <a:ln w="0">
            <a:noFill/>
          </a:ln>
        </p:spPr>
      </p:pic>
      <p:sp>
        <p:nvSpPr>
          <p:cNvPr id="317" name="PlaceHolder 3"/>
          <p:cNvSpPr>
            <a:spLocks noGrp="1"/>
          </p:cNvSpPr>
          <p:nvPr>
            <p:ph type="sldNum" idx="18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F5E6462-D680-4C26-A4BD-B0B25C3748B0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17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5" dur="indefinite" restart="never" nodeType="tmRoot">
          <p:childTnLst>
            <p:seq>
              <p:cTn id="126" dur="indefinite" nodeType="mainSeq">
                <p:childTnLst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/>
          </p:nvPr>
        </p:nvSpPr>
        <p:spPr>
          <a:xfrm>
            <a:off x="190440" y="1151280"/>
            <a:ext cx="11807640" cy="55699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rmAutofit fontScale="84000"/>
          </a:bodyPr>
          <a:p>
            <a:pPr marL="326880" indent="-3268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Когато използваме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групиране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, можем да избираме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само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 колони, изброени в </a:t>
            </a:r>
            <a:r>
              <a:rPr b="1" lang="ru-RU" sz="3200" spc="-1" strike="noStrike">
                <a:solidFill>
                  <a:srgbClr val="bf7800"/>
                </a:solidFill>
                <a:latin typeface="Consolas"/>
              </a:rPr>
              <a:t>GROUP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 </a:t>
            </a:r>
            <a:r>
              <a:rPr b="1" lang="ru-RU" sz="3200" spc="-1" strike="noStrike">
                <a:solidFill>
                  <a:srgbClr val="bf7800"/>
                </a:solidFill>
                <a:latin typeface="Consolas"/>
              </a:rPr>
              <a:t>BY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 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и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агрегатни функции 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над другите колони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lvl="1" marL="729000" indent="-3268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Колони, които не са посочени в </a:t>
            </a:r>
            <a:r>
              <a:rPr b="1" lang="ru-RU" sz="3200" spc="-1" strike="noStrike">
                <a:solidFill>
                  <a:srgbClr val="234465"/>
                </a:solidFill>
                <a:latin typeface="Consolas"/>
              </a:rPr>
              <a:t>GROUP</a:t>
            </a:r>
            <a:r>
              <a:rPr b="1" lang="ru-RU" sz="32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1" lang="ru-RU" sz="3200" spc="-1" strike="noStrike">
                <a:solidFill>
                  <a:srgbClr val="234465"/>
                </a:solidFill>
                <a:latin typeface="Consolas"/>
              </a:rPr>
              <a:t>BY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, не могат да бъдат избрани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lvl="1" marL="729000" indent="-3268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Разрешено е да се прилагат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групови функции 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върху колоните в клаузата </a:t>
            </a:r>
            <a:r>
              <a:rPr b="1" lang="ru-RU" sz="3200" spc="-1" strike="noStrike">
                <a:solidFill>
                  <a:srgbClr val="234465"/>
                </a:solidFill>
                <a:latin typeface="Consolas"/>
              </a:rPr>
              <a:t>GROUP</a:t>
            </a:r>
            <a:r>
              <a:rPr b="1" lang="ru-RU" sz="32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1" lang="ru-RU" sz="3200" spc="-1" strike="noStrike">
                <a:solidFill>
                  <a:srgbClr val="234465"/>
                </a:solidFill>
                <a:latin typeface="Consolas"/>
              </a:rPr>
              <a:t>BY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, но това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няма смисъл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Ограничения за групиране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20" name="Rectangle 4"/>
          <p:cNvSpPr/>
          <p:nvPr/>
        </p:nvSpPr>
        <p:spPr>
          <a:xfrm>
            <a:off x="990720" y="2120760"/>
            <a:ext cx="10211400" cy="222264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rgbClr val="67748e">
                <a:lumMod val="60000"/>
                <a:lumOff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bf7800"/>
                </a:solidFill>
                <a:latin typeface="Consolas"/>
              </a:rPr>
              <a:t>SELECT </a:t>
            </a:r>
            <a:r>
              <a:rPr b="1" lang="en-US" sz="2800" spc="-1" strike="noStrike">
                <a:solidFill>
                  <a:srgbClr val="224464"/>
                </a:solidFill>
                <a:latin typeface="Consolas"/>
              </a:rPr>
              <a:t>DepartmentID, JobTitle,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224464"/>
                </a:solidFill>
                <a:latin typeface="Consolas"/>
              </a:rPr>
              <a:t>  </a:t>
            </a:r>
            <a:r>
              <a:rPr b="1" lang="en-US" sz="2800" spc="-1" strike="noStrike">
                <a:solidFill>
                  <a:srgbClr val="bf7800"/>
                </a:solidFill>
                <a:latin typeface="Consolas"/>
              </a:rPr>
              <a:t>SUM</a:t>
            </a:r>
            <a:r>
              <a:rPr b="1" lang="en-US" sz="2800" spc="-1" strike="noStrike">
                <a:solidFill>
                  <a:srgbClr val="224464"/>
                </a:solidFill>
                <a:latin typeface="Consolas"/>
              </a:rPr>
              <a:t>(Salary) AS Cost, </a:t>
            </a:r>
            <a:r>
              <a:rPr b="1" lang="en-US" sz="2800" spc="-1" strike="noStrike">
                <a:solidFill>
                  <a:srgbClr val="bf7800"/>
                </a:solidFill>
                <a:latin typeface="Consolas"/>
              </a:rPr>
              <a:t>MIN</a:t>
            </a:r>
            <a:r>
              <a:rPr b="1" lang="en-US" sz="2800" spc="-1" strike="noStrike">
                <a:solidFill>
                  <a:srgbClr val="224464"/>
                </a:solidFill>
                <a:latin typeface="Consolas"/>
              </a:rPr>
              <a:t>(HireDate) as StartDate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bf7800"/>
                </a:solidFill>
                <a:latin typeface="Consolas"/>
              </a:rPr>
              <a:t>FROM </a:t>
            </a:r>
            <a:r>
              <a:rPr b="1" lang="en-US" sz="2800" spc="-1" strike="noStrike">
                <a:solidFill>
                  <a:srgbClr val="224464"/>
                </a:solidFill>
                <a:latin typeface="Consolas"/>
              </a:rPr>
              <a:t>Employees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bf7800"/>
                </a:solidFill>
                <a:latin typeface="Consolas"/>
              </a:rPr>
              <a:t>GROUP BY </a:t>
            </a:r>
            <a:r>
              <a:rPr b="1" lang="en-US" sz="2800" spc="-1" strike="noStrike">
                <a:solidFill>
                  <a:srgbClr val="224464"/>
                </a:solidFill>
                <a:latin typeface="Consolas"/>
              </a:rPr>
              <a:t>DepartmentID, JobTitle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19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93916D1-7CF4-461F-900D-B56AE526E9FC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18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43" dur="indefinite" restart="never" nodeType="tmRoot">
          <p:childTnLst>
            <p:seq>
              <p:cTn id="144" dur="indefinite" nodeType="mainSeq">
                <p:childTnLst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/>
          </p:nvPr>
        </p:nvSpPr>
        <p:spPr>
          <a:xfrm>
            <a:off x="190440" y="1151280"/>
            <a:ext cx="11807640" cy="55699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1" lang="ru-RU" sz="3400" spc="-1" strike="noStrike">
                <a:solidFill>
                  <a:srgbClr val="bf7800"/>
                </a:solidFill>
                <a:latin typeface="Consolas"/>
              </a:rPr>
              <a:t>HAVING</a:t>
            </a:r>
            <a:r>
              <a:rPr b="0" lang="ru-RU" sz="3400" spc="-1" strike="noStrike">
                <a:solidFill>
                  <a:srgbClr val="1a334c"/>
                </a:solidFill>
                <a:latin typeface="Calibri"/>
              </a:rPr>
              <a:t> работи като </a:t>
            </a:r>
            <a:r>
              <a:rPr b="1" lang="ru-RU" sz="3400" spc="-1" strike="noStrike">
                <a:solidFill>
                  <a:srgbClr val="bf7800"/>
                </a:solidFill>
                <a:latin typeface="Consolas"/>
              </a:rPr>
              <a:t>WHERE</a:t>
            </a:r>
            <a:r>
              <a:rPr b="0" lang="ru-RU" sz="3400" spc="-1" strike="noStrike">
                <a:solidFill>
                  <a:srgbClr val="1a334c"/>
                </a:solidFill>
                <a:latin typeface="Calibri"/>
              </a:rPr>
              <a:t>, но се използва за </a:t>
            </a:r>
            <a:r>
              <a:rPr b="1" lang="ru-RU" sz="3400" spc="-1" strike="noStrike">
                <a:solidFill>
                  <a:srgbClr val="234465"/>
                </a:solidFill>
                <a:latin typeface="Calibri"/>
              </a:rPr>
              <a:t>групиращи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1" lang="ru-RU" sz="3400" spc="-1" strike="noStrike">
                <a:solidFill>
                  <a:srgbClr val="234465"/>
                </a:solidFill>
                <a:latin typeface="Calibri"/>
              </a:rPr>
              <a:t>функции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23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rm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Групиране с </a:t>
            </a: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HAVING</a:t>
            </a: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 клаузата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24" name="Rectangle 4"/>
          <p:cNvSpPr/>
          <p:nvPr/>
        </p:nvSpPr>
        <p:spPr>
          <a:xfrm>
            <a:off x="1064160" y="2407320"/>
            <a:ext cx="10060560" cy="246564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rgbClr val="67748e">
                <a:lumMod val="60000"/>
                <a:lumOff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SELECT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DepartmentID, COUNT(EmployeeID) as EmpCount,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 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AVG(Salary) as AverageSalary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FROM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Employees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GROUP BY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DepartmentID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bf7800"/>
                </a:solidFill>
                <a:latin typeface="Consolas"/>
              </a:rPr>
              <a:t>HAVING</a:t>
            </a:r>
            <a:r>
              <a:rPr b="1" lang="en-US" sz="2600" spc="-1" strike="noStrike">
                <a:solidFill>
                  <a:srgbClr val="224464"/>
                </a:solidFill>
                <a:latin typeface="Consolas"/>
              </a:rPr>
              <a:t> COUNT(EmployeeID) BETWEEN 3 AND 5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25" name="Group 5"/>
          <p:cNvGraphicFramePr/>
          <p:nvPr/>
        </p:nvGraphicFramePr>
        <p:xfrm>
          <a:off x="1064160" y="4924080"/>
          <a:ext cx="10060560" cy="1553760"/>
        </p:xfrm>
        <a:graphic>
          <a:graphicData uri="http://schemas.openxmlformats.org/drawingml/2006/table">
            <a:tbl>
              <a:tblPr/>
              <a:tblGrid>
                <a:gridCol w="3192120"/>
                <a:gridCol w="3096000"/>
                <a:gridCol w="3772080"/>
              </a:tblGrid>
              <a:tr h="3506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1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DepartmentID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tabLst>
                          <a:tab algn="l" pos="0"/>
                        </a:tabLst>
                      </a:pPr>
                      <a:r>
                        <a:rPr b="1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EmpCount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1" lang="en-US" sz="22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AverageSalary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50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2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4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27150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50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12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5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14400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50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…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…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…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26" name="PlaceHolder 3"/>
          <p:cNvSpPr>
            <a:spLocks noGrp="1"/>
          </p:cNvSpPr>
          <p:nvPr>
            <p:ph type="sldNum" idx="20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AFE513A-60CB-4537-88DC-866B320A9FA0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19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3" dur="indefinite" restart="never" nodeType="tmRoot">
          <p:childTnLst>
            <p:seq>
              <p:cTn id="154" dur="indefinite" nodeType="mainSeq">
                <p:childTnLst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/>
          </p:nvPr>
        </p:nvSpPr>
        <p:spPr>
          <a:xfrm>
            <a:off x="190440" y="1066680"/>
            <a:ext cx="12001320" cy="55699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rmAutofit/>
          </a:bodyPr>
          <a:p>
            <a:pPr marL="3603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24464"/>
              </a:buClr>
              <a:buFont typeface="Wingdings" charset="2"/>
              <a:buChar char=""/>
            </a:pP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Групирането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 може да се приложи върху колони от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обединени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таблици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28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rmAutofit fontScale="81000"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Групиращи функции и свързващи таблици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29" name="Rectangle 4"/>
          <p:cNvSpPr/>
          <p:nvPr/>
        </p:nvSpPr>
        <p:spPr>
          <a:xfrm>
            <a:off x="1057680" y="2181240"/>
            <a:ext cx="10068480" cy="313668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rgbClr val="67748e">
                <a:lumMod val="60000"/>
                <a:lumOff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500" spc="-1" strike="noStrike">
                <a:solidFill>
                  <a:srgbClr val="bf7800"/>
                </a:solidFill>
                <a:latin typeface="Consolas"/>
              </a:rPr>
              <a:t>SELECT </a:t>
            </a:r>
            <a:r>
              <a:rPr b="1" lang="en-US" sz="2500" spc="-1" strike="noStrike">
                <a:solidFill>
                  <a:srgbClr val="224464"/>
                </a:solidFill>
                <a:latin typeface="Consolas"/>
              </a:rPr>
              <a:t>COUNT(*) AS EmpCount, d.Name AS DeptName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500" spc="-1" strike="noStrike">
                <a:solidFill>
                  <a:srgbClr val="bf7800"/>
                </a:solidFill>
                <a:latin typeface="Consolas"/>
              </a:rPr>
              <a:t>FROM </a:t>
            </a:r>
            <a:r>
              <a:rPr b="1" lang="en-US" sz="2500" spc="-1" strike="noStrike">
                <a:solidFill>
                  <a:srgbClr val="224464"/>
                </a:solidFill>
                <a:latin typeface="Consolas"/>
              </a:rPr>
              <a:t>Employees e </a:t>
            </a:r>
            <a:r>
              <a:rPr b="1" lang="en-US" sz="2500" spc="-1" strike="noStrike">
                <a:solidFill>
                  <a:srgbClr val="bf7800"/>
                </a:solidFill>
                <a:latin typeface="Consolas"/>
              </a:rPr>
              <a:t>JOIN </a:t>
            </a:r>
            <a:r>
              <a:rPr b="1" lang="en-US" sz="2500" spc="-1" strike="noStrike">
                <a:solidFill>
                  <a:srgbClr val="224464"/>
                </a:solidFill>
                <a:latin typeface="Consolas"/>
              </a:rPr>
              <a:t>Departments d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500" spc="-1" strike="noStrike">
                <a:solidFill>
                  <a:srgbClr val="224464"/>
                </a:solidFill>
                <a:latin typeface="Consolas"/>
              </a:rPr>
              <a:t>    </a:t>
            </a:r>
            <a:r>
              <a:rPr b="1" lang="en-US" sz="2500" spc="-1" strike="noStrike">
                <a:solidFill>
                  <a:srgbClr val="bf7800"/>
                </a:solidFill>
                <a:latin typeface="Consolas"/>
              </a:rPr>
              <a:t>ON </a:t>
            </a:r>
            <a:r>
              <a:rPr b="1" lang="en-US" sz="2500" spc="-1" strike="noStrike">
                <a:solidFill>
                  <a:srgbClr val="224464"/>
                </a:solidFill>
                <a:latin typeface="Consolas"/>
              </a:rPr>
              <a:t>e.DepartmentID = d.DepartmentID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500" spc="-1" strike="noStrike">
                <a:solidFill>
                  <a:srgbClr val="bf7800"/>
                </a:solidFill>
                <a:latin typeface="Consolas"/>
              </a:rPr>
              <a:t>WHERE </a:t>
            </a:r>
            <a:r>
              <a:rPr b="1" lang="en-US" sz="2500" spc="-1" strike="noStrike">
                <a:solidFill>
                  <a:srgbClr val="224464"/>
                </a:solidFill>
                <a:latin typeface="Consolas"/>
              </a:rPr>
              <a:t>e.HireDate </a:t>
            </a:r>
            <a:r>
              <a:rPr b="1" lang="en-US" sz="2500" spc="-1" strike="noStrike">
                <a:solidFill>
                  <a:srgbClr val="bf7800"/>
                </a:solidFill>
                <a:latin typeface="Consolas"/>
              </a:rPr>
              <a:t>BETWEEN </a:t>
            </a:r>
            <a:r>
              <a:rPr b="1" lang="en-US" sz="2500" spc="-1" strike="noStrike">
                <a:solidFill>
                  <a:srgbClr val="224464"/>
                </a:solidFill>
                <a:latin typeface="Consolas"/>
              </a:rPr>
              <a:t>'1999-2-1' </a:t>
            </a:r>
            <a:r>
              <a:rPr b="1" lang="en-US" sz="2500" spc="-1" strike="noStrike">
                <a:solidFill>
                  <a:srgbClr val="bf7800"/>
                </a:solidFill>
                <a:latin typeface="Consolas"/>
              </a:rPr>
              <a:t>AND</a:t>
            </a:r>
            <a:r>
              <a:rPr b="1" lang="en-US" sz="2500" spc="-1" strike="noStrike">
                <a:solidFill>
                  <a:srgbClr val="224464"/>
                </a:solidFill>
                <a:latin typeface="Consolas"/>
              </a:rPr>
              <a:t> '2002-12-31'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500" spc="-1" strike="noStrike">
                <a:solidFill>
                  <a:srgbClr val="bf7800"/>
                </a:solidFill>
                <a:latin typeface="Consolas"/>
              </a:rPr>
              <a:t>GROUP BY</a:t>
            </a:r>
            <a:r>
              <a:rPr b="1" lang="en-US" sz="2500" spc="-1" strike="noStrike">
                <a:solidFill>
                  <a:srgbClr val="224464"/>
                </a:solidFill>
                <a:latin typeface="Consolas"/>
              </a:rPr>
              <a:t> d.Name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500" spc="-1" strike="noStrike">
                <a:solidFill>
                  <a:srgbClr val="bf7800"/>
                </a:solidFill>
                <a:latin typeface="Consolas"/>
              </a:rPr>
              <a:t>HAVING </a:t>
            </a:r>
            <a:r>
              <a:rPr b="1" lang="en-US" sz="2500" spc="-1" strike="noStrike">
                <a:solidFill>
                  <a:srgbClr val="224464"/>
                </a:solidFill>
                <a:latin typeface="Consolas"/>
              </a:rPr>
              <a:t>COUNT(*) &gt; 5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500" spc="-1" strike="noStrike">
                <a:solidFill>
                  <a:srgbClr val="bf7800"/>
                </a:solidFill>
                <a:latin typeface="Consolas"/>
              </a:rPr>
              <a:t>ORDER BY </a:t>
            </a:r>
            <a:r>
              <a:rPr b="1" lang="en-US" sz="2500" spc="-1" strike="noStrike">
                <a:solidFill>
                  <a:srgbClr val="224464"/>
                </a:solidFill>
                <a:latin typeface="Consolas"/>
              </a:rPr>
              <a:t>EmpCount DESC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30" name="Group 5"/>
          <p:cNvGraphicFramePr/>
          <p:nvPr/>
        </p:nvGraphicFramePr>
        <p:xfrm>
          <a:off x="3866760" y="5152680"/>
          <a:ext cx="4466520" cy="1553760"/>
        </p:xfrm>
        <a:graphic>
          <a:graphicData uri="http://schemas.openxmlformats.org/drawingml/2006/table">
            <a:tbl>
              <a:tblPr/>
              <a:tblGrid>
                <a:gridCol w="1720800"/>
                <a:gridCol w="2745720"/>
              </a:tblGrid>
              <a:tr h="4046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1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EmpCount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95000"/>
                        </a:lnSpc>
                        <a:spcBef>
                          <a:spcPts val="879"/>
                        </a:spcBef>
                        <a:tabLst>
                          <a:tab algn="l" pos="0"/>
                        </a:tabLst>
                      </a:pPr>
                      <a:r>
                        <a:rPr b="1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DeptName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350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95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Production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50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bg-BG" sz="20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8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Finance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  <a:tr h="350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…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95000"/>
                        </a:lnSpc>
                        <a:spcBef>
                          <a:spcPts val="799"/>
                        </a:spcBef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…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e0e3e9"/>
                      </a:solidFill>
                    </a:lnL>
                    <a:lnR w="28080">
                      <a:solidFill>
                        <a:srgbClr val="e0e3e9"/>
                      </a:solidFill>
                    </a:lnR>
                    <a:lnT w="28080">
                      <a:solidFill>
                        <a:srgbClr val="e0e3e9"/>
                      </a:solidFill>
                    </a:lnT>
                    <a:lnB w="28080">
                      <a:solidFill>
                        <a:srgbClr val="e0e3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31" name="PlaceHolder 3"/>
          <p:cNvSpPr>
            <a:spLocks noGrp="1"/>
          </p:cNvSpPr>
          <p:nvPr>
            <p:ph type="sldNum" idx="21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E9C5161-EAEA-4567-ACB7-2B2150DC2F43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20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9" dur="indefinite" restart="never" nodeType="tmRoot">
          <p:childTnLst>
            <p:seq>
              <p:cTn id="160" dur="indefinite" nodeType="mainSeq">
                <p:childTnLst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2" name="Summary Box Group"/>
          <p:cNvGrpSpPr/>
          <p:nvPr/>
        </p:nvGrpSpPr>
        <p:grpSpPr>
          <a:xfrm>
            <a:off x="190440" y="1294200"/>
            <a:ext cx="9470160" cy="5393880"/>
            <a:chOff x="190440" y="1294200"/>
            <a:chExt cx="9470160" cy="5393880"/>
          </a:xfrm>
        </p:grpSpPr>
        <p:sp>
          <p:nvSpPr>
            <p:cNvPr id="333" name="Rounded Rectangle Blue"/>
            <p:cNvSpPr/>
            <p:nvPr/>
          </p:nvSpPr>
          <p:spPr>
            <a:xfrm>
              <a:off x="190440" y="1294200"/>
              <a:ext cx="9470160" cy="5393880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24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334" name="Rounded Rectangle Left"/>
            <p:cNvSpPr/>
            <p:nvPr/>
          </p:nvSpPr>
          <p:spPr>
            <a:xfrm>
              <a:off x="376920" y="1502640"/>
              <a:ext cx="203040" cy="4977360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2400" spc="-1" strike="noStrike">
                <a:solidFill>
                  <a:srgbClr val="bf7800"/>
                </a:solidFill>
                <a:latin typeface="Calibri"/>
              </a:endParaRPr>
            </a:p>
          </p:txBody>
        </p:sp>
        <p:sp>
          <p:nvSpPr>
            <p:cNvPr id="335" name="Half Frame Top Right"/>
            <p:cNvSpPr/>
            <p:nvPr/>
          </p:nvSpPr>
          <p:spPr>
            <a:xfrm rot="5400000">
              <a:off x="8805600" y="1576800"/>
              <a:ext cx="742320" cy="594000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2400" spc="-1" strike="noStrike">
                <a:solidFill>
                  <a:srgbClr val="234465"/>
                </a:solidFill>
                <a:latin typeface="Calibri"/>
              </a:endParaRPr>
            </a:p>
          </p:txBody>
        </p:sp>
      </p:grpSp>
      <p:sp>
        <p:nvSpPr>
          <p:cNvPr id="336" name="PlaceHolder 1"/>
          <p:cNvSpPr>
            <a:spLocks noGrp="1"/>
          </p:cNvSpPr>
          <p:nvPr>
            <p:ph/>
          </p:nvPr>
        </p:nvSpPr>
        <p:spPr>
          <a:xfrm>
            <a:off x="661320" y="360"/>
            <a:ext cx="8939880" cy="502884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000">
              <a:lnSpc>
                <a:spcPct val="114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</a:pPr>
            <a:r>
              <a:rPr b="0" lang="bg-BG" sz="2800" spc="-1" strike="noStrike">
                <a:solidFill>
                  <a:srgbClr val="ffffff"/>
                </a:solidFill>
                <a:latin typeface="Calibri"/>
              </a:rPr>
              <a:t>Агрегатни функции:</a:t>
            </a:r>
            <a:endParaRPr b="0" lang="en-US" sz="2800" spc="-1" strike="noStrike">
              <a:solidFill>
                <a:srgbClr val="234465"/>
              </a:solidFill>
              <a:latin typeface="Calibri"/>
            </a:endParaRPr>
          </a:p>
          <a:p>
            <a:pPr lvl="1" marL="969840" indent="-360000">
              <a:lnSpc>
                <a:spcPct val="114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</a:pPr>
            <a:r>
              <a:rPr b="1" lang="en-US" sz="2600" spc="-1" strike="noStrike">
                <a:solidFill>
                  <a:srgbClr val="ffb840"/>
                </a:solidFill>
                <a:latin typeface="Calibri"/>
              </a:rPr>
              <a:t>COUNT </a:t>
            </a:r>
            <a:r>
              <a:rPr b="0" lang="bg-BG" sz="2600" spc="-1" strike="noStrike">
                <a:solidFill>
                  <a:srgbClr val="ffffff"/>
                </a:solidFill>
                <a:latin typeface="Calibri"/>
              </a:rPr>
              <a:t>== </a:t>
            </a:r>
            <a:r>
              <a:rPr b="0" lang="bg-BG" sz="26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1" lang="bg-BG" sz="2600" spc="-1" strike="noStrike">
                <a:solidFill>
                  <a:srgbClr val="ffb840"/>
                </a:solidFill>
                <a:latin typeface="Calibri"/>
              </a:rPr>
              <a:t>брой</a:t>
            </a:r>
            <a:r>
              <a:rPr b="0" lang="bg-BG" sz="2600" spc="-1" strike="noStrike">
                <a:solidFill>
                  <a:srgbClr val="ffffff"/>
                </a:solidFill>
                <a:latin typeface="Calibri"/>
              </a:rPr>
              <a:t> на избраните редове</a:t>
            </a:r>
            <a:endParaRPr b="0" lang="en-US" sz="2600" spc="-1" strike="noStrike">
              <a:solidFill>
                <a:srgbClr val="234465"/>
              </a:solidFill>
              <a:latin typeface="Calibri"/>
            </a:endParaRPr>
          </a:p>
          <a:p>
            <a:pPr lvl="1" marL="969840" indent="-360000">
              <a:lnSpc>
                <a:spcPct val="114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</a:pPr>
            <a:r>
              <a:rPr b="1" lang="en-US" sz="2600" spc="-1" strike="noStrike">
                <a:solidFill>
                  <a:srgbClr val="ffb840"/>
                </a:solidFill>
                <a:latin typeface="Calibri"/>
              </a:rPr>
              <a:t>SUM </a:t>
            </a:r>
            <a:r>
              <a:rPr b="0" lang="bg-BG" sz="2600" spc="-1" strike="noStrike">
                <a:solidFill>
                  <a:srgbClr val="ffffff"/>
                </a:solidFill>
                <a:latin typeface="Calibri"/>
              </a:rPr>
              <a:t>== </a:t>
            </a:r>
            <a:r>
              <a:rPr b="1" lang="ru-RU" sz="2600" spc="-1" strike="noStrike">
                <a:solidFill>
                  <a:srgbClr val="ffb840"/>
                </a:solidFill>
                <a:latin typeface="Calibri"/>
              </a:rPr>
              <a:t>сбор</a:t>
            </a:r>
            <a:r>
              <a:rPr b="0" lang="ru-RU" sz="2600" spc="-1" strike="noStrike">
                <a:solidFill>
                  <a:srgbClr val="ffffff"/>
                </a:solidFill>
                <a:latin typeface="Calibri"/>
              </a:rPr>
              <a:t> от стойностите в дадена колона</a:t>
            </a:r>
            <a:endParaRPr b="0" lang="en-US" sz="2600" spc="-1" strike="noStrike">
              <a:solidFill>
                <a:srgbClr val="234465"/>
              </a:solidFill>
              <a:latin typeface="Calibri"/>
            </a:endParaRPr>
          </a:p>
          <a:p>
            <a:pPr lvl="1" marL="969840" indent="-360000">
              <a:lnSpc>
                <a:spcPct val="114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</a:pPr>
            <a:r>
              <a:rPr b="1" lang="en-US" sz="2600" spc="-1" strike="noStrike">
                <a:solidFill>
                  <a:srgbClr val="ffb840"/>
                </a:solidFill>
                <a:latin typeface="Calibri"/>
              </a:rPr>
              <a:t>MIN </a:t>
            </a:r>
            <a:r>
              <a:rPr b="0" lang="bg-BG" sz="2600" spc="-1" strike="noStrike">
                <a:solidFill>
                  <a:srgbClr val="ffffff"/>
                </a:solidFill>
                <a:latin typeface="Calibri"/>
              </a:rPr>
              <a:t>== </a:t>
            </a:r>
            <a:r>
              <a:rPr b="1" lang="ru-RU" sz="2600" spc="-1" strike="noStrike">
                <a:solidFill>
                  <a:srgbClr val="ffb840"/>
                </a:solidFill>
                <a:latin typeface="Calibri"/>
              </a:rPr>
              <a:t>минималната</a:t>
            </a:r>
            <a:r>
              <a:rPr b="0" lang="ru-RU" sz="2600" spc="-1" strike="noStrike">
                <a:solidFill>
                  <a:srgbClr val="ffffff"/>
                </a:solidFill>
                <a:latin typeface="Calibri"/>
              </a:rPr>
              <a:t> стойност в дадена колона</a:t>
            </a:r>
            <a:endParaRPr b="0" lang="en-US" sz="2600" spc="-1" strike="noStrike">
              <a:solidFill>
                <a:srgbClr val="234465"/>
              </a:solidFill>
              <a:latin typeface="Calibri"/>
            </a:endParaRPr>
          </a:p>
          <a:p>
            <a:pPr lvl="1" marL="969840" indent="-360000">
              <a:lnSpc>
                <a:spcPct val="114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</a:pPr>
            <a:r>
              <a:rPr b="1" lang="en-US" sz="2600" spc="-1" strike="noStrike">
                <a:solidFill>
                  <a:srgbClr val="ffb840"/>
                </a:solidFill>
                <a:latin typeface="Calibri"/>
              </a:rPr>
              <a:t>MAX </a:t>
            </a:r>
            <a:r>
              <a:rPr b="0" lang="bg-BG" sz="2600" spc="-1" strike="noStrike">
                <a:solidFill>
                  <a:srgbClr val="ffffff"/>
                </a:solidFill>
                <a:latin typeface="Calibri"/>
              </a:rPr>
              <a:t>== </a:t>
            </a:r>
            <a:r>
              <a:rPr b="1" lang="ru-RU" sz="2600" spc="-1" strike="noStrike">
                <a:solidFill>
                  <a:srgbClr val="ffb840"/>
                </a:solidFill>
                <a:latin typeface="Calibri"/>
              </a:rPr>
              <a:t>максималната</a:t>
            </a:r>
            <a:r>
              <a:rPr b="0" lang="ru-RU" sz="2600" spc="-1" strike="noStrike">
                <a:solidFill>
                  <a:srgbClr val="ffffff"/>
                </a:solidFill>
                <a:latin typeface="Calibri"/>
              </a:rPr>
              <a:t> стойност в дадена колона</a:t>
            </a:r>
            <a:endParaRPr b="0" lang="en-US" sz="2600" spc="-1" strike="noStrike">
              <a:solidFill>
                <a:srgbClr val="234465"/>
              </a:solidFill>
              <a:latin typeface="Calibri"/>
            </a:endParaRPr>
          </a:p>
          <a:p>
            <a:pPr lvl="1" marL="969840" indent="-360000">
              <a:lnSpc>
                <a:spcPct val="114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</a:pPr>
            <a:r>
              <a:rPr b="1" lang="en-US" sz="2600" spc="-1" strike="noStrike">
                <a:solidFill>
                  <a:srgbClr val="ffb840"/>
                </a:solidFill>
                <a:latin typeface="Calibri"/>
              </a:rPr>
              <a:t>AVG </a:t>
            </a:r>
            <a:r>
              <a:rPr b="0" lang="bg-BG" sz="2600" spc="-1" strike="noStrike">
                <a:solidFill>
                  <a:srgbClr val="ffffff"/>
                </a:solidFill>
                <a:latin typeface="Calibri"/>
              </a:rPr>
              <a:t> == </a:t>
            </a:r>
            <a:r>
              <a:rPr b="1" lang="ru-RU" sz="2600" spc="-1" strike="noStrike">
                <a:solidFill>
                  <a:srgbClr val="ffb840"/>
                </a:solidFill>
                <a:latin typeface="Calibri"/>
              </a:rPr>
              <a:t>средноаритметична</a:t>
            </a:r>
            <a:r>
              <a:rPr b="0" lang="ru-RU" sz="2600" spc="-1" strike="noStrike">
                <a:solidFill>
                  <a:srgbClr val="ffffff"/>
                </a:solidFill>
                <a:latin typeface="Calibri"/>
              </a:rPr>
              <a:t> стойност в дадена колона</a:t>
            </a:r>
            <a:endParaRPr b="0" lang="en-US" sz="2600" spc="-1" strike="noStrike">
              <a:solidFill>
                <a:srgbClr val="234465"/>
              </a:solidFill>
              <a:latin typeface="Calibri"/>
            </a:endParaRPr>
          </a:p>
          <a:p>
            <a:pPr marL="360360" indent="-360000">
              <a:lnSpc>
                <a:spcPct val="114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</a:pPr>
            <a:r>
              <a:rPr b="1" lang="en-US" sz="2800" spc="-1" strike="noStrike">
                <a:solidFill>
                  <a:srgbClr val="ffb840"/>
                </a:solidFill>
                <a:latin typeface="Calibri"/>
              </a:rPr>
              <a:t>GROUP BY</a:t>
            </a:r>
            <a:r>
              <a:rPr b="0" lang="en-US" sz="2800" spc="-1" strike="noStrike">
                <a:solidFill>
                  <a:srgbClr val="ffffff"/>
                </a:solidFill>
                <a:latin typeface="Calibri"/>
              </a:rPr>
              <a:t> == </a:t>
            </a:r>
            <a:r>
              <a:rPr b="0" lang="bg-BG" sz="2800" spc="-1" strike="noStrike">
                <a:solidFill>
                  <a:srgbClr val="ffffff"/>
                </a:solidFill>
                <a:latin typeface="Calibri"/>
              </a:rPr>
              <a:t>Р</a:t>
            </a:r>
            <a:r>
              <a:rPr b="0" lang="ru-RU" sz="2800" spc="-1" strike="noStrike">
                <a:solidFill>
                  <a:srgbClr val="ffffff"/>
                </a:solidFill>
                <a:latin typeface="Calibri"/>
              </a:rPr>
              <a:t>азделя редовете на таблицата на </a:t>
            </a:r>
            <a:r>
              <a:rPr b="1" lang="ru-RU" sz="2800" spc="-1" strike="noStrike">
                <a:solidFill>
                  <a:srgbClr val="ffb840"/>
                </a:solidFill>
                <a:latin typeface="Calibri"/>
              </a:rPr>
              <a:t>групи</a:t>
            </a:r>
            <a:endParaRPr b="0" lang="en-US" sz="2800" spc="-1" strike="noStrike">
              <a:solidFill>
                <a:srgbClr val="234465"/>
              </a:solidFill>
              <a:latin typeface="Calibri"/>
            </a:endParaRPr>
          </a:p>
          <a:p>
            <a:pPr lvl="1" marL="969840" indent="-360000">
              <a:lnSpc>
                <a:spcPct val="114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</a:pPr>
            <a:r>
              <a:rPr b="1" lang="en-US" sz="2600" spc="-1" strike="noStrike">
                <a:solidFill>
                  <a:srgbClr val="ffb840"/>
                </a:solidFill>
                <a:latin typeface="Calibri"/>
              </a:rPr>
              <a:t>HAVING </a:t>
            </a:r>
            <a:r>
              <a:rPr b="0" lang="bg-BG" sz="2600" spc="-1" strike="noStrike">
                <a:solidFill>
                  <a:srgbClr val="ffffff"/>
                </a:solidFill>
                <a:latin typeface="Calibri"/>
              </a:rPr>
              <a:t>се използва за филтриране на редовете от заявката</a:t>
            </a:r>
            <a:endParaRPr b="0" lang="en-US" sz="2600" spc="-1" strike="noStrike">
              <a:solidFill>
                <a:srgbClr val="234465"/>
              </a:solidFill>
              <a:latin typeface="Calibri"/>
            </a:endParaRPr>
          </a:p>
        </p:txBody>
      </p:sp>
      <p:pic>
        <p:nvPicPr>
          <p:cNvPr id="337" name="Picture SoftUni Mascot" descr=""/>
          <p:cNvPicPr/>
          <p:nvPr/>
        </p:nvPicPr>
        <p:blipFill>
          <a:blip r:embed="rId1"/>
          <a:stretch/>
        </p:blipFill>
        <p:spPr>
          <a:xfrm flipH="1">
            <a:off x="9811080" y="4204080"/>
            <a:ext cx="2055600" cy="2224800"/>
          </a:xfrm>
          <a:prstGeom prst="rect">
            <a:avLst/>
          </a:prstGeom>
          <a:ln w="0">
            <a:noFill/>
          </a:ln>
        </p:spPr>
      </p:pic>
      <p:sp>
        <p:nvSpPr>
          <p:cNvPr id="338" name="PlaceHolder 2"/>
          <p:cNvSpPr>
            <a:spLocks noGrp="1"/>
          </p:cNvSpPr>
          <p:nvPr>
            <p:ph type="sldNum" idx="22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F1487C4-0D96-46ED-9518-F53B4BE57547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20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  <p:timing>
    <p:tnLst>
      <p:par>
        <p:cTn id="165" dur="indefinite" restart="never" nodeType="tmRoot">
          <p:childTnLst>
            <p:seq>
              <p:cTn id="166" dur="indefinite" nodeType="mainSeq">
                <p:childTnLst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726840" y="1461960"/>
            <a:ext cx="10731240" cy="30466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bg-BG" sz="13800" spc="-1" strike="noStrike">
                <a:solidFill>
                  <a:srgbClr val="234465"/>
                </a:solidFill>
                <a:latin typeface="Calibri"/>
              </a:rPr>
              <a:t>Въпроси</a:t>
            </a:r>
            <a:r>
              <a:rPr b="1" lang="en-US" sz="13800" spc="-1" strike="noStrike">
                <a:solidFill>
                  <a:srgbClr val="234465"/>
                </a:solidFill>
                <a:latin typeface="Calibri"/>
              </a:rPr>
              <a:t>?</a:t>
            </a:r>
            <a:endParaRPr b="0" lang="en-US" sz="13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40" name="Rectangle Bottom Copyright"/>
          <p:cNvSpPr/>
          <p:nvPr/>
        </p:nvSpPr>
        <p:spPr>
          <a:xfrm>
            <a:off x="110880" y="6454800"/>
            <a:ext cx="119696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bg-BG" sz="1600" spc="-1" strike="noStrike">
                <a:solidFill>
                  <a:srgbClr val="ffffff"/>
                </a:solidFill>
                <a:latin typeface="Calibri"/>
                <a:ea typeface="Calibri"/>
              </a:rPr>
              <a:t>Проект "</a:t>
            </a:r>
            <a:r>
              <a:rPr b="0" lang="bg-BG" sz="1600" spc="-1" strike="noStrike" u="sng">
                <a:solidFill>
                  <a:srgbClr val="ffe7bf"/>
                </a:solidFill>
                <a:uFillTx/>
                <a:latin typeface="Calibri"/>
                <a:ea typeface="Calibri"/>
                <a:hlinkClick r:id="rId1"/>
              </a:rPr>
              <a:t>Отворено учебно съдържание по програмиране и ИТ</a:t>
            </a:r>
            <a:r>
              <a:rPr b="0" lang="bg-BG" sz="1600" spc="-1" strike="noStrike">
                <a:solidFill>
                  <a:srgbClr val="ffffff"/>
                </a:solidFill>
                <a:latin typeface="Calibri"/>
                <a:ea typeface="Calibri"/>
              </a:rPr>
              <a:t>", СофтУни Фондация (лиценз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CC-BY-NC-SA</a:t>
            </a:r>
            <a:r>
              <a:rPr b="0" lang="bg-BG" sz="1600" spc="-1" strike="noStrike">
                <a:solidFill>
                  <a:srgbClr val="ffffff"/>
                </a:solidFill>
                <a:latin typeface="Calibri"/>
                <a:ea typeface="Calibri"/>
              </a:rPr>
              <a:t>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/>
          </p:nvPr>
        </p:nvSpPr>
        <p:spPr>
          <a:xfrm>
            <a:off x="190440" y="1269000"/>
            <a:ext cx="9865080" cy="247464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rmAutofit fontScale="87000"/>
          </a:bodyPr>
          <a:p>
            <a:pPr marL="313200" indent="-313200">
              <a:lnSpc>
                <a:spcPct val="12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Този курс</a:t>
            </a:r>
            <a:r>
              <a:rPr b="0" lang="en-US" sz="3200" spc="-1" strike="noStrike">
                <a:solidFill>
                  <a:srgbClr val="234465"/>
                </a:solidFill>
                <a:latin typeface="Calibri"/>
              </a:rPr>
              <a:t> (</a:t>
            </a: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презентации, примери, демонстрационен код, упражнения, домашни, видео и други активи</a:t>
            </a:r>
            <a:r>
              <a:rPr b="0" lang="en-US" sz="3200" spc="-1" strike="noStrike">
                <a:solidFill>
                  <a:srgbClr val="234465"/>
                </a:solidFill>
                <a:latin typeface="Calibri"/>
              </a:rPr>
              <a:t>) </a:t>
            </a: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представлява</a:t>
            </a:r>
            <a:r>
              <a:rPr b="0" lang="en-US" sz="32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1" lang="bg-BG" sz="3200" spc="-1" strike="noStrike">
                <a:solidFill>
                  <a:srgbClr val="234465"/>
                </a:solidFill>
                <a:latin typeface="Calibri"/>
              </a:rPr>
              <a:t>свободно учебно съдържание </a:t>
            </a: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и се разпространява под свободен лиценз </a:t>
            </a:r>
            <a:r>
              <a:rPr b="1" lang="en-US" sz="3200" spc="-1" strike="noStrike">
                <a:solidFill>
                  <a:srgbClr val="234465"/>
                </a:solidFill>
                <a:latin typeface="Calibri"/>
              </a:rPr>
              <a:t>CC-BY-NC-SA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</p:txBody>
      </p:sp>
      <p:pic>
        <p:nvPicPr>
          <p:cNvPr id="342" name="Picture License" descr="License"/>
          <p:cNvPicPr/>
          <p:nvPr/>
        </p:nvPicPr>
        <p:blipFill>
          <a:blip r:embed="rId1"/>
          <a:stretch/>
        </p:blipFill>
        <p:spPr>
          <a:xfrm>
            <a:off x="10226160" y="1440000"/>
            <a:ext cx="1198800" cy="1268640"/>
          </a:xfrm>
          <a:prstGeom prst="rect">
            <a:avLst/>
          </a:prstGeom>
          <a:ln w="0">
            <a:noFill/>
          </a:ln>
        </p:spPr>
      </p:pic>
      <p:sp>
        <p:nvSpPr>
          <p:cNvPr id="343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Лиценз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44" name="TextBox 10"/>
          <p:cNvSpPr/>
          <p:nvPr/>
        </p:nvSpPr>
        <p:spPr>
          <a:xfrm>
            <a:off x="190440" y="3927600"/>
            <a:ext cx="11710080" cy="2660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60360" indent="-360360">
              <a:lnSpc>
                <a:spcPct val="12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Проект "</a:t>
            </a:r>
            <a:r>
              <a:rPr b="1" lang="bg-BG" sz="3200" spc="-1" strike="noStrike">
                <a:solidFill>
                  <a:srgbClr val="234465"/>
                </a:solidFill>
                <a:latin typeface="Calibri"/>
              </a:rPr>
              <a:t>Отворено учебно съдържание по програмиране и ИТ</a:t>
            </a: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" към Фондация "Софтуерен университет"</a:t>
            </a:r>
            <a:r>
              <a:rPr b="0" lang="en-US" sz="3200" spc="-1" strike="noStrike">
                <a:solidFill>
                  <a:srgbClr val="234465"/>
                </a:solidFill>
                <a:latin typeface="Calibri"/>
              </a:rPr>
              <a:t>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17560" indent="-360360">
              <a:lnSpc>
                <a:spcPct val="12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200" spc="-1" strike="noStrike">
                <a:solidFill>
                  <a:srgbClr val="bf7800"/>
                </a:solidFill>
                <a:latin typeface="Calibri"/>
                <a:hlinkClick r:id="rId2"/>
              </a:rPr>
              <a:t>https://github.com/BG-IT-Edu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Picture 6">
            <a:hlinkClick r:id="rId3"/>
          </p:cNvPr>
          <p:cNvSpPr/>
          <p:nvPr/>
        </p:nvSpPr>
        <p:spPr>
          <a:xfrm>
            <a:off x="9830880" y="2908440"/>
            <a:ext cx="1989000" cy="695520"/>
          </a:xfrm>
          <a:prstGeom prst="roundRect">
            <a:avLst>
              <a:gd name="adj" fmla="val 3940"/>
            </a:avLst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23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CCAD3BE-9A8D-4564-AC8E-60230D435C56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23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3897</TotalTime>
  <Application>LibreOffice/7.4.7.2$Linux_X86_64 LibreOffice_project/40$Build-2</Application>
  <AppVersion>15.0000</AppVersion>
  <Words>1548</Words>
  <Paragraphs>433</Paragraphs>
  <Company>BG-IT-Edu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category>computer programming;programming;software development;software engineering</cp:category>
  <dcterms:created xsi:type="dcterms:W3CDTF">2018-05-23T13:08:44Z</dcterms:created>
  <dc:creator>BG-IT-Edu</dc:creator>
  <dc:description>Open Programming and IT Courseware for IT Teachers (BG-IT-Edu): https://github.com/BG-IT-Edu
With the kind support of SoftUni: https://softuni.bg</dc:description>
  <cp:keywords>SoftUni Software University programming coding computer programming software development software engineering software technologies digital skills technical skills training course</cp:keywords>
  <dc:language>en-US</dc:language>
  <cp:lastModifiedBy/>
  <dcterms:modified xsi:type="dcterms:W3CDTF">2025-11-04T13:04:50Z</dcterms:modified>
  <cp:revision>103</cp:revision>
  <dc:subject>Модул 3: Релационни бази данни</dc:subject>
  <dc:title>Групови и агрегатни функции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1</vt:i4>
  </property>
  <property fmtid="{D5CDD505-2E9C-101B-9397-08002B2CF9AE}" pid="3" name="Notes">
    <vt:i4>21</vt:i4>
  </property>
  <property fmtid="{D5CDD505-2E9C-101B-9397-08002B2CF9AE}" pid="4" name="PresentationFormat">
    <vt:lpwstr>Widescreen</vt:lpwstr>
  </property>
  <property fmtid="{D5CDD505-2E9C-101B-9397-08002B2CF9AE}" pid="5" name="Slides">
    <vt:i4>23</vt:i4>
  </property>
</Properties>
</file>