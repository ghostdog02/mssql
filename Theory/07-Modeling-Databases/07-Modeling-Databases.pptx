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5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3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_rels/notesSlide40.xml.rels" ContentType="application/vnd.openxmlformats-package.relationships+xml"/>
  <Override PartName="/ppt/notesSlides/_rels/notesSlide3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6.xml.rels" ContentType="application/vnd.openxmlformats-package.relationships+xml"/>
  <Override PartName="/ppt/notesSlides/_rels/notesSlide30.xml.rels" ContentType="application/vnd.openxmlformats-package.relationships+xml"/>
  <Override PartName="/ppt/notesSlides/_rels/notesSlide38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.xml.rels" ContentType="application/vnd.openxmlformats-package.relationships+xml"/>
  <Override PartName="/ppt/notesSlides/notesSlide40.xml" ContentType="application/vnd.openxmlformats-officedocument.presentationml.notesSlide+xml"/>
  <Override PartName="/ppt/_rels/presentation.xml.rels" ContentType="application/vnd.openxmlformats-package.relationships+xml"/>
  <Override PartName="/ppt/media/image23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20.png" ContentType="image/png"/>
  <Override PartName="/ppt/media/image18.png" ContentType="image/png"/>
  <Override PartName="/ppt/media/image17.png" ContentType="image/png"/>
  <Override PartName="/ppt/media/image16.png" ContentType="image/png"/>
  <Override PartName="/ppt/media/image15.png" ContentType="image/png"/>
  <Override PartName="/ppt/media/image14.png" ContentType="image/png"/>
  <Override PartName="/ppt/media/image29.png" ContentType="image/png"/>
  <Override PartName="/ppt/media/image11.png" ContentType="image/png"/>
  <Override PartName="/ppt/media/image6.png" ContentType="image/png"/>
  <Override PartName="/ppt/media/image36.png" ContentType="image/png"/>
  <Override PartName="/ppt/media/image12.png" ContentType="image/png"/>
  <Override PartName="/ppt/media/image7.png" ContentType="image/png"/>
  <Override PartName="/ppt/media/image37.png" ContentType="image/png"/>
  <Override PartName="/ppt/media/image13.png" ContentType="image/png"/>
  <Override PartName="/ppt/media/image8.png" ContentType="image/png"/>
  <Override PartName="/ppt/media/image38.png" ContentType="image/png"/>
  <Override PartName="/ppt/media/image9.png" ContentType="image/png"/>
  <Override PartName="/ppt/media/image39.png" ContentType="image/png"/>
  <Override PartName="/ppt/media/image30.png" ContentType="image/png"/>
  <Override PartName="/ppt/media/image28.png" ContentType="image/png"/>
  <Override PartName="/ppt/media/image10.png" ContentType="image/png"/>
  <Override PartName="/ppt/media/image5.png" ContentType="image/png"/>
  <Override PartName="/ppt/media/image35.png" ContentType="image/png"/>
  <Override PartName="/ppt/media/image34.png" ContentType="image/png"/>
  <Override PartName="/ppt/media/image4.png" ContentType="image/png"/>
  <Override PartName="/ppt/media/image27.png" ContentType="image/png"/>
  <Override PartName="/ppt/media/image33.png" ContentType="image/png"/>
  <Override PartName="/ppt/media/image3.png" ContentType="image/png"/>
  <Override PartName="/ppt/media/image26.png" ContentType="image/png"/>
  <Override PartName="/ppt/media/image32.png" ContentType="image/png"/>
  <Override PartName="/ppt/media/image2.png" ContentType="image/png"/>
  <Override PartName="/ppt/media/image25.png" ContentType="image/png"/>
  <Override PartName="/ppt/media/image31.png" ContentType="image/png"/>
  <Override PartName="/ppt/media/image1.png" ContentType="image/png"/>
  <Override PartName="/ppt/media/image24.png" ContentType="image/png"/>
  <Override PartName="/ppt/slideLayouts/_rels/slideLayout52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53.xml.rels" ContentType="application/vnd.openxmlformats-package.relationships+xml"/>
  <Override PartName="/ppt/slideLayouts/slideLayout56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29.xml" ContentType="application/vnd.openxmlformats-officedocument.presentationml.slide+xml"/>
  <Override PartName="/ppt/slides/slide28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17.xml.rels" ContentType="application/vnd.openxmlformats-package.relationships+xml"/>
  <Override PartName="/ppt/slides/_rels/slide11.xml.rels" ContentType="application/vnd.openxmlformats-package.relationships+xml"/>
  <Override PartName="/ppt/slides/_rels/slide26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40.xml.rels" ContentType="application/vnd.openxmlformats-package.relationships+xml"/>
  <Override PartName="/ppt/slides/_rels/slide33.xml.rels" ContentType="application/vnd.openxmlformats-package.relationships+xml"/>
  <Override PartName="/ppt/slides/_rels/slide6.xml.rels" ContentType="application/vnd.openxmlformats-package.relationships+xml"/>
  <Override PartName="/ppt/slides/_rels/slide34.xml.rels" ContentType="application/vnd.openxmlformats-package.relationships+xml"/>
  <Override PartName="/ppt/slides/_rels/slide19.xml.rels" ContentType="application/vnd.openxmlformats-package.relationships+xml"/>
  <Override PartName="/ppt/slides/_rels/slide13.xml.rels" ContentType="application/vnd.openxmlformats-package.relationships+xml"/>
  <Override PartName="/ppt/slides/_rels/slide29.xml.rels" ContentType="application/vnd.openxmlformats-package.relationships+xml"/>
  <Override PartName="/ppt/slides/_rels/slide14.xml.rels" ContentType="application/vnd.openxmlformats-package.relationships+xml"/>
  <Override PartName="/ppt/slides/_rels/slide30.xml.rels" ContentType="application/vnd.openxmlformats-package.relationships+xml"/>
  <Override PartName="/ppt/slides/_rels/slide23.xml.rels" ContentType="application/vnd.openxmlformats-package.relationships+xml"/>
  <Override PartName="/ppt/slides/_rels/slide38.xml.rels" ContentType="application/vnd.openxmlformats-package.relationships+xml"/>
  <Override PartName="/ppt/slides/_rels/slide37.xml.rels" ContentType="application/vnd.openxmlformats-package.relationships+xml"/>
  <Override PartName="/ppt/slides/_rels/slide22.xml.rels" ContentType="application/vnd.openxmlformats-package.relationships+xml"/>
  <Override PartName="/ppt/slides/_rels/slide3.xml.rels" ContentType="application/vnd.openxmlformats-package.relationships+xml"/>
  <Override PartName="/ppt/slides/_rels/slide9.xml.rels" ContentType="application/vnd.openxmlformats-package.relationships+xml"/>
  <Override PartName="/ppt/slides/_rels/slide28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1.xml.rels" ContentType="application/vnd.openxmlformats-package.relationships+xml"/>
  <Override PartName="/ppt/slides/_rels/slide15.xml.rels" ContentType="application/vnd.openxmlformats-package.relationships+xml"/>
  <Override PartName="/ppt/slides/_rels/slide21.xml.rels" ContentType="application/vnd.openxmlformats-package.relationships+xml"/>
  <Override PartName="/ppt/slides/_rels/slide36.xml.rels" ContentType="application/vnd.openxmlformats-package.relationships+xml"/>
  <Override PartName="/ppt/slides/_rels/slide27.xml.rels" ContentType="application/vnd.openxmlformats-package.relationships+xml"/>
  <Override PartName="/ppt/slides/_rels/slide2.xml.rels" ContentType="application/vnd.openxmlformats-package.relationships+xml"/>
  <Override PartName="/ppt/slides/_rels/slide8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32.xml.rels" ContentType="application/vnd.openxmlformats-package.relationships+xml"/>
  <Override PartName="/ppt/slides/_rels/slide16.xml.rels" ContentType="application/vnd.openxmlformats-package.relationships+xml"/>
  <Override PartName="/ppt/slides/_rels/slide20.xml.rels" ContentType="application/vnd.openxmlformats-package.relationships+xml"/>
  <Override PartName="/ppt/slides/_rels/slide35.xml.rels" ContentType="application/vnd.openxmlformats-package.relationships+xml"/>
  <Override PartName="/ppt/slides/_rels/slide1.xml.rels" ContentType="application/vnd.openxmlformats-package.relationships+xml"/>
  <Override PartName="/ppt/slides/_rels/slide7.xml.rels" ContentType="application/vnd.openxmlformats-package.relationships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13.xml" ContentType="application/vnd.openxmlformats-officedocument.presentationml.slide+xml"/>
  <Override PartName="/ppt/slides/slide37.xml" ContentType="application/vnd.openxmlformats-officedocument.presentationml.slide+xml"/>
  <Override PartName="/ppt/slides/slide1.xml" ContentType="application/vnd.openxmlformats-officedocument.presentationml.slide+xml"/>
  <Override PartName="/ppt/slides/slide38.xml" ContentType="application/vnd.openxmlformats-officedocument.presentationml.slide+xml"/>
  <Override PartName="/ppt/slides/slide2.xml" ContentType="application/vnd.openxmlformats-officedocument.presentationml.slide+xml"/>
  <Override PartName="/ppt/slides/slide39.xml" ContentType="application/vnd.openxmlformats-officedocument.presentationml.slide+xml"/>
  <Override PartName="/ppt/slides/slide3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4"/>
          <p:cNvSpPr>
            <a:spLocks noGrp="1"/>
          </p:cNvSpPr>
          <p:nvPr>
            <p:ph type="dt" idx="3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5"/>
          <p:cNvSpPr>
            <a:spLocks noGrp="1"/>
          </p:cNvSpPr>
          <p:nvPr>
            <p:ph type="ftr" idx="4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6"/>
          <p:cNvSpPr>
            <a:spLocks noGrp="1"/>
          </p:cNvSpPr>
          <p:nvPr>
            <p:ph type="sldNum" idx="5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2670DBD7-CA14-4F9F-AF92-917DC13B510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.xml"/><Relationship Id="rId3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2.xml"/><Relationship Id="rId3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3.xml"/><Relationship Id="rId3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4.xml"/><Relationship Id="rId3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6.xml"/><Relationship Id="rId3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8.xml"/><Relationship Id="rId3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0.xml"/><Relationship Id="rId3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13.xml"/><Relationship Id="rId3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30.xml"/><Relationship Id="rId3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38.xml"/><Relationship Id="rId3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39.xml"/><Relationship Id="rId3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hyperlink" Target="https://softuni.org/" TargetMode="External"/><Relationship Id="rId2" Type="http://schemas.openxmlformats.org/officeDocument/2006/relationships/slide" Target="../slides/slide40.xml"/><Relationship Id="rId3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Num" idx="39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24F123-9072-43A6-A2F0-0B0DE727E18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09" name="PlaceHolder 3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ftr" idx="40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lide Number Placeholder 5"/>
          <p:cNvSpPr/>
          <p:nvPr/>
        </p:nvSpPr>
        <p:spPr>
          <a:xfrm>
            <a:off x="6489000" y="884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F5411936-9F60-40A8-BB2B-8DF8F4AA6A28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PlaceHolder 3"/>
          <p:cNvSpPr>
            <a:spLocks noGrp="1"/>
          </p:cNvSpPr>
          <p:nvPr>
            <p:ph type="ftr" idx="41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3"/>
          <p:cNvSpPr>
            <a:spLocks noGrp="1"/>
          </p:cNvSpPr>
          <p:nvPr>
            <p:ph type="sldNum" idx="42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7894EB6-893B-432B-91C8-BE6D3E12447A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8" name="PlaceHolder 4"/>
          <p:cNvSpPr>
            <a:spLocks noGrp="1"/>
          </p:cNvSpPr>
          <p:nvPr>
            <p:ph type="ftr" idx="43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The table is the main unit of data storage. It has rows, columns and cells. Cells contain stored data. Each column has a data type. Types can be VARCHAR(String), INT, DATE etc.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44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B8DC53-8803-40B9-BFDC-8296D77EB292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2" name="PlaceHolder 4"/>
          <p:cNvSpPr>
            <a:spLocks noGrp="1"/>
          </p:cNvSpPr>
          <p:nvPr>
            <p:ph type="ftr" idx="45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PlaceHolder 3"/>
          <p:cNvSpPr>
            <a:spLocks noGrp="1"/>
          </p:cNvSpPr>
          <p:nvPr>
            <p:ph type="sldNum" idx="46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C180D5-36AD-46AB-B9AC-3B9B847272D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6" name="PlaceHolder 4"/>
          <p:cNvSpPr>
            <a:spLocks noGrp="1"/>
          </p:cNvSpPr>
          <p:nvPr>
            <p:ph type="ftr" idx="47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3"/>
          <p:cNvSpPr>
            <a:spLocks noGrp="1"/>
          </p:cNvSpPr>
          <p:nvPr>
            <p:ph type="sldNum" idx="48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D97ACB-EA9B-41A1-B1C0-DD3A49245DAB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0" name="PlaceHolder 4"/>
          <p:cNvSpPr>
            <a:spLocks noGrp="1"/>
          </p:cNvSpPr>
          <p:nvPr>
            <p:ph type="ftr" idx="49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50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9910321-3943-4E9C-B3FF-AA4C56189BC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4" name="PlaceHolder 4"/>
          <p:cNvSpPr>
            <a:spLocks noGrp="1"/>
          </p:cNvSpPr>
          <p:nvPr>
            <p:ph type="ftr" idx="51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3"/>
          <p:cNvSpPr>
            <a:spLocks noGrp="1"/>
          </p:cNvSpPr>
          <p:nvPr>
            <p:ph type="sldNum" idx="52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8AE6432-108D-476E-84B0-10CC4E7C096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8" name="PlaceHolder 4"/>
          <p:cNvSpPr>
            <a:spLocks noGrp="1"/>
          </p:cNvSpPr>
          <p:nvPr>
            <p:ph type="ftr" idx="53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PlaceHolder 3"/>
          <p:cNvSpPr>
            <a:spLocks noGrp="1"/>
          </p:cNvSpPr>
          <p:nvPr>
            <p:ph type="sldNum" idx="54"/>
          </p:nvPr>
        </p:nvSpPr>
        <p:spPr>
          <a:xfrm>
            <a:off x="6489000" y="8892000"/>
            <a:ext cx="36684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D791DC-AD5C-4FE8-99A3-2B2C31BA562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2" name="PlaceHolder 4"/>
          <p:cNvSpPr>
            <a:spLocks noGrp="1"/>
          </p:cNvSpPr>
          <p:nvPr>
            <p:ph type="ftr" idx="55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lide Number Placeholder 5"/>
          <p:cNvSpPr/>
          <p:nvPr/>
        </p:nvSpPr>
        <p:spPr>
          <a:xfrm>
            <a:off x="6489000" y="884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8FBBEF64-05CA-4666-B174-2E7CB5BEFF9F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3"/>
          <p:cNvSpPr>
            <a:spLocks noGrp="1"/>
          </p:cNvSpPr>
          <p:nvPr>
            <p:ph type="ftr" idx="56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lide Number Placeholder 5"/>
          <p:cNvSpPr/>
          <p:nvPr/>
        </p:nvSpPr>
        <p:spPr>
          <a:xfrm>
            <a:off x="6489000" y="884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25D4A80C-C86C-4CFF-9EC8-094D6708FDDA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ftr" idx="57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4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lide Number Placeholder 5"/>
          <p:cNvSpPr/>
          <p:nvPr/>
        </p:nvSpPr>
        <p:spPr>
          <a:xfrm>
            <a:off x="6489000" y="884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B57F45A0-F04B-439C-8354-F64CBCDFED3D}" type="slidenum">
              <a:rPr b="0" lang="en-US" sz="12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3"/>
          <p:cNvSpPr>
            <a:spLocks noGrp="1"/>
          </p:cNvSpPr>
          <p:nvPr>
            <p:ph type="ftr" idx="58"/>
          </p:nvPr>
        </p:nvSpPr>
        <p:spPr>
          <a:xfrm>
            <a:off x="0" y="8892000"/>
            <a:ext cx="6488280" cy="251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b="0" lang="bg-BG" sz="11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bg-BG" sz="1100" spc="-1" strike="noStrike">
                <a:solidFill>
                  <a:srgbClr val="000000"/>
                </a:solidFill>
                <a:latin typeface="Times New Roman"/>
              </a:rPr>
              <a:t>Работна група "Образование по програмиране и ИТ", с подкрепата на </a:t>
            </a:r>
            <a:r>
              <a:rPr b="0" lang="en-US" sz="1100" spc="-1" strike="noStrike" u="sng">
                <a:solidFill>
                  <a:srgbClr val="000000"/>
                </a:solidFill>
                <a:uFillTx/>
                <a:latin typeface="Times New Roman"/>
                <a:hlinkClick r:id="rId1"/>
              </a:rPr>
              <a:t>SoftUni</a:t>
            </a:r>
            <a:endParaRPr b="0" lang="en-US" sz="11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521D71C7-26D7-4591-ABF7-D7903BCA50C0}" type="slidenum">
              <a:t>&lt;#&gt;</a:t>
            </a:fld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B216355-7BE4-4131-B794-356D649F6865}" type="slidenum">
              <a:t>&lt;#&gt;</a:t>
            </a:fld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1AD518D-84CE-47D5-A93B-D98F4AA67AC3}" type="slidenum">
              <a:t>&lt;#&gt;</a:t>
            </a:fld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C7E3034-7A2A-4DAE-900B-922BA845324D}" type="slidenum">
              <a:t>&lt;#&gt;</a:t>
            </a:fld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C3C9EFA-244A-4008-A9C3-68D687B0BB93}" type="slidenum">
              <a:t>&lt;#&gt;</a:t>
            </a:fld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C10C4987-4BC2-43CD-BBE9-FA8DCE3F3B15}" type="slidenum">
              <a:t>&lt;#&gt;</a:t>
            </a:fld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90E6E0A-F02D-4425-B2B0-223FA7EE1F88}" type="slidenum">
              <a:t>&lt;#&gt;</a:t>
            </a:fld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D1D81867-3889-4C0B-BDCC-83AAE26D92AB}" type="slidenum">
              <a:t>&lt;#&gt;</a:t>
            </a:fld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FE8B8AFE-B523-4482-874A-F1D282C81E09}" type="slidenum">
              <a:t>&lt;#&gt;</a:t>
            </a:fld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1709060-8F72-48E5-B567-367AA502A9D8}" type="slidenum">
              <a:t>&lt;#&gt;</a:t>
            </a:fld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9F6991AE-714F-4F42-980E-7E1661DA6B85}" type="slidenum">
              <a:t>&lt;#&gt;</a:t>
            </a:fld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A75E18B-3792-4ECE-9FD9-ADE77159A5CB}" type="slidenum">
              <a:t>&lt;#&gt;</a:t>
            </a:fld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CF8D4FA-362A-4C4A-BB2C-4797749EC173}" type="slidenum">
              <a:t>&lt;#&gt;</a:t>
            </a:fld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9563FF4-6216-45A7-9249-8000DBBFC997}" type="slidenum">
              <a:t>&lt;#&gt;</a:t>
            </a:fld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B39A25B-77A0-417F-BB5B-167BC7295C06}" type="slidenum">
              <a:t>&lt;#&gt;</a:t>
            </a:fld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5B22C29-4200-4DC9-8D1E-C5A29EE1902C}" type="slidenum">
              <a:t>&lt;#&gt;</a:t>
            </a:fld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A32EFD2-5171-4BE9-915F-E7E31A1FF8F8}" type="slidenum">
              <a:t>&lt;#&gt;</a:t>
            </a:fld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BE0840-A592-4187-830A-79CC670C68FC}" type="slidenum">
              <a:t>&lt;#&gt;</a:t>
            </a:fld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EF1EF42-B16F-48A5-8C5F-6A61F488DC22}" type="slidenum">
              <a:t>&lt;#&gt;</a:t>
            </a:fld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EC693C3-0326-49C1-9074-5E3624DA2CFF}" type="slidenum">
              <a:t>&lt;#&gt;</a:t>
            </a:fld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24C8454-64BF-48FB-BC27-ABCE7E53DCBC}" type="slidenum">
              <a:t>&lt;#&gt;</a:t>
            </a:fld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D38B27-E1FE-4D77-889F-EE6BCBC76335}" type="slidenum">
              <a:t>&lt;#&gt;</a:t>
            </a:fld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5A99BB-75F1-4F9F-9E27-B3072597F14C}" type="slidenum">
              <a:t>&lt;#&gt;</a:t>
            </a:fld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DE7B912-3D84-4FEF-93F0-FB2DB0CA5DA2}" type="slidenum">
              <a:t>&lt;#&gt;</a:t>
            </a:fld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hyperlink" Target="http://creativecommons.org/licenses/by-nc-sa/4.0/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<Relationship Id="rId6" Type="http://schemas.openxmlformats.org/officeDocument/2006/relationships/slideLayout" Target="../slideLayouts/slideLayout2.xml"/><Relationship Id="rId7" Type="http://schemas.openxmlformats.org/officeDocument/2006/relationships/slideLayout" Target="../slideLayouts/slideLayout3.xml"/><Relationship Id="rId8" Type="http://schemas.openxmlformats.org/officeDocument/2006/relationships/slideLayout" Target="../slideLayouts/slideLayout4.xml"/><Relationship Id="rId9" Type="http://schemas.openxmlformats.org/officeDocument/2006/relationships/slideLayout" Target="../slideLayouts/slideLayout5.xml"/><Relationship Id="rId10" Type="http://schemas.openxmlformats.org/officeDocument/2006/relationships/slideLayout" Target="../slideLayouts/slideLayout6.xml"/><Relationship Id="rId11" Type="http://schemas.openxmlformats.org/officeDocument/2006/relationships/slideLayout" Target="../slideLayouts/slideLayout7.xml"/><Relationship Id="rId12" Type="http://schemas.openxmlformats.org/officeDocument/2006/relationships/slideLayout" Target="../slideLayouts/slideLayout8.xml"/><Relationship Id="rId13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0.xml"/><Relationship Id="rId15" Type="http://schemas.openxmlformats.org/officeDocument/2006/relationships/slideLayout" Target="../slideLayouts/slideLayout11.xml"/><Relationship Id="rId16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Rectangle Bottom"/>
          <p:cNvSpPr/>
          <p:nvPr/>
        </p:nvSpPr>
        <p:spPr>
          <a:xfrm>
            <a:off x="0" y="6702840"/>
            <a:ext cx="12194280" cy="15444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pic>
        <p:nvPicPr>
          <p:cNvPr id="1" name="Picture 3" descr=""/>
          <p:cNvPicPr/>
          <p:nvPr/>
        </p:nvPicPr>
        <p:blipFill>
          <a:blip r:embed="rId2"/>
          <a:stretch/>
        </p:blipFill>
        <p:spPr>
          <a:xfrm>
            <a:off x="536400" y="4326120"/>
            <a:ext cx="2537280" cy="632160"/>
          </a:xfrm>
          <a:prstGeom prst="rect">
            <a:avLst/>
          </a:prstGeom>
          <a:ln w="0">
            <a:noFill/>
          </a:ln>
        </p:spPr>
      </p:pic>
      <p:sp>
        <p:nvSpPr>
          <p:cNvPr id="2" name="Picture 4">
            <a:hlinkClick r:id="rId3"/>
          </p:cNvPr>
          <p:cNvSpPr/>
          <p:nvPr/>
        </p:nvSpPr>
        <p:spPr>
          <a:xfrm>
            <a:off x="3402720" y="4321440"/>
            <a:ext cx="1808640" cy="632160"/>
          </a:xfrm>
          <a:prstGeom prst="roundRect">
            <a:avLst>
              <a:gd name="adj" fmla="val 3940"/>
            </a:avLst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  <p:sldLayoutId id="214748365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  <p:sldLayoutId id="2147483660" r:id="rId16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Top"/>
          <p:cNvSpPr/>
          <p:nvPr/>
        </p:nvSpPr>
        <p:spPr>
          <a:xfrm>
            <a:off x="0" y="0"/>
            <a:ext cx="12196080" cy="1094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pic>
        <p:nvPicPr>
          <p:cNvPr id="42" name="Picture 2" descr=""/>
          <p:cNvPicPr/>
          <p:nvPr/>
        </p:nvPicPr>
        <p:blipFill>
          <a:blip r:embed="rId2"/>
          <a:stretch/>
        </p:blipFill>
        <p:spPr>
          <a:xfrm>
            <a:off x="10553400" y="369000"/>
            <a:ext cx="1442520" cy="359280"/>
          </a:xfrm>
          <a:prstGeom prst="rect">
            <a:avLst/>
          </a:prstGeom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sldNum" idx="1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0A8402-89E6-46EC-982A-1D4E19383878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Oval Center Icon"/>
          <p:cNvSpPr/>
          <p:nvPr/>
        </p:nvSpPr>
        <p:spPr>
          <a:xfrm>
            <a:off x="4319640" y="867600"/>
            <a:ext cx="3551760" cy="3551760"/>
          </a:xfrm>
          <a:prstGeom prst="ellips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Rectangle Top"/>
          <p:cNvSpPr/>
          <p:nvPr/>
        </p:nvSpPr>
        <p:spPr>
          <a:xfrm>
            <a:off x="0" y="0"/>
            <a:ext cx="12196080" cy="1094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pic>
        <p:nvPicPr>
          <p:cNvPr id="122" name="Picture 3" descr=""/>
          <p:cNvPicPr/>
          <p:nvPr/>
        </p:nvPicPr>
        <p:blipFill>
          <a:blip r:embed="rId2"/>
          <a:stretch/>
        </p:blipFill>
        <p:spPr>
          <a:xfrm>
            <a:off x="10553400" y="369000"/>
            <a:ext cx="1442520" cy="359280"/>
          </a:xfrm>
          <a:prstGeom prst="rect">
            <a:avLst/>
          </a:prstGeom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sldNum" idx="2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764BD5F-BCC8-4207-B84C-6A2F9CAE0826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97" r:id="rId12"/>
    <p:sldLayoutId id="2147483698" r:id="rId13"/>
    <p:sldLayoutId id="2147483699" r:id="rId1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Rectangle Bottom"/>
          <p:cNvSpPr/>
          <p:nvPr/>
        </p:nvSpPr>
        <p:spPr>
          <a:xfrm>
            <a:off x="0" y="6371280"/>
            <a:ext cx="12194280" cy="4863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2400" spc="-1" strike="noStrike">
              <a:solidFill>
                <a:srgbClr val="f7c86d"/>
              </a:solidFill>
              <a:latin typeface="Calibri"/>
              <a:ea typeface="맑은 고딕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about.softuni.bg/" TargetMode="Externa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5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37.xml"/><Relationship Id="rId4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37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3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37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37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25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37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37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37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20.png"/><Relationship Id="rId3" Type="http://schemas.openxmlformats.org/officeDocument/2006/relationships/slideLayout" Target="../slideLayouts/slideLayout37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3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3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37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3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6.png"/><Relationship Id="rId3" Type="http://schemas.openxmlformats.org/officeDocument/2006/relationships/slideLayout" Target="../slideLayouts/slideLayout37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image" Target="../media/image28.png"/><Relationship Id="rId3" Type="http://schemas.openxmlformats.org/officeDocument/2006/relationships/slideLayout" Target="../slideLayouts/slideLayout37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37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37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37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25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37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image" Target="../media/image35.png"/><Relationship Id="rId3" Type="http://schemas.openxmlformats.org/officeDocument/2006/relationships/slideLayout" Target="../slideLayouts/slideLayout37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37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37.xml"/><Relationship Id="rId3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hyperlink" Target="https://github.com/BG-IT-Edu" TargetMode="External"/><Relationship Id="rId2" Type="http://schemas.openxmlformats.org/officeDocument/2006/relationships/slideLayout" Target="../slideLayouts/slideLayout49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hyperlink" Target="https://github.com/BG-IT-Edu" TargetMode="External"/><Relationship Id="rId3" Type="http://schemas.openxmlformats.org/officeDocument/2006/relationships/hyperlink" Target="http://creativecommons.org/licenses/by-nc-sa/4.0/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37.xml"/><Relationship Id="rId6" Type="http://schemas.openxmlformats.org/officeDocument/2006/relationships/notesSlide" Target="../notesSlides/notesSlide4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/>
          </p:nvPr>
        </p:nvSpPr>
        <p:spPr>
          <a:xfrm>
            <a:off x="6390000" y="6086160"/>
            <a:ext cx="5247720" cy="340560"/>
          </a:xfrm>
          <a:prstGeom prst="rect">
            <a:avLst/>
          </a:prstGeom>
          <a:noFill/>
          <a:ln w="0">
            <a:noFill/>
          </a:ln>
        </p:spPr>
        <p:txBody>
          <a:bodyPr lIns="36000" rIns="36000" tIns="36000" bIns="36000" anchor="ctr">
            <a:noAutofit/>
          </a:bodyPr>
          <a:p>
            <a:pPr indent="0" algn="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bg-BG" sz="1800" spc="-1" strike="noStrike">
                <a:solidFill>
                  <a:srgbClr val="234465"/>
                </a:solidFill>
                <a:latin typeface="Calibri"/>
              </a:rPr>
              <a:t>Софтуерни и хардуерни науки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6390000" y="5698080"/>
            <a:ext cx="5247720" cy="373680"/>
          </a:xfrm>
          <a:prstGeom prst="rect">
            <a:avLst/>
          </a:prstGeom>
          <a:noFill/>
          <a:ln w="0">
            <a:noFill/>
          </a:ln>
        </p:spPr>
        <p:txBody>
          <a:bodyPr lIns="36000" rIns="36000" tIns="36000" bIns="36000" anchor="ctr">
            <a:normAutofit fontScale="94000"/>
          </a:bodyPr>
          <a:p>
            <a:pPr indent="0" algn="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1" lang="bg-BG" sz="2000" spc="-1" strike="noStrike">
                <a:solidFill>
                  <a:srgbClr val="234465"/>
                </a:solidFill>
                <a:latin typeface="Calibri"/>
              </a:rPr>
              <a:t>Курс "Релационни бази данни"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533880" y="6085800"/>
            <a:ext cx="4751280" cy="340920"/>
          </a:xfrm>
          <a:prstGeom prst="rect">
            <a:avLst/>
          </a:prstGeom>
          <a:noFill/>
          <a:ln w="0">
            <a:noFill/>
          </a:ln>
        </p:spPr>
        <p:txBody>
          <a:bodyPr lIns="36000" rIns="36000" tIns="36000" bIns="36000" anchor="ctr">
            <a:noAutofit/>
          </a:bodyPr>
          <a:p>
            <a:pPr indent="0">
              <a:lnSpc>
                <a:spcPct val="105000"/>
              </a:lnSpc>
              <a:buNone/>
              <a:tabLst>
                <a:tab algn="l" pos="0"/>
              </a:tabLst>
            </a:pPr>
            <a:r>
              <a:rPr b="0" lang="en-US" sz="1800" spc="-1" strike="noStrike" u="sng">
                <a:solidFill>
                  <a:srgbClr val="bf7800"/>
                </a:solidFill>
                <a:uFillTx/>
                <a:latin typeface="Calibri"/>
                <a:hlinkClick r:id="rId1"/>
              </a:rPr>
              <a:t>https://about.softuni.bg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533880" y="5250960"/>
            <a:ext cx="4751280" cy="724320"/>
          </a:xfrm>
          <a:prstGeom prst="rect">
            <a:avLst/>
          </a:prstGeom>
          <a:noFill/>
          <a:ln w="0">
            <a:noFill/>
          </a:ln>
        </p:spPr>
        <p:txBody>
          <a:bodyPr lIns="36000" rIns="36000" tIns="36000" bIns="36000" anchor="ctr">
            <a:noAutofit/>
          </a:bodyPr>
          <a:p>
            <a:pPr indent="0"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1a334c"/>
                </a:solidFill>
                <a:latin typeface="Calibri"/>
              </a:rPr>
              <a:t>Software University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5"/>
          <p:cNvSpPr>
            <a:spLocks noGrp="1"/>
          </p:cNvSpPr>
          <p:nvPr>
            <p:ph type="subTitle"/>
          </p:nvPr>
        </p:nvSpPr>
        <p:spPr>
          <a:xfrm>
            <a:off x="554760" y="1402920"/>
            <a:ext cx="11082960" cy="13053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indent="0" algn="ct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Първичен и външен ключ. Връзки между таблици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6"/>
          <p:cNvSpPr>
            <a:spLocks noGrp="1"/>
          </p:cNvSpPr>
          <p:nvPr>
            <p:ph type="title"/>
          </p:nvPr>
        </p:nvSpPr>
        <p:spPr>
          <a:xfrm>
            <a:off x="554760" y="321480"/>
            <a:ext cx="11082960" cy="9709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800" spc="-1" strike="noStrike">
                <a:solidFill>
                  <a:srgbClr val="234465"/>
                </a:solidFill>
                <a:latin typeface="Calibri"/>
              </a:rPr>
              <a:t>Моделиране на бази данни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13" name="Picture 3" descr=""/>
          <p:cNvPicPr/>
          <p:nvPr/>
        </p:nvPicPr>
        <p:blipFill>
          <a:blip r:embed="rId2"/>
          <a:stretch/>
        </p:blipFill>
        <p:spPr>
          <a:xfrm>
            <a:off x="584280" y="3002400"/>
            <a:ext cx="1955880" cy="874800"/>
          </a:xfrm>
          <a:prstGeom prst="rect">
            <a:avLst/>
          </a:prstGeom>
          <a:ln w="0">
            <a:noFill/>
          </a:ln>
        </p:spPr>
      </p:pic>
      <p:pic>
        <p:nvPicPr>
          <p:cNvPr id="214" name="Picture 4" descr="A logo of a network&#10;&#10;Description automatically generated"/>
          <p:cNvPicPr/>
          <p:nvPr/>
        </p:nvPicPr>
        <p:blipFill>
          <a:blip r:embed="rId3"/>
          <a:stretch/>
        </p:blipFill>
        <p:spPr>
          <a:xfrm>
            <a:off x="8493840" y="2322000"/>
            <a:ext cx="3113280" cy="31132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/>
          </p:nvPr>
        </p:nvSpPr>
        <p:spPr>
          <a:xfrm>
            <a:off x="300960" y="1299600"/>
            <a:ext cx="10671120" cy="520668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marL="514080" indent="-514080">
              <a:lnSpc>
                <a:spcPct val="105000"/>
              </a:lnSpc>
              <a:spcBef>
                <a:spcPts val="601"/>
              </a:spcBef>
              <a:spcAft>
                <a:spcPts val="1400"/>
              </a:spcAft>
              <a:buClr>
                <a:srgbClr val="234465"/>
              </a:buClr>
              <a:buFont typeface="Calibri"/>
              <a:buAutoNum type="arabicPeriod"/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Таблици и релации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1400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Основни елементи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на таблиците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1400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Релации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и видове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ключове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514080" indent="-514080">
              <a:lnSpc>
                <a:spcPct val="105000"/>
              </a:lnSpc>
              <a:spcBef>
                <a:spcPts val="601"/>
              </a:spcBef>
              <a:spcAft>
                <a:spcPts val="1400"/>
              </a:spcAft>
              <a:buClr>
                <a:srgbClr val="234465"/>
              </a:buClr>
              <a:buFont typeface="Calibri"/>
              <a:buAutoNum type="arabicPeriod"/>
            </a:pP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Създаване на </a:t>
            </a:r>
            <a:r>
              <a:rPr b="1" lang="ru-RU" sz="3600" spc="-1" strike="noStrike">
                <a:solidFill>
                  <a:srgbClr val="234465"/>
                </a:solidFill>
                <a:latin typeface="Calibri"/>
              </a:rPr>
              <a:t>прости таблици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514080" indent="-514080">
              <a:lnSpc>
                <a:spcPct val="105000"/>
              </a:lnSpc>
              <a:spcBef>
                <a:spcPts val="601"/>
              </a:spcBef>
              <a:spcAft>
                <a:spcPts val="1400"/>
              </a:spcAft>
              <a:buClr>
                <a:srgbClr val="234465"/>
              </a:buClr>
              <a:buFont typeface="Calibri"/>
              <a:buAutoNum type="arabicPeriod"/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Създаване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 на </a:t>
            </a:r>
            <a:r>
              <a:rPr b="1" lang="bg-BG" sz="3600" spc="-1" strike="noStrike">
                <a:solidFill>
                  <a:srgbClr val="234465"/>
                </a:solidFill>
                <a:latin typeface="Calibri"/>
              </a:rPr>
              <a:t>проста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ru-RU" sz="3600" spc="-1" strike="noStrike">
                <a:solidFill>
                  <a:srgbClr val="234465"/>
                </a:solidFill>
                <a:latin typeface="Calibri"/>
              </a:rPr>
              <a:t>връзка между таблици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96685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Съдържание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Slide Number"/>
          <p:cNvSpPr/>
          <p:nvPr/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 algn="r">
              <a:lnSpc>
                <a:spcPct val="100000"/>
              </a:lnSpc>
            </a:pPr>
            <a:fld id="{0AB30B96-F496-4320-AC06-AEF9C4B7DE98}" type="slidenum">
              <a:rPr b="0" lang="en-US" sz="1000" spc="-1" strike="noStrike">
                <a:solidFill>
                  <a:srgbClr val="234465"/>
                </a:solidFill>
                <a:latin typeface="Calibri"/>
                <a:ea typeface="DejaVu Sans"/>
              </a:rPr>
              <a:t>2</a:t>
            </a:fld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615240" y="5660640"/>
            <a:ext cx="10960920" cy="7675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algn="ctr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0" lang="bg-BG" sz="4000" spc="-1" strike="noStrike">
                <a:solidFill>
                  <a:srgbClr val="234465"/>
                </a:solidFill>
                <a:latin typeface="Calibri"/>
              </a:rPr>
              <a:t>Таблици, редове, колони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title"/>
          </p:nvPr>
        </p:nvSpPr>
        <p:spPr>
          <a:xfrm>
            <a:off x="380880" y="4779000"/>
            <a:ext cx="11429280" cy="7675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4800" spc="-1" strike="noStrike">
                <a:solidFill>
                  <a:srgbClr val="234465"/>
                </a:solidFill>
                <a:latin typeface="Calibri"/>
              </a:rPr>
              <a:t>Таблици, първичен ключ и външен ключ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icture 6"/>
          <p:cNvSpPr/>
          <p:nvPr/>
        </p:nvSpPr>
        <p:spPr>
          <a:xfrm>
            <a:off x="4633560" y="1224000"/>
            <a:ext cx="2924280" cy="2912400"/>
          </a:xfrm>
          <a:prstGeom prst="flowChartConnector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PlaceHolder 1"/>
          <p:cNvSpPr>
            <a:spLocks noGrp="1"/>
          </p:cNvSpPr>
          <p:nvPr>
            <p:ph/>
          </p:nvPr>
        </p:nvSpPr>
        <p:spPr>
          <a:xfrm>
            <a:off x="168480" y="1143000"/>
            <a:ext cx="11952720" cy="571428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Таблиците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са основният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градивен елемент</a:t>
            </a:r>
            <a:r>
              <a:rPr b="0" lang="en-US" sz="3200" spc="-1" strike="noStrike">
                <a:solidFill>
                  <a:schemeClr val="accent1"/>
                </a:solidFill>
                <a:latin typeface="Calibri"/>
              </a:rPr>
              <a:t>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на релационните бази данни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25591"/>
              </a:spcBef>
              <a:spcAft>
                <a:spcPts val="400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Всеки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ред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се нарича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запис</a:t>
            </a:r>
            <a:r>
              <a:rPr b="0" lang="en-US" sz="3200" spc="-1" strike="noStrike">
                <a:solidFill>
                  <a:schemeClr val="accent1"/>
                </a:solidFill>
                <a:latin typeface="Calibri"/>
              </a:rPr>
              <a:t>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или</a:t>
            </a:r>
            <a:r>
              <a:rPr b="0" lang="en-US" sz="3200" spc="-1" strike="noStrike">
                <a:solidFill>
                  <a:schemeClr val="accent1"/>
                </a:solidFill>
                <a:latin typeface="Calibri"/>
              </a:rPr>
              <a:t>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обект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2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Колоните 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(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полета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)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определят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вида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на данните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Таблици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223" name="Group 49"/>
          <p:cNvGraphicFramePr/>
          <p:nvPr/>
        </p:nvGraphicFramePr>
        <p:xfrm>
          <a:off x="1901160" y="2574000"/>
          <a:ext cx="8920440" cy="3040920"/>
        </p:xfrm>
        <a:graphic>
          <a:graphicData uri="http://schemas.openxmlformats.org/drawingml/2006/table">
            <a:tbl>
              <a:tblPr/>
              <a:tblGrid>
                <a:gridCol w="2141280"/>
                <a:gridCol w="2589840"/>
                <a:gridCol w="2513880"/>
                <a:gridCol w="1675800"/>
              </a:tblGrid>
              <a:tr h="586440">
                <a:tc>
                  <a:txBody>
                    <a:bodyPr lIns="157320" rIns="157320"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1120"/>
                        </a:spcBef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CustomerID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57320" marR="157320">
                    <a:lnL w="12240">
                      <a:solidFill>
                        <a:srgbClr val="bfbfbf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12240">
                      <a:solidFill>
                        <a:srgbClr val="bfbfbf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808080">
                        <a:alpha val="50000"/>
                      </a:srgbClr>
                    </a:solidFill>
                  </a:tcPr>
                </a:tc>
                <a:tc>
                  <a:txBody>
                    <a:bodyPr lIns="157320" rIns="157320"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1120"/>
                        </a:spcBef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FirstName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57320" marR="15732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12240">
                      <a:solidFill>
                        <a:srgbClr val="bfbfbf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808080">
                        <a:alpha val="50000"/>
                      </a:srgbClr>
                    </a:solidFill>
                  </a:tcPr>
                </a:tc>
                <a:tc>
                  <a:txBody>
                    <a:bodyPr lIns="157320" rIns="157320"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1120"/>
                        </a:spcBef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BirthDate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57320" marR="15732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12240">
                      <a:solidFill>
                        <a:srgbClr val="bfbfbf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808080">
                        <a:alpha val="50000"/>
                      </a:srgbClr>
                    </a:solidFill>
                  </a:tcPr>
                </a:tc>
                <a:tc>
                  <a:txBody>
                    <a:bodyPr lIns="157320" rIns="157320" anchor="ctr">
                      <a:noAutofit/>
                    </a:bodyPr>
                    <a:p>
                      <a:pPr algn="ctr">
                        <a:lnSpc>
                          <a:spcPct val="95000"/>
                        </a:lnSpc>
                        <a:spcBef>
                          <a:spcPts val="1120"/>
                        </a:spcBef>
                        <a:tabLst>
                          <a:tab algn="l" pos="0"/>
                        </a:tabLst>
                      </a:pPr>
                      <a:r>
                        <a:rPr b="1" lang="en-US" sz="28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CityID</a:t>
                      </a:r>
                      <a:endParaRPr b="0" lang="en-US" sz="2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157320" marR="157320">
                    <a:lnL w="28080">
                      <a:solidFill>
                        <a:srgbClr val="e0e3e9"/>
                      </a:solidFill>
                    </a:lnL>
                    <a:lnR w="12240">
                      <a:solidFill>
                        <a:srgbClr val="bfbfbf"/>
                      </a:solidFill>
                    </a:lnR>
                    <a:lnT w="12240">
                      <a:solidFill>
                        <a:srgbClr val="bfbfbf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808080">
                        <a:alpha val="50000"/>
                      </a:srgbClr>
                    </a:solidFill>
                  </a:tcPr>
                </a:tc>
              </a:tr>
              <a:tr h="456840"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12240">
                      <a:solidFill>
                        <a:srgbClr val="bfbfbf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Brigitte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03/12/1975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101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12240">
                      <a:solidFill>
                        <a:srgbClr val="bfbfbf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</a:tr>
              <a:tr h="456840"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12240">
                      <a:solidFill>
                        <a:srgbClr val="bfbfbf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August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27/05/1968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102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12240">
                      <a:solidFill>
                        <a:srgbClr val="bfbfbf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</a:tr>
              <a:tr h="456840"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12240">
                      <a:solidFill>
                        <a:srgbClr val="bfbfbf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Benjamin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15/10/1988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103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12240">
                      <a:solidFill>
                        <a:srgbClr val="bfbfbf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28080">
                      <a:solidFill>
                        <a:srgbClr val="e0e3e9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</a:tr>
              <a:tr h="456840"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12240">
                      <a:solidFill>
                        <a:srgbClr val="bfbfbf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12240">
                      <a:solidFill>
                        <a:srgbClr val="bfbfbf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Denis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12240">
                      <a:solidFill>
                        <a:srgbClr val="bfbfbf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07/01/1993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28080">
                      <a:solidFill>
                        <a:srgbClr val="e0e3e9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12240">
                      <a:solidFill>
                        <a:srgbClr val="bfbfbf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  <a:tc>
                  <a:txBody>
                    <a:bodyPr lIns="91080" rIns="91080" anchor="ctr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b="0" lang="en-US" sz="24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104</a:t>
                      </a:r>
                      <a:endParaRPr b="0" lang="en-US" sz="2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080" marR="91080">
                    <a:lnL w="28080">
                      <a:solidFill>
                        <a:srgbClr val="e0e3e9"/>
                      </a:solidFill>
                    </a:lnL>
                    <a:lnR w="12240">
                      <a:solidFill>
                        <a:srgbClr val="bfbfbf"/>
                      </a:solidFill>
                    </a:lnR>
                    <a:lnT w="28080">
                      <a:solidFill>
                        <a:srgbClr val="e0e3e9"/>
                      </a:solidFill>
                    </a:lnT>
                    <a:lnB w="12240">
                      <a:solidFill>
                        <a:srgbClr val="bfbfbf"/>
                      </a:solidFill>
                    </a:lnB>
                    <a:solidFill>
                      <a:srgbClr val="464848">
                        <a:alpha val="2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24" name="AutoShape 7"/>
          <p:cNvSpPr/>
          <p:nvPr/>
        </p:nvSpPr>
        <p:spPr>
          <a:xfrm>
            <a:off x="533520" y="4393080"/>
            <a:ext cx="1159200" cy="608760"/>
          </a:xfrm>
          <a:prstGeom prst="wedgeRoundRectCallout">
            <a:avLst>
              <a:gd name="adj1" fmla="val 43059"/>
              <a:gd name="adj2" fmla="val -9165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rgbClr val="1a334c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Ред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5" name="Rectangle: Rounded Corners 16"/>
          <p:cNvSpPr/>
          <p:nvPr/>
        </p:nvSpPr>
        <p:spPr>
          <a:xfrm>
            <a:off x="1703880" y="3503520"/>
            <a:ext cx="9255240" cy="67212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  <p:sp>
        <p:nvSpPr>
          <p:cNvPr id="226" name="Rectangle: Rounded Corners 17"/>
          <p:cNvSpPr/>
          <p:nvPr/>
        </p:nvSpPr>
        <p:spPr>
          <a:xfrm>
            <a:off x="3913200" y="2424600"/>
            <a:ext cx="2715480" cy="267840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  <p:sp>
        <p:nvSpPr>
          <p:cNvPr id="227" name="AutoShape 7"/>
          <p:cNvSpPr/>
          <p:nvPr/>
        </p:nvSpPr>
        <p:spPr>
          <a:xfrm>
            <a:off x="7518600" y="1804320"/>
            <a:ext cx="1587600" cy="608760"/>
          </a:xfrm>
          <a:prstGeom prst="wedgeRoundRectCallout">
            <a:avLst>
              <a:gd name="adj1" fmla="val -82609"/>
              <a:gd name="adj2" fmla="val 42619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rgbClr val="1a334c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Колона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8" name="Rectangle: Rounded Corners 21"/>
          <p:cNvSpPr/>
          <p:nvPr/>
        </p:nvSpPr>
        <p:spPr>
          <a:xfrm>
            <a:off x="3913200" y="3516480"/>
            <a:ext cx="2715480" cy="646920"/>
          </a:xfrm>
          <a:prstGeom prst="roundRect">
            <a:avLst>
              <a:gd name="adj" fmla="val 5385"/>
            </a:avLst>
          </a:prstGeom>
          <a:noFill/>
          <a:ln w="127000">
            <a:solidFill>
              <a:srgbClr val="5f3c00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  <p:sp>
        <p:nvSpPr>
          <p:cNvPr id="229" name="AutoShape 7"/>
          <p:cNvSpPr/>
          <p:nvPr/>
        </p:nvSpPr>
        <p:spPr>
          <a:xfrm>
            <a:off x="7560720" y="5158800"/>
            <a:ext cx="1353960" cy="608760"/>
          </a:xfrm>
          <a:prstGeom prst="wedgeRoundRectCallout">
            <a:avLst>
              <a:gd name="adj1" fmla="val -149726"/>
              <a:gd name="adj2" fmla="val -24532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rgbClr val="1a334c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Клетка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sldNum" idx="6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862269-3CAF-4F1A-8695-D490C50967F4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2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" dur="indefinite" restart="never" nodeType="tmRoot">
          <p:childTnLst>
            <p:seq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20009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Таблиците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дефинират структурата: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За всеки атрибут се определя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тип данни 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(текст, число, дата, ...)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Задава се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максимална дължина 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на текстовите полета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Задава се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максимална стойност 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на числовите полета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Таблиците също определят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 релациите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Първичен ключ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Външен ключ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Може да бъде и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комбиниран ключ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Таблици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7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B4C627E-00F1-491E-8F29-9EFE3E090A52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2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43" dur="indefinite" restart="never" nodeType="tmRoot">
          <p:childTnLst>
            <p:seq>
              <p:cTn id="44" dur="indefinite" nodeType="mainSeq">
                <p:childTnLst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/>
          </p:nvPr>
        </p:nvSpPr>
        <p:spPr>
          <a:xfrm>
            <a:off x="172080" y="1135080"/>
            <a:ext cx="1213128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300" spc="-1" strike="noStrike">
                <a:solidFill>
                  <a:srgbClr val="bf7800"/>
                </a:solidFill>
                <a:latin typeface="Calibri"/>
              </a:rPr>
              <a:t>Първичен ключ </a:t>
            </a:r>
            <a:r>
              <a:rPr b="0" lang="bg-BG" sz="3300" spc="-1" strike="noStrike">
                <a:solidFill>
                  <a:srgbClr val="234465"/>
                </a:solidFill>
                <a:latin typeface="Calibri"/>
              </a:rPr>
              <a:t>(</a:t>
            </a:r>
            <a:r>
              <a:rPr b="0" lang="en-US" sz="3300" spc="-1" strike="noStrike">
                <a:solidFill>
                  <a:srgbClr val="234465"/>
                </a:solidFill>
                <a:latin typeface="Calibri"/>
              </a:rPr>
              <a:t>Primary Key)</a:t>
            </a:r>
            <a:endParaRPr b="0" lang="en-US" sz="33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ru-RU" sz="3100" spc="-1" strike="noStrike">
                <a:solidFill>
                  <a:srgbClr val="bf7800"/>
                </a:solidFill>
                <a:latin typeface="Calibri"/>
              </a:rPr>
              <a:t>Уникален идентификатор </a:t>
            </a: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на всеки запис в таблицата</a:t>
            </a:r>
            <a:endParaRPr b="0" lang="en-US" sz="31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Гарантира </a:t>
            </a:r>
            <a:r>
              <a:rPr b="1" lang="ru-RU" sz="3100" spc="-1" strike="noStrike">
                <a:solidFill>
                  <a:srgbClr val="bf7800"/>
                </a:solidFill>
                <a:latin typeface="Calibri"/>
              </a:rPr>
              <a:t>неповтарящи се </a:t>
            </a: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идентификатори на записите</a:t>
            </a:r>
            <a:endParaRPr b="0" lang="en-US" sz="31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Използва се за  </a:t>
            </a:r>
            <a:r>
              <a:rPr b="1" lang="ru-RU" sz="3100" spc="-1" strike="noStrike">
                <a:solidFill>
                  <a:srgbClr val="bf7800"/>
                </a:solidFill>
                <a:latin typeface="Calibri"/>
              </a:rPr>
              <a:t>бързо </a:t>
            </a: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и </a:t>
            </a:r>
            <a:r>
              <a:rPr b="1" lang="ru-RU" sz="3100" spc="-1" strike="noStrike">
                <a:solidFill>
                  <a:srgbClr val="bf7800"/>
                </a:solidFill>
                <a:latin typeface="Calibri"/>
              </a:rPr>
              <a:t>ефективно </a:t>
            </a: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извличане на конкретни записи</a:t>
            </a:r>
            <a:endParaRPr b="0" lang="en-US" sz="31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Обикновено се дефинира като </a:t>
            </a:r>
            <a:r>
              <a:rPr b="1" lang="ru-RU" sz="3100" spc="-1" strike="noStrike">
                <a:solidFill>
                  <a:srgbClr val="bf7800"/>
                </a:solidFill>
                <a:latin typeface="Calibri"/>
              </a:rPr>
              <a:t>единично поле </a:t>
            </a: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(например </a:t>
            </a:r>
            <a:r>
              <a:rPr b="1" lang="ru-RU" sz="3100" spc="-1" strike="noStrike">
                <a:solidFill>
                  <a:srgbClr val="234465"/>
                </a:solidFill>
                <a:latin typeface="Calibri"/>
              </a:rPr>
              <a:t>ID</a:t>
            </a:r>
            <a:r>
              <a:rPr b="0" lang="ru-RU" sz="3100" spc="-1" strike="noStrike">
                <a:solidFill>
                  <a:srgbClr val="234465"/>
                </a:solidFill>
                <a:latin typeface="Calibri"/>
              </a:rPr>
              <a:t>)</a:t>
            </a:r>
            <a:endParaRPr b="0" lang="en-US" sz="3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Първичен ключ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6" name="Picture 2" descr="key png graphic clipart design 19907697 PNG"/>
          <p:cNvPicPr/>
          <p:nvPr/>
        </p:nvPicPr>
        <p:blipFill>
          <a:blip r:embed="rId1"/>
          <a:stretch/>
        </p:blipFill>
        <p:spPr>
          <a:xfrm>
            <a:off x="7801920" y="4909680"/>
            <a:ext cx="1535760" cy="1548000"/>
          </a:xfrm>
          <a:prstGeom prst="rect">
            <a:avLst/>
          </a:prstGeom>
          <a:ln w="0">
            <a:noFill/>
          </a:ln>
        </p:spPr>
      </p:pic>
      <p:sp>
        <p:nvSpPr>
          <p:cNvPr id="237" name="PlaceHolder 3"/>
          <p:cNvSpPr>
            <a:spLocks noGrp="1"/>
          </p:cNvSpPr>
          <p:nvPr>
            <p:ph type="sldNum" idx="8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F93F0A-60CB-4255-84FC-4597EE2BBFBD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6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38" name="Picture 7" descr=""/>
          <p:cNvPicPr/>
          <p:nvPr/>
        </p:nvPicPr>
        <p:blipFill>
          <a:blip r:embed="rId2"/>
          <a:stretch/>
        </p:blipFill>
        <p:spPr>
          <a:xfrm>
            <a:off x="2772360" y="4817160"/>
            <a:ext cx="3600000" cy="1998000"/>
          </a:xfrm>
          <a:prstGeom prst="rect">
            <a:avLst/>
          </a:prstGeom>
          <a:ln w="0">
            <a:noFill/>
          </a:ln>
        </p:spPr>
      </p:pic>
      <p:sp>
        <p:nvSpPr>
          <p:cNvPr id="239" name="Rectangle: Rounded Corners 8"/>
          <p:cNvSpPr/>
          <p:nvPr/>
        </p:nvSpPr>
        <p:spPr>
          <a:xfrm>
            <a:off x="2871360" y="5274360"/>
            <a:ext cx="3402360" cy="35892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73" dur="indefinite" restart="never" nodeType="tmRoot">
          <p:childTnLst>
            <p:seq>
              <p:cTn id="74" dur="indefinite" nodeType="mainSeq">
                <p:childTnLst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Identity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колона (автоматична номерация на редовете):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Стойността на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първичния ключ 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автоматично да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нараства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 с всеки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нов запис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Identity 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колона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Placeholder 4"/>
          <p:cNvSpPr/>
          <p:nvPr/>
        </p:nvSpPr>
        <p:spPr>
          <a:xfrm>
            <a:off x="685800" y="3276720"/>
            <a:ext cx="10743480" cy="375156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36000" bIns="36000" anchor="t">
            <a:spAutoFit/>
          </a:bodyPr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CREATE TABLE 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Employees (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   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EmployeeId INT </a:t>
            </a:r>
            <a:r>
              <a:rPr b="1" lang="en-US" sz="3200" spc="-1" strike="noStrike">
                <a:solidFill>
                  <a:srgbClr val="bf7800"/>
                </a:solidFill>
                <a:latin typeface="Consolas"/>
                <a:ea typeface="DejaVu Sans"/>
              </a:rPr>
              <a:t>IDENTITY(1, 1) PRIMARY KEY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,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   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FirstName NVARCHAR(50),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    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LastName NVARCHAR(50)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tabLst>
                <a:tab algn="l" pos="0"/>
              </a:tabLst>
            </a:pPr>
            <a:r>
              <a:rPr b="1" lang="en-US" sz="32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AutoShape 5"/>
          <p:cNvSpPr/>
          <p:nvPr/>
        </p:nvSpPr>
        <p:spPr>
          <a:xfrm>
            <a:off x="6172200" y="2590920"/>
            <a:ext cx="2361600" cy="984960"/>
          </a:xfrm>
          <a:prstGeom prst="wedgeRoundRectCallout">
            <a:avLst>
              <a:gd name="adj1" fmla="val -9619"/>
              <a:gd name="adj2" fmla="val 101382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Стартираща стойност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4" name="AutoShape 5"/>
          <p:cNvSpPr/>
          <p:nvPr/>
        </p:nvSpPr>
        <p:spPr>
          <a:xfrm>
            <a:off x="7535880" y="4824000"/>
            <a:ext cx="3290400" cy="984960"/>
          </a:xfrm>
          <a:prstGeom prst="wedgeRoundRectCallout">
            <a:avLst>
              <a:gd name="adj1" fmla="val -39039"/>
              <a:gd name="adj2" fmla="val -83213"/>
              <a:gd name="adj3" fmla="val 16667"/>
            </a:avLst>
          </a:prstGeom>
          <a:solidFill>
            <a:schemeClr val="tx1">
              <a:alpha val="80000"/>
            </a:schemeClr>
          </a:solidFill>
          <a:ln w="19050">
            <a:solidFill>
              <a:srgbClr val="234465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800" spc="-1" strike="noStrike">
                <a:solidFill>
                  <a:srgbClr val="ffffff"/>
                </a:solidFill>
                <a:latin typeface="Calibri"/>
                <a:ea typeface="DejaVu Sans"/>
              </a:rPr>
              <a:t>Нарастваща стойност (стъпка)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sldNum" idx="9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B27272B-339D-4FCD-A4D8-77A07EFC8086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7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91" dur="indefinite" restart="never" nodeType="tmRoot">
          <p:childTnLst>
            <p:seq>
              <p:cTn id="92" dur="indefinite" nodeType="mainSeq">
                <p:childTnLst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/>
          </p:nvPr>
        </p:nvSpPr>
        <p:spPr>
          <a:xfrm>
            <a:off x="152280" y="1143000"/>
            <a:ext cx="850788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 fontScale="95000"/>
          </a:bodyPr>
          <a:p>
            <a:pPr marL="342000" indent="-3420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Предимства: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762480" indent="-3420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Уникалност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762480" indent="-3420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Лесен за управление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2" marL="1192320" indent="-3420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Не се изисква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изрично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 задаване на стойност на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първичния ключ</a:t>
            </a: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 при вмъкване на записи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762480" indent="-3420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Избягване на конфликти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2" marL="1192320" indent="-3420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Всеки запис ще бъде създаден с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уникален първичен ключ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Identity 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колона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sldNum" idx="10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C4E6063-C1F0-4061-B59F-D51FC3245703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49" name="Picture 8" descr=""/>
          <p:cNvPicPr/>
          <p:nvPr/>
        </p:nvPicPr>
        <p:blipFill>
          <a:blip r:embed="rId1"/>
          <a:stretch/>
        </p:blipFill>
        <p:spPr>
          <a:xfrm>
            <a:off x="8660880" y="1894680"/>
            <a:ext cx="2956320" cy="402480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sp>
        <p:nvSpPr>
          <p:cNvPr id="250" name="Rectangle: Rounded Corners 6"/>
          <p:cNvSpPr/>
          <p:nvPr/>
        </p:nvSpPr>
        <p:spPr>
          <a:xfrm>
            <a:off x="9290880" y="1894680"/>
            <a:ext cx="719280" cy="4024800"/>
          </a:xfrm>
          <a:prstGeom prst="roundRect">
            <a:avLst>
              <a:gd name="adj" fmla="val 2482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09" dur="indefinite" restart="never" nodeType="tmRoot">
          <p:childTnLst>
            <p:seq>
              <p:cTn id="110" dur="indefinite" nodeType="mainSeq">
                <p:childTnLst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5" fill="hold">
                      <p:stCondLst>
                        <p:cond delay="indefinite"/>
                      </p:stCondLst>
                      <p:childTnLst>
                        <p:par>
                          <p:cTn id="126" fill="hold">
                            <p:stCondLst>
                              <p:cond delay="0"/>
                            </p:stCondLst>
                            <p:childTnLst>
                              <p:par>
                                <p:cTn id="1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9" fill="hold">
                      <p:stCondLst>
                        <p:cond delay="indefinite"/>
                      </p:stCondLst>
                      <p:childTnLst>
                        <p:par>
                          <p:cTn id="130" fill="hold">
                            <p:stCondLst>
                              <p:cond delay="0"/>
                            </p:stCondLst>
                            <p:childTnLst>
                              <p:par>
                                <p:cTn id="1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Външен ключ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(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Foreign Key)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Осигурява връзка между данните в различни таблици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(например </a:t>
            </a:r>
            <a:r>
              <a:rPr b="1" lang="en-US" sz="3200" spc="-1" strike="noStrike">
                <a:solidFill>
                  <a:srgbClr val="bf7800"/>
                </a:solidFill>
                <a:latin typeface="Calibri"/>
              </a:rPr>
              <a:t>Product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-&gt;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en-US" sz="3200" spc="-1" strike="noStrike">
                <a:solidFill>
                  <a:srgbClr val="bf7800"/>
                </a:solidFill>
                <a:latin typeface="Calibri"/>
              </a:rPr>
              <a:t>Category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П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оддръжка на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цялост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 на данните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Външен ключ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3" name="Picture 4" descr="One is to many relationship in SQL Server Management studio - Stack Overflow"/>
          <p:cNvPicPr/>
          <p:nvPr/>
        </p:nvPicPr>
        <p:blipFill>
          <a:blip r:embed="rId1"/>
          <a:srcRect l="7513" t="22655" r="27273" b="37699"/>
          <a:stretch/>
        </p:blipFill>
        <p:spPr>
          <a:xfrm>
            <a:off x="2450880" y="3960360"/>
            <a:ext cx="7713360" cy="2238840"/>
          </a:xfrm>
          <a:prstGeom prst="rect">
            <a:avLst/>
          </a:prstGeom>
          <a:ln w="0">
            <a:solidFill>
              <a:srgbClr val="ffffff"/>
            </a:solidFill>
          </a:ln>
        </p:spPr>
      </p:pic>
      <p:sp>
        <p:nvSpPr>
          <p:cNvPr id="254" name="PlaceHolder 3"/>
          <p:cNvSpPr>
            <a:spLocks noGrp="1"/>
          </p:cNvSpPr>
          <p:nvPr>
            <p:ph type="sldNum" idx="11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2D0A750-A318-4548-9F22-876C45BF4266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33" dur="indefinite" restart="never" nodeType="tmRoot">
          <p:childTnLst>
            <p:seq>
              <p:cTn id="134" dur="indefinite" nodeType="mainSeq">
                <p:childTnLst>
                  <p:par>
                    <p:cTn id="135" fill="hold">
                      <p:stCondLst>
                        <p:cond delay="indefinite"/>
                      </p:stCondLst>
                      <p:childTnLst>
                        <p:par>
                          <p:cTn id="136" fill="hold">
                            <p:stCondLst>
                              <p:cond delay="0"/>
                            </p:stCondLst>
                            <p:childTnLst>
                              <p:par>
                                <p:cTn id="1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9" fill="hold">
                      <p:stCondLst>
                        <p:cond delay="indefinite"/>
                      </p:stCondLst>
                      <p:childTnLst>
                        <p:par>
                          <p:cTn id="140" fill="hold">
                            <p:stCondLst>
                              <p:cond delay="0"/>
                            </p:stCondLst>
                            <p:childTnLst>
                              <p:par>
                                <p:cTn id="1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sldNum" idx="12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22225C-3C6A-4628-8E22-1799255E6319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Комбиниран ключ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(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Composite Key)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Създава се чрез комбинация от </a:t>
            </a:r>
            <a:r>
              <a:rPr b="1" lang="ru-RU" sz="3200" spc="-1" strike="noStrike">
                <a:solidFill>
                  <a:srgbClr val="bf7800"/>
                </a:solidFill>
                <a:latin typeface="Calibri"/>
              </a:rPr>
              <a:t>две или повече </a:t>
            </a:r>
            <a:r>
              <a:rPr b="0" lang="ru-RU" sz="3200" spc="-1" strike="noStrike">
                <a:solidFill>
                  <a:srgbClr val="234465"/>
                </a:solidFill>
                <a:latin typeface="Calibri"/>
              </a:rPr>
              <a:t>полета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Релацията се нарича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много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към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много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(</a:t>
            </a:r>
            <a:r>
              <a:rPr b="1" lang="en-US" sz="3200" spc="-1" strike="noStrike">
                <a:solidFill>
                  <a:srgbClr val="bf7800"/>
                </a:solidFill>
                <a:latin typeface="Calibri"/>
              </a:rPr>
              <a:t>Many-to-Many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Например: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Един ученик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може да се запише за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много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курсове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и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един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курс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може да съдържа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много ученици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Комбиниран ключ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8" name="Picture 8" descr=""/>
          <p:cNvPicPr/>
          <p:nvPr/>
        </p:nvPicPr>
        <p:blipFill>
          <a:blip r:embed="rId1"/>
          <a:stretch/>
        </p:blipFill>
        <p:spPr>
          <a:xfrm>
            <a:off x="7075080" y="5196600"/>
            <a:ext cx="3440520" cy="234720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43" dur="indefinite" restart="never" nodeType="tmRoot">
          <p:childTnLst>
            <p:seq>
              <p:cTn id="144" dur="indefinite" nodeType="mainSeq">
                <p:childTnLst>
                  <p:par>
                    <p:cTn id="145" fill="hold">
                      <p:stCondLst>
                        <p:cond delay="indefinite"/>
                      </p:stCondLst>
                      <p:childTnLst>
                        <p:par>
                          <p:cTn id="146" fill="hold">
                            <p:stCondLst>
                              <p:cond delay="0"/>
                            </p:stCondLst>
                            <p:childTnLst>
                              <p:par>
                                <p:cTn id="14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9" fill="hold">
                      <p:stCondLst>
                        <p:cond delay="indefinite"/>
                      </p:stCondLst>
                      <p:childTnLst>
                        <p:par>
                          <p:cTn id="150" fill="hold">
                            <p:stCondLst>
                              <p:cond delay="0"/>
                            </p:stCondLst>
                            <p:childTnLst>
                              <p:par>
                                <p:cTn id="15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Комбиниран ключ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sldNum" idx="13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B21BCE-A0BC-4B05-82E7-7A47E7959410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1" name="Text Placeholder 4"/>
          <p:cNvSpPr/>
          <p:nvPr/>
        </p:nvSpPr>
        <p:spPr>
          <a:xfrm>
            <a:off x="1820880" y="3483720"/>
            <a:ext cx="8549280" cy="354780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36000" bIns="36000" anchor="t">
            <a:spAutoFit/>
          </a:bodyPr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CREATE TABLE Enrollments (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bg-BG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StudentId INT,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bg-BG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CourseId INT,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bg-BG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PRIMARY KEY 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(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StudentId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,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 CourseId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),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bg-BG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FOREIGN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KEY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(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StudentId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) REFERENCES</a:t>
            </a:r>
            <a:r>
              <a:rPr b="1" lang="bg-BG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Students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(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StudentId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),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FOREIGN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KEY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(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CourseId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) REFERENCES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Courses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(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CourseId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Placeholder 4"/>
          <p:cNvSpPr/>
          <p:nvPr/>
        </p:nvSpPr>
        <p:spPr>
          <a:xfrm>
            <a:off x="740880" y="1300680"/>
            <a:ext cx="4589280" cy="212976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36000" bIns="36000" anchor="t">
            <a:spAutoFit/>
          </a:bodyPr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CREATE TABLE Students (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bg-BG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StudentId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INT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PRIMARY KEY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bg-BG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StudentName NVARCHAR(255)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Text Placeholder 4"/>
          <p:cNvSpPr/>
          <p:nvPr/>
        </p:nvSpPr>
        <p:spPr>
          <a:xfrm>
            <a:off x="6860880" y="1312560"/>
            <a:ext cx="4319280" cy="244980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000" rIns="108000" tIns="36000" bIns="36000" anchor="t">
            <a:spAutoFit/>
          </a:bodyPr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CREATE TABLE Courses (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bg-BG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CourseId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INT </a:t>
            </a:r>
            <a:r>
              <a:rPr b="1" lang="en-US" sz="2000" spc="-1" strike="noStrike">
                <a:solidFill>
                  <a:srgbClr val="bf7800"/>
                </a:solidFill>
                <a:latin typeface="Consolas"/>
                <a:ea typeface="DejaVu Sans"/>
              </a:rPr>
              <a:t>PRIMARY KEY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,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bg-BG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   </a:t>
            </a: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CourseName NVARCHAR(255) 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</a:pPr>
            <a:r>
              <a:rPr b="1" lang="en-US" sz="20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55" dur="indefinite" restart="never" nodeType="tmRoot">
          <p:childTnLst>
            <p:seq>
              <p:cTn id="156" dur="indefinite" nodeType="mainSeq">
                <p:childTnLst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1" fill="hold">
                      <p:stCondLst>
                        <p:cond delay="indefinite"/>
                      </p:stCondLst>
                      <p:childTnLst>
                        <p:par>
                          <p:cTn id="162" fill="hold">
                            <p:stCondLst>
                              <p:cond delay="0"/>
                            </p:stCondLst>
                            <p:childTnLst>
                              <p:par>
                                <p:cTn id="1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sldNum" idx="14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3E38BEB-3B49-468B-90D7-D73B030B4011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855972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 fontScale="88000"/>
          </a:bodyPr>
          <a:p>
            <a:pPr marL="316800" indent="-3168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Първичен ключ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MountainId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 таблицата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Mountains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16800" indent="-3168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Първичен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ключ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TouristId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 таблицата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Tourists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16800" indent="-3168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Комбиниран ключ от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MountainId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TouristId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свързващата таблицата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MountainsTourists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706320" indent="-3168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Така осугряваме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,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че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много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туристи могат да изкачат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много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планини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706320" indent="-31680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Релация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много към много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(</a:t>
            </a:r>
            <a:r>
              <a:rPr b="1" lang="en-US" sz="3200" spc="-1" strike="noStrike">
                <a:solidFill>
                  <a:srgbClr val="bf7800"/>
                </a:solidFill>
                <a:latin typeface="Calibri"/>
              </a:rPr>
              <a:t>many-to-many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Комбиниран ключ 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–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 пример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67" name="Picture 6" descr=""/>
          <p:cNvPicPr/>
          <p:nvPr/>
        </p:nvPicPr>
        <p:blipFill>
          <a:blip r:embed="rId1"/>
          <a:stretch/>
        </p:blipFill>
        <p:spPr>
          <a:xfrm>
            <a:off x="7625880" y="2214000"/>
            <a:ext cx="4210920" cy="265428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65" dur="indefinite" restart="never" nodeType="tmRoot">
          <p:childTnLst>
            <p:seq>
              <p:cTn id="166" dur="indefinite" nodeType="mainSeq">
                <p:childTnLst>
                  <p:par>
                    <p:cTn id="167" fill="hold">
                      <p:stCondLst>
                        <p:cond delay="indefinite"/>
                      </p:stCondLst>
                      <p:childTnLst>
                        <p:par>
                          <p:cTn id="168" fill="hold">
                            <p:stCondLst>
                              <p:cond delay="0"/>
                            </p:stCondLst>
                            <p:childTnLst>
                              <p:par>
                                <p:cTn id="1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1" fill="hold">
                      <p:stCondLst>
                        <p:cond delay="indefinite"/>
                      </p:stCondLst>
                      <p:childTnLst>
                        <p:par>
                          <p:cTn id="172" fill="hold">
                            <p:stCondLst>
                              <p:cond delay="0"/>
                            </p:stCondLst>
                            <p:childTnLst>
                              <p:par>
                                <p:cTn id="1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5" fill="hold">
                      <p:stCondLst>
                        <p:cond delay="indefinite"/>
                      </p:stCondLst>
                      <p:childTnLst>
                        <p:par>
                          <p:cTn id="176" fill="hold">
                            <p:stCondLst>
                              <p:cond delay="0"/>
                            </p:stCondLst>
                            <p:childTnLst>
                              <p:par>
                                <p:cTn id="17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1" fill="hold">
                      <p:stCondLst>
                        <p:cond delay="indefinite"/>
                      </p:stCondLst>
                      <p:childTnLst>
                        <p:par>
                          <p:cTn id="182" fill="hold">
                            <p:stCondLst>
                              <p:cond delay="0"/>
                            </p:stCondLst>
                            <p:childTnLst>
                              <p:par>
                                <p:cTn id="1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4832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Съчетава </a:t>
            </a:r>
            <a:r>
              <a:rPr b="1" lang="ru-RU" sz="3600" spc="-1" strike="noStrike">
                <a:solidFill>
                  <a:srgbClr val="bf7800"/>
                </a:solidFill>
                <a:latin typeface="Calibri"/>
              </a:rPr>
              <a:t>повече от един 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атрибут за уникална идентификация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Предотвратяване на </a:t>
            </a:r>
            <a:r>
              <a:rPr b="1" lang="ru-RU" sz="3600" spc="-1" strike="noStrike">
                <a:solidFill>
                  <a:srgbClr val="bf7800"/>
                </a:solidFill>
                <a:latin typeface="Calibri"/>
              </a:rPr>
              <a:t>дубликати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 на данни във връзка със специфични условия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Изисква се внимание при избора на </a:t>
            </a:r>
            <a:r>
              <a:rPr b="1" lang="ru-RU" sz="3600" spc="-1" strike="noStrike">
                <a:solidFill>
                  <a:srgbClr val="bf7800"/>
                </a:solidFill>
                <a:latin typeface="Calibri"/>
              </a:rPr>
              <a:t>подходящи колони </a:t>
            </a: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за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комбинирания</a:t>
            </a:r>
            <a:r>
              <a:rPr b="1" lang="ru-RU" sz="3600" spc="-1" strike="noStrike">
                <a:solidFill>
                  <a:srgbClr val="bf7800"/>
                </a:solidFill>
                <a:latin typeface="Calibri"/>
              </a:rPr>
              <a:t> ключ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600" spc="-1" strike="noStrike">
                <a:solidFill>
                  <a:srgbClr val="234465"/>
                </a:solidFill>
                <a:latin typeface="Calibri"/>
              </a:rPr>
              <a:t>Избягване на прекомерно усложняване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Комбиниран ключ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(3)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 type="sldNum" idx="15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1784B6-1448-4425-BFA1-67F492B4706D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85" dur="indefinite" restart="never" nodeType="tmRoot">
          <p:childTnLst>
            <p:seq>
              <p:cTn id="186" dur="indefinite" nodeType="mainSeq">
                <p:childTnLst>
                  <p:par>
                    <p:cTn id="187" fill="hold">
                      <p:stCondLst>
                        <p:cond delay="indefinite"/>
                      </p:stCondLst>
                      <p:childTnLst>
                        <p:par>
                          <p:cTn id="188" fill="hold">
                            <p:stCondLst>
                              <p:cond delay="0"/>
                            </p:stCondLst>
                            <p:childTnLst>
                              <p:par>
                                <p:cTn id="18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1" fill="hold">
                      <p:stCondLst>
                        <p:cond delay="indefinite"/>
                      </p:stCondLst>
                      <p:childTnLst>
                        <p:par>
                          <p:cTn id="192" fill="hold">
                            <p:stCondLst>
                              <p:cond delay="0"/>
                            </p:stCondLst>
                            <p:childTnLst>
                              <p:par>
                                <p:cTn id="19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5" fill="hold">
                      <p:stCondLst>
                        <p:cond delay="indefinite"/>
                      </p:stCondLst>
                      <p:childTnLst>
                        <p:par>
                          <p:cTn id="196" fill="hold">
                            <p:stCondLst>
                              <p:cond delay="0"/>
                            </p:stCondLst>
                            <p:childTnLst>
                              <p:par>
                                <p:cTn id="1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" name="Picture 3" descr=""/>
          <p:cNvPicPr/>
          <p:nvPr/>
        </p:nvPicPr>
        <p:blipFill>
          <a:blip r:embed="rId1"/>
          <a:stretch/>
        </p:blipFill>
        <p:spPr>
          <a:xfrm>
            <a:off x="3935880" y="1809000"/>
            <a:ext cx="4124520" cy="1803240"/>
          </a:xfrm>
          <a:prstGeom prst="rect">
            <a:avLst/>
          </a:prstGeom>
          <a:ln w="0">
            <a:noFill/>
          </a:ln>
        </p:spPr>
      </p:pic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1942200" y="4797720"/>
            <a:ext cx="8235000" cy="16455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5390" spc="-1" strike="noStrike">
                <a:solidFill>
                  <a:srgbClr val="234465"/>
                </a:solidFill>
                <a:latin typeface="Calibri"/>
              </a:rPr>
              <a:t>Създаване на връзка между таблици с </a:t>
            </a:r>
            <a:r>
              <a:rPr b="1" lang="en-US" sz="5390" spc="-1" strike="noStrike">
                <a:solidFill>
                  <a:srgbClr val="234465"/>
                </a:solidFill>
                <a:latin typeface="Calibri"/>
              </a:rPr>
              <a:t>SQL</a:t>
            </a:r>
            <a:endParaRPr b="0" lang="en-US" sz="539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Таблица 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Cities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5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Таблица 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Countries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Прости таблици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Rectangle 3"/>
          <p:cNvSpPr/>
          <p:nvPr/>
        </p:nvSpPr>
        <p:spPr>
          <a:xfrm>
            <a:off x="1333440" y="1981080"/>
            <a:ext cx="9524160" cy="222264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CREATE TABLE 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Cities (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Id INT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IDENTITY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(1, 1) </a:t>
            </a:r>
            <a:r>
              <a:rPr b="1" lang="en-US" sz="2800" spc="-1" strike="noStrike">
                <a:solidFill>
                  <a:srgbClr val="bf7800"/>
                </a:solidFill>
                <a:latin typeface="Consolas"/>
                <a:ea typeface="DejaVu Sans"/>
              </a:rPr>
              <a:t>PRIMARY KEY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,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Name NVARCHAR(50),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CountryId INT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Rectangle 3"/>
          <p:cNvSpPr/>
          <p:nvPr/>
        </p:nvSpPr>
        <p:spPr>
          <a:xfrm>
            <a:off x="1638360" y="5105520"/>
            <a:ext cx="8914680" cy="155268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CREATE TABLE 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Countries (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Id INT 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IDENTITY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(1, 1) 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PRIMARY KEY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,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Name NVARCHAR(50)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 type="sldNum" idx="16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F2BDD08-F5B1-45D7-ADDC-09F090105AA1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199" dur="indefinite" restart="never" nodeType="tmRoot">
          <p:childTnLst>
            <p:seq>
              <p:cTn id="200" dur="indefinite" nodeType="mainSeq">
                <p:childTnLst>
                  <p:par>
                    <p:cTn id="201" fill="hold">
                      <p:stCondLst>
                        <p:cond delay="indefinite"/>
                      </p:stCondLst>
                      <p:childTnLst>
                        <p:par>
                          <p:cTn id="202" fill="hold">
                            <p:stCondLst>
                              <p:cond delay="0"/>
                            </p:stCondLst>
                            <p:childTnLst>
                              <p:par>
                                <p:cTn id="20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PlaceHolder 1"/>
          <p:cNvSpPr>
            <a:spLocks noGrp="1"/>
          </p:cNvSpPr>
          <p:nvPr>
            <p:ph/>
          </p:nvPr>
        </p:nvSpPr>
        <p:spPr>
          <a:xfrm>
            <a:off x="190440" y="1151280"/>
            <a:ext cx="11807280" cy="55695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ru-RU" sz="3400" spc="-1" strike="noStrike">
                <a:solidFill>
                  <a:srgbClr val="234465"/>
                </a:solidFill>
                <a:latin typeface="Calibri"/>
              </a:rPr>
              <a:t>Връзките между таблиците се основават на взаимовръзки: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първичен ключ </a:t>
            </a:r>
            <a:r>
              <a:rPr b="0" lang="ru-RU" sz="3400" spc="-1" strike="noStrike">
                <a:solidFill>
                  <a:srgbClr val="1a334c"/>
                </a:solidFill>
                <a:latin typeface="Calibri"/>
              </a:rPr>
              <a:t>/ </a:t>
            </a:r>
            <a:r>
              <a:rPr b="1" lang="ru-RU" sz="3400" spc="-1" strike="noStrike">
                <a:solidFill>
                  <a:srgbClr val="bf7800"/>
                </a:solidFill>
                <a:latin typeface="Calibri"/>
              </a:rPr>
              <a:t>външен ключ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Връзка между таблици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Box 51"/>
          <p:cNvSpPr/>
          <p:nvPr/>
        </p:nvSpPr>
        <p:spPr>
          <a:xfrm>
            <a:off x="3167280" y="2902680"/>
            <a:ext cx="1246320" cy="4734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90000"/>
              </a:lnSpc>
              <a:spcBef>
                <a:spcPts val="839"/>
              </a:spcBef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Towns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Text Box 52"/>
          <p:cNvSpPr/>
          <p:nvPr/>
        </p:nvSpPr>
        <p:spPr>
          <a:xfrm>
            <a:off x="8589240" y="3305520"/>
            <a:ext cx="2099880" cy="473400"/>
          </a:xfrm>
          <a:prstGeom prst="rect">
            <a:avLst/>
          </a:prstGeom>
          <a:noFill/>
          <a:ln w="9525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>
              <a:lnSpc>
                <a:spcPct val="90000"/>
              </a:lnSpc>
              <a:spcBef>
                <a:spcPts val="839"/>
              </a:spcBef>
            </a:pPr>
            <a:r>
              <a:rPr b="1" lang="en-US" sz="2800" spc="-1" strike="noStrike">
                <a:solidFill>
                  <a:srgbClr val="234465"/>
                </a:solidFill>
                <a:latin typeface="Consolas"/>
                <a:ea typeface="DejaVu Sans"/>
              </a:rPr>
              <a:t>Countries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Line 56"/>
          <p:cNvSpPr/>
          <p:nvPr/>
        </p:nvSpPr>
        <p:spPr>
          <a:xfrm>
            <a:off x="6476760" y="4495680"/>
            <a:ext cx="1752840" cy="152280"/>
          </a:xfrm>
          <a:prstGeom prst="line">
            <a:avLst/>
          </a:prstGeom>
          <a:ln w="31750">
            <a:solidFill>
              <a:srgbClr val="e0e3e9"/>
            </a:solidFill>
            <a:round/>
            <a:tailEnd len="lg" type="stealth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endParaRPr b="0" lang="bg-BG" sz="1800" spc="-1" strike="noStrike">
              <a:solidFill>
                <a:srgbClr val="234465"/>
              </a:solidFill>
              <a:latin typeface="Calibri"/>
              <a:ea typeface="DejaVu Sans"/>
            </a:endParaRPr>
          </a:p>
        </p:txBody>
      </p:sp>
      <p:sp>
        <p:nvSpPr>
          <p:cNvPr id="283" name="Line 57"/>
          <p:cNvSpPr/>
          <p:nvPr/>
        </p:nvSpPr>
        <p:spPr>
          <a:xfrm flipV="1">
            <a:off x="6476760" y="4800600"/>
            <a:ext cx="1752840" cy="228240"/>
          </a:xfrm>
          <a:prstGeom prst="line">
            <a:avLst/>
          </a:prstGeom>
          <a:ln w="31750">
            <a:solidFill>
              <a:srgbClr val="e0e3e9"/>
            </a:solidFill>
            <a:round/>
            <a:tailEnd len="lg" type="stealth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endParaRPr b="0" lang="bg-BG" sz="1800" spc="-1" strike="noStrike">
              <a:solidFill>
                <a:srgbClr val="234465"/>
              </a:solidFill>
              <a:latin typeface="Calibri"/>
              <a:ea typeface="DejaVu Sans"/>
            </a:endParaRPr>
          </a:p>
        </p:txBody>
      </p:sp>
      <p:sp>
        <p:nvSpPr>
          <p:cNvPr id="284" name="Line 58"/>
          <p:cNvSpPr/>
          <p:nvPr/>
        </p:nvSpPr>
        <p:spPr>
          <a:xfrm flipV="1">
            <a:off x="6476760" y="5257800"/>
            <a:ext cx="1752840" cy="228240"/>
          </a:xfrm>
          <a:prstGeom prst="line">
            <a:avLst/>
          </a:prstGeom>
          <a:ln w="31750">
            <a:solidFill>
              <a:srgbClr val="e0e3e9"/>
            </a:solidFill>
            <a:round/>
            <a:tailEnd len="lg" type="stealth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endParaRPr b="0" lang="bg-BG" sz="1800" spc="-1" strike="noStrike">
              <a:solidFill>
                <a:srgbClr val="234465"/>
              </a:solidFill>
              <a:latin typeface="Calibri"/>
              <a:ea typeface="DejaVu Sans"/>
            </a:endParaRPr>
          </a:p>
        </p:txBody>
      </p:sp>
      <p:sp>
        <p:nvSpPr>
          <p:cNvPr id="285" name="Line 59"/>
          <p:cNvSpPr/>
          <p:nvPr/>
        </p:nvSpPr>
        <p:spPr>
          <a:xfrm flipV="1">
            <a:off x="6476760" y="5410080"/>
            <a:ext cx="1752840" cy="533160"/>
          </a:xfrm>
          <a:prstGeom prst="line">
            <a:avLst/>
          </a:prstGeom>
          <a:ln w="31750">
            <a:solidFill>
              <a:srgbClr val="e0e3e9"/>
            </a:solidFill>
            <a:round/>
            <a:tailEnd len="lg" type="stealth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endParaRPr b="0" lang="bg-BG" sz="1800" spc="-1" strike="noStrike">
              <a:solidFill>
                <a:srgbClr val="234465"/>
              </a:solidFill>
              <a:latin typeface="Calibri"/>
              <a:ea typeface="DejaVu Sans"/>
            </a:endParaRPr>
          </a:p>
        </p:txBody>
      </p:sp>
      <p:sp>
        <p:nvSpPr>
          <p:cNvPr id="286" name="Line 60"/>
          <p:cNvSpPr/>
          <p:nvPr/>
        </p:nvSpPr>
        <p:spPr>
          <a:xfrm flipV="1">
            <a:off x="6476760" y="5867280"/>
            <a:ext cx="1752840" cy="533520"/>
          </a:xfrm>
          <a:prstGeom prst="line">
            <a:avLst/>
          </a:prstGeom>
          <a:ln w="31750">
            <a:solidFill>
              <a:srgbClr val="e0e3e9"/>
            </a:solidFill>
            <a:round/>
            <a:tailEnd len="lg" type="stealth" w="lg"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 anchorCtr="1">
            <a:noAutofit/>
          </a:bodyPr>
          <a:p>
            <a:endParaRPr b="0" lang="bg-BG" sz="1800" spc="-1" strike="noStrike">
              <a:solidFill>
                <a:srgbClr val="234465"/>
              </a:solidFill>
              <a:latin typeface="Calibri"/>
              <a:ea typeface="DejaVu Sans"/>
            </a:endParaRPr>
          </a:p>
        </p:txBody>
      </p:sp>
      <p:graphicFrame>
        <p:nvGraphicFramePr>
          <p:cNvPr id="287" name="object 14"/>
          <p:cNvGraphicFramePr/>
          <p:nvPr/>
        </p:nvGraphicFramePr>
        <p:xfrm>
          <a:off x="1447920" y="3581280"/>
          <a:ext cx="5028480" cy="3210120"/>
        </p:xfrm>
        <a:graphic>
          <a:graphicData uri="http://schemas.openxmlformats.org/drawingml/2006/table">
            <a:tbl>
              <a:tblPr/>
              <a:tblGrid>
                <a:gridCol w="1046160"/>
                <a:gridCol w="1336320"/>
                <a:gridCol w="2646360"/>
              </a:tblGrid>
              <a:tr h="545760">
                <a:tc>
                  <a:txBody>
                    <a:bodyPr anchor="ctr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1" lang="en-US" sz="20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Id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272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1" lang="en-US" sz="20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Name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9360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1" lang="en-US" sz="20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CountryId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</a:tr>
              <a:tr h="545760">
                <a:tc>
                  <a:txBody>
                    <a:bodyPr anchor="t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0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1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72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000" spc="-21" strike="noStrike">
                          <a:solidFill>
                            <a:srgbClr val="224464"/>
                          </a:solidFill>
                          <a:latin typeface="Calibri"/>
                        </a:rPr>
                        <a:t>Sofia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9360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0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1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472320">
                <a:tc>
                  <a:txBody>
                    <a:bodyPr anchor="t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2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2" strike="noStrike">
                          <a:solidFill>
                            <a:srgbClr val="224464"/>
                          </a:solidFill>
                          <a:latin typeface="Calibri"/>
                        </a:rPr>
                        <a:t>Varna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576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2" strike="noStrike">
                          <a:solidFill>
                            <a:srgbClr val="224464"/>
                          </a:solidFill>
                          <a:latin typeface="Calibri"/>
                        </a:rPr>
                        <a:t>1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472320">
                <a:tc>
                  <a:txBody>
                    <a:bodyPr anchor="t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Munich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576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472320">
                <a:tc>
                  <a:txBody>
                    <a:bodyPr anchor="t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4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Berlin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576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2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472320">
                <a:tc>
                  <a:txBody>
                    <a:bodyPr anchor="t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5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Moscow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576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2808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88" name="AutoShape 7"/>
          <p:cNvSpPr/>
          <p:nvPr/>
        </p:nvSpPr>
        <p:spPr>
          <a:xfrm>
            <a:off x="990720" y="2286000"/>
            <a:ext cx="1980360" cy="837360"/>
          </a:xfrm>
          <a:prstGeom prst="wedgeRoundRectCallout">
            <a:avLst>
              <a:gd name="adj1" fmla="val -2126"/>
              <a:gd name="adj2" fmla="val 105379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rgbClr val="1a334c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Първичен ключ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AutoShape 7"/>
          <p:cNvSpPr/>
          <p:nvPr/>
        </p:nvSpPr>
        <p:spPr>
          <a:xfrm>
            <a:off x="4495680" y="2362320"/>
            <a:ext cx="2056680" cy="837360"/>
          </a:xfrm>
          <a:prstGeom prst="wedgeRoundRectCallout">
            <a:avLst>
              <a:gd name="adj1" fmla="val 2584"/>
              <a:gd name="adj2" fmla="val 100481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rgbClr val="1a334c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Външен ключ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graphicFrame>
        <p:nvGraphicFramePr>
          <p:cNvPr id="290" name="object 14"/>
          <p:cNvGraphicFramePr/>
          <p:nvPr/>
        </p:nvGraphicFramePr>
        <p:xfrm>
          <a:off x="8229600" y="3886200"/>
          <a:ext cx="2818800" cy="2192760"/>
        </p:xfrm>
        <a:graphic>
          <a:graphicData uri="http://schemas.openxmlformats.org/drawingml/2006/table">
            <a:tbl>
              <a:tblPr/>
              <a:tblGrid>
                <a:gridCol w="914400"/>
                <a:gridCol w="1904760"/>
              </a:tblGrid>
              <a:tr h="533160">
                <a:tc>
                  <a:txBody>
                    <a:bodyPr anchor="ctr">
                      <a:noAutofit/>
                    </a:bodyPr>
                    <a:p>
                      <a:pPr marL="2520" algn="ctr"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r>
                        <a:rPr b="1" lang="en-US" sz="20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Id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2808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marL="236160">
                        <a:lnSpc>
                          <a:spcPct val="100000"/>
                        </a:lnSpc>
                        <a:spcBef>
                          <a:spcPts val="660"/>
                        </a:spcBef>
                      </a:pPr>
                      <a:r>
                        <a:rPr b="1" lang="en-US" sz="2000" spc="-7" strike="noStrike">
                          <a:solidFill>
                            <a:srgbClr val="224464"/>
                          </a:solidFill>
                          <a:latin typeface="Calibri"/>
                        </a:rPr>
                        <a:t>Name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ctr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28080">
                      <a:solidFill>
                        <a:srgbClr val="dfe2e9"/>
                      </a:solidFill>
                    </a:lnB>
                    <a:solidFill>
                      <a:srgbClr val="d0d4dc"/>
                    </a:solidFill>
                  </a:tcPr>
                </a:tc>
              </a:tr>
              <a:tr h="607680">
                <a:tc>
                  <a:txBody>
                    <a:bodyPr anchor="t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0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1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72880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b="0" lang="en-US" sz="2000" spc="-21" strike="noStrike">
                          <a:solidFill>
                            <a:srgbClr val="224464"/>
                          </a:solidFill>
                          <a:latin typeface="Calibri"/>
                        </a:rPr>
                        <a:t>Bulgaria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2808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525960">
                <a:tc>
                  <a:txBody>
                    <a:bodyPr anchor="t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24464"/>
                          </a:solidFill>
                          <a:latin typeface="Calibri"/>
                        </a:rPr>
                        <a:t>2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2" strike="noStrike">
                          <a:solidFill>
                            <a:srgbClr val="224464"/>
                          </a:solidFill>
                          <a:latin typeface="Calibri"/>
                        </a:rPr>
                        <a:t>Germany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  <a:tr h="525960">
                <a:tc>
                  <a:txBody>
                    <a:bodyPr anchor="t">
                      <a:noAutofit/>
                    </a:bodyPr>
                    <a:p>
                      <a:pPr marL="4320"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3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2808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261000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b="0" lang="en-US" sz="2000" spc="-1" strike="noStrike">
                          <a:solidFill>
                            <a:srgbClr val="234465"/>
                          </a:solidFill>
                          <a:latin typeface="Calibri"/>
                        </a:rPr>
                        <a:t>Russia</a:t>
                      </a:r>
                      <a:endParaRPr b="0" lang="en-US" sz="20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dfe2e9"/>
                      </a:solidFill>
                    </a:lnL>
                    <a:lnR w="12240">
                      <a:solidFill>
                        <a:srgbClr val="dfe2e9"/>
                      </a:solidFill>
                    </a:lnR>
                    <a:lnT w="12240">
                      <a:solidFill>
                        <a:srgbClr val="dfe2e9"/>
                      </a:solidFill>
                    </a:lnT>
                    <a:lnB w="12240">
                      <a:solidFill>
                        <a:srgbClr val="dfe2e9"/>
                      </a:solidFill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1" name="AutoShape 7"/>
          <p:cNvSpPr/>
          <p:nvPr/>
        </p:nvSpPr>
        <p:spPr>
          <a:xfrm>
            <a:off x="6705720" y="2514600"/>
            <a:ext cx="1904400" cy="837360"/>
          </a:xfrm>
          <a:prstGeom prst="wedgeRoundRectCallout">
            <a:avLst>
              <a:gd name="adj1" fmla="val 42402"/>
              <a:gd name="adj2" fmla="val 127197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rgbClr val="1a334c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Първичен ключ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17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483C25-4030-4E81-8EE2-1F187656096A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07" dur="indefinite" restart="never" nodeType="tmRoot">
          <p:childTnLst>
            <p:seq>
              <p:cTn id="208" dur="indefinite" nodeType="mainSeq">
                <p:childTnLst>
                  <p:par>
                    <p:cTn id="209" fill="hold">
                      <p:stCondLst>
                        <p:cond delay="indefinite"/>
                      </p:stCondLst>
                      <p:childTnLst>
                        <p:par>
                          <p:cTn id="210" fill="hold">
                            <p:stCondLst>
                              <p:cond delay="0"/>
                            </p:stCondLst>
                            <p:childTnLst>
                              <p:par>
                                <p:cTn id="21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3" fill="hold">
                      <p:stCondLst>
                        <p:cond delay="indefinite"/>
                      </p:stCondLst>
                      <p:childTnLst>
                        <p:par>
                          <p:cTn id="214" fill="hold">
                            <p:stCondLst>
                              <p:cond delay="0"/>
                            </p:stCondLst>
                            <p:childTnLst>
                              <p:par>
                                <p:cTn id="21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7" fill="hold">
                      <p:stCondLst>
                        <p:cond delay="indefinite"/>
                      </p:stCondLst>
                      <p:childTnLst>
                        <p:par>
                          <p:cTn id="218" fill="hold">
                            <p:stCondLst>
                              <p:cond delay="0"/>
                            </p:stCondLst>
                            <p:childTnLst>
                              <p:par>
                                <p:cTn id="21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Таблица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Countries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24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Таблица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Cities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Дефиниране на таблици с връзка между тях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Rectangle 3"/>
          <p:cNvSpPr/>
          <p:nvPr/>
        </p:nvSpPr>
        <p:spPr>
          <a:xfrm>
            <a:off x="1295280" y="1905120"/>
            <a:ext cx="9524160" cy="155268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CREATE TABLE 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Countries (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Id INT 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PRIMARY KEY IDENTITY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(1, 1),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Name NVARCHAR(50)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Rectangle 3"/>
          <p:cNvSpPr/>
          <p:nvPr/>
        </p:nvSpPr>
        <p:spPr>
          <a:xfrm>
            <a:off x="821880" y="4267080"/>
            <a:ext cx="10547280" cy="228420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CREATE TABLE 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Cities (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Id INT 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PRIMARY KEY IDENTITY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(1, 1),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Name NVARCHAR(50),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CountryId INT,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	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FOREIGN KEY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(CountryId) 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REFERENCES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Countries(Id)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)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AutoShape 7"/>
          <p:cNvSpPr/>
          <p:nvPr/>
        </p:nvSpPr>
        <p:spPr>
          <a:xfrm>
            <a:off x="9067680" y="4278240"/>
            <a:ext cx="2208960" cy="1142280"/>
          </a:xfrm>
          <a:prstGeom prst="wedgeRoundRectCallout">
            <a:avLst>
              <a:gd name="adj1" fmla="val -46973"/>
              <a:gd name="adj2" fmla="val 80483"/>
              <a:gd name="adj3" fmla="val 16667"/>
            </a:avLst>
          </a:prstGeom>
          <a:solidFill>
            <a:schemeClr val="dk2">
              <a:alpha val="80000"/>
            </a:schemeClr>
          </a:solidFill>
          <a:ln w="19050">
            <a:solidFill>
              <a:srgbClr val="1a334c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bg-BG" sz="2400" spc="-1" strike="noStrike">
                <a:solidFill>
                  <a:srgbClr val="ffffff"/>
                </a:solidFill>
                <a:latin typeface="Calibri"/>
                <a:ea typeface="DejaVu Sans"/>
              </a:rPr>
              <a:t>Референция към </a:t>
            </a:r>
            <a:r>
              <a:rPr b="1" lang="en-US" sz="2400" spc="-1" strike="noStrike">
                <a:solidFill>
                  <a:srgbClr val="ffb840"/>
                </a:solidFill>
                <a:latin typeface="Calibri"/>
                <a:ea typeface="DejaVu Sans"/>
              </a:rPr>
              <a:t>Countries</a:t>
            </a:r>
            <a:endParaRPr b="0" lang="en-US" sz="2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 type="sldNum" idx="18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31F6FD6-65B6-4C4D-8639-7BBDC097D97B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21" dur="indefinite" restart="never" nodeType="tmRoot">
          <p:childTnLst>
            <p:seq>
              <p:cTn id="222" dur="indefinite" nodeType="mainSeq">
                <p:childTnLst>
                  <p:par>
                    <p:cTn id="223" fill="hold">
                      <p:stCondLst>
                        <p:cond delay="indefinite"/>
                      </p:stCondLst>
                      <p:childTnLst>
                        <p:par>
                          <p:cTn id="224" fill="hold">
                            <p:stCondLst>
                              <p:cond delay="0"/>
                            </p:stCondLst>
                            <p:childTnLst>
                              <p:par>
                                <p:cTn id="22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9" fill="hold">
                      <p:stCondLst>
                        <p:cond delay="indefinite"/>
                      </p:stCondLst>
                      <p:childTnLst>
                        <p:par>
                          <p:cTn id="230" fill="hold">
                            <p:stCondLst>
                              <p:cond delay="0"/>
                            </p:stCondLst>
                            <p:childTnLst>
                              <p:par>
                                <p:cTn id="23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sldNum" idx="19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6F0777-0562-4ECA-9450-73C8C68C7A68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13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Когато имаме съществуващи таблици, между които не е дефиниран 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constraint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,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можем да го добавим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по-късно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Връзката може и да се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премахва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rmAutofit fontScale="76000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3800" spc="-1" strike="noStrike">
                <a:solidFill>
                  <a:srgbClr val="ffffff"/>
                </a:solidFill>
                <a:latin typeface="Calibri"/>
              </a:rPr>
              <a:t>Добавяне </a:t>
            </a:r>
            <a:r>
              <a:rPr b="1" lang="en-US" sz="3800" spc="-1" strike="noStrike">
                <a:solidFill>
                  <a:srgbClr val="ffffff"/>
                </a:solidFill>
                <a:latin typeface="Calibri"/>
              </a:rPr>
              <a:t>/ </a:t>
            </a:r>
            <a:r>
              <a:rPr b="1" lang="bg-BG" sz="3800" spc="-1" strike="noStrike">
                <a:solidFill>
                  <a:srgbClr val="ffffff"/>
                </a:solidFill>
                <a:latin typeface="Calibri"/>
              </a:rPr>
              <a:t>премахване на връзка между таблици</a:t>
            </a:r>
            <a:endParaRPr b="0" lang="en-US" sz="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Rectangle 3"/>
          <p:cNvSpPr/>
          <p:nvPr/>
        </p:nvSpPr>
        <p:spPr>
          <a:xfrm>
            <a:off x="765720" y="2971800"/>
            <a:ext cx="10206720" cy="118692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ALTER TABLE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Cities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ADD CONSTRAINT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FK_Cities_Countries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FOREIGN KEY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(CountryId) </a:t>
            </a: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REFERENCES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 Countries(Id);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Rectangle 3"/>
          <p:cNvSpPr/>
          <p:nvPr/>
        </p:nvSpPr>
        <p:spPr>
          <a:xfrm>
            <a:off x="749160" y="5257800"/>
            <a:ext cx="10223280" cy="821160"/>
          </a:xfrm>
          <a:prstGeom prst="rect">
            <a:avLst/>
          </a:prstGeom>
          <a:solidFill>
            <a:schemeClr val="accent5">
              <a:lumMod val="40000"/>
              <a:lumOff val="60000"/>
              <a:alpha val="15000"/>
            </a:schemeClr>
          </a:solidFill>
          <a:ln w="12700">
            <a:solidFill>
              <a:srgbClr val="a3abb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ALTER TABLE </a:t>
            </a:r>
            <a:r>
              <a:rPr b="1" lang="en-US" sz="2400" spc="-1" strike="noStrike">
                <a:solidFill>
                  <a:srgbClr val="234465"/>
                </a:solidFill>
                <a:latin typeface="Consolas"/>
                <a:ea typeface="DejaVu Sans"/>
              </a:rPr>
              <a:t>Cities</a:t>
            </a:r>
            <a:br>
              <a:rPr sz="2400"/>
            </a:br>
            <a:r>
              <a:rPr b="1" lang="en-US" sz="2400" spc="-1" strike="noStrike">
                <a:solidFill>
                  <a:srgbClr val="bf7800"/>
                </a:solidFill>
                <a:latin typeface="Consolas"/>
                <a:ea typeface="DejaVu Sans"/>
              </a:rPr>
              <a:t>DROP CONSTRAINT FK_Cities_Countries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33" dur="indefinite" restart="never" nodeType="tmRoot">
          <p:childTnLst>
            <p:seq>
              <p:cTn id="234" dur="indefinite" nodeType="mainSeq">
                <p:childTnLst>
                  <p:par>
                    <p:cTn id="235" fill="hold">
                      <p:stCondLst>
                        <p:cond delay="0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title"/>
          </p:nvPr>
        </p:nvSpPr>
        <p:spPr>
          <a:xfrm>
            <a:off x="759240" y="4554000"/>
            <a:ext cx="10600920" cy="184104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ru-RU" sz="5390" spc="-1" strike="noStrike">
                <a:solidFill>
                  <a:srgbClr val="234465"/>
                </a:solidFill>
                <a:latin typeface="Calibri"/>
              </a:rPr>
              <a:t>Визуално създаване и свързване на </a:t>
            </a:r>
            <a:r>
              <a:rPr b="1" lang="bg-BG" sz="5390" spc="-1" strike="noStrike">
                <a:solidFill>
                  <a:srgbClr val="234465"/>
                </a:solidFill>
                <a:latin typeface="Calibri"/>
              </a:rPr>
              <a:t>таблици</a:t>
            </a:r>
            <a:r>
              <a:rPr b="1" lang="en-US" sz="539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5390" spc="-1" strike="noStrike">
                <a:solidFill>
                  <a:srgbClr val="234465"/>
                </a:solidFill>
                <a:latin typeface="Calibri"/>
              </a:rPr>
              <a:t>в </a:t>
            </a:r>
            <a:r>
              <a:rPr b="1" lang="en-US" sz="5390" spc="-1" strike="noStrike">
                <a:solidFill>
                  <a:srgbClr val="234465"/>
                </a:solidFill>
                <a:latin typeface="Calibri"/>
              </a:rPr>
              <a:t>SQL Server</a:t>
            </a:r>
            <a:endParaRPr b="0" lang="en-US" sz="5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icture 9"/>
          <p:cNvSpPr/>
          <p:nvPr/>
        </p:nvSpPr>
        <p:spPr>
          <a:xfrm>
            <a:off x="4532400" y="1089000"/>
            <a:ext cx="3126960" cy="3126960"/>
          </a:xfrm>
          <a:prstGeom prst="flowChartConnector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sldNum" idx="20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2E95175-4A1B-4646-B344-4A55B3EA53D3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Натиснете с </a:t>
            </a:r>
            <a:r>
              <a:rPr b="1" lang="bg-BG" sz="3600" spc="-1" strike="noStrike">
                <a:solidFill>
                  <a:srgbClr val="234465"/>
                </a:solidFill>
                <a:latin typeface="Calibri"/>
              </a:rPr>
              <a:t>десния бутон 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върху базата данни, в която ще създадете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таблици</a:t>
            </a:r>
            <a:r>
              <a:rPr b="0" lang="en-US" sz="36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и я разгънете чрез </a:t>
            </a:r>
            <a:r>
              <a:rPr b="0" lang="en-US" sz="36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600" spc="-1" strike="noStrike">
                <a:solidFill>
                  <a:srgbClr val="234465"/>
                </a:solidFill>
                <a:latin typeface="Consolas"/>
              </a:rPr>
              <a:t>+</a:t>
            </a:r>
            <a:r>
              <a:rPr b="0" lang="en-US" sz="3600" spc="-1" strike="noStrike">
                <a:solidFill>
                  <a:srgbClr val="234465"/>
                </a:solidFill>
                <a:latin typeface="Calibri"/>
              </a:rPr>
              <a:t>"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Изберете 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</a:rPr>
              <a:t>New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] -&gt; [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</a:rPr>
              <a:t>Table…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]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42800"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42800"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442800"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таблици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09" name="Picture 9" descr=""/>
          <p:cNvPicPr/>
          <p:nvPr/>
        </p:nvPicPr>
        <p:blipFill>
          <a:blip r:embed="rId1"/>
          <a:stretch/>
        </p:blipFill>
        <p:spPr>
          <a:xfrm>
            <a:off x="1566360" y="3212640"/>
            <a:ext cx="9058320" cy="329364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sp>
        <p:nvSpPr>
          <p:cNvPr id="310" name="Rectangle: Rounded Corners 10"/>
          <p:cNvSpPr/>
          <p:nvPr/>
        </p:nvSpPr>
        <p:spPr>
          <a:xfrm>
            <a:off x="5735880" y="4173120"/>
            <a:ext cx="3509280" cy="31428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45" dur="indefinite" restart="never" nodeType="tmRoot">
          <p:childTnLst>
            <p:seq>
              <p:cTn id="246" dur="indefinite" nodeType="mainSeq">
                <p:childTnLst>
                  <p:par>
                    <p:cTn id="247" fill="hold">
                      <p:stCondLst>
                        <p:cond delay="indefinite"/>
                      </p:stCondLst>
                      <p:childTnLst>
                        <p:par>
                          <p:cTn id="248" fill="hold">
                            <p:stCondLst>
                              <p:cond delay="0"/>
                            </p:stCondLst>
                            <p:childTnLst>
                              <p:par>
                                <p:cTn id="2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1" fill="hold">
                      <p:stCondLst>
                        <p:cond delay="indefinite"/>
                      </p:stCondLst>
                      <p:childTnLst>
                        <p:par>
                          <p:cTn id="252" fill="hold">
                            <p:stCondLst>
                              <p:cond delay="0"/>
                            </p:stCondLst>
                            <p:childTnLst>
                              <p:par>
                                <p:cTn id="2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PlaceHolder 1"/>
          <p:cNvSpPr>
            <a:spLocks noGrp="1"/>
          </p:cNvSpPr>
          <p:nvPr>
            <p:ph type="sldNum" idx="21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6B3101-44FB-44A3-896E-5C976080FB23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2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Създайте колона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Id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 за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типа данни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изберете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int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Нека добавим още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колони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в таблицата: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таблици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4" name="Picture 7" descr=""/>
          <p:cNvPicPr/>
          <p:nvPr/>
        </p:nvPicPr>
        <p:blipFill>
          <a:blip r:embed="rId1"/>
          <a:stretch/>
        </p:blipFill>
        <p:spPr>
          <a:xfrm>
            <a:off x="1975320" y="1989720"/>
            <a:ext cx="8240760" cy="110520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pic>
        <p:nvPicPr>
          <p:cNvPr id="315" name="Picture 5" descr=""/>
          <p:cNvPicPr/>
          <p:nvPr/>
        </p:nvPicPr>
        <p:blipFill>
          <a:blip r:embed="rId2"/>
          <a:stretch/>
        </p:blipFill>
        <p:spPr>
          <a:xfrm>
            <a:off x="2513520" y="3965040"/>
            <a:ext cx="7164000" cy="256464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55" dur="indefinite" restart="never" nodeType="tmRoot">
          <p:childTnLst>
            <p:seq>
              <p:cTn id="256" dur="indefinite" nodeType="mainSeq">
                <p:childTnLst>
                  <p:par>
                    <p:cTn id="257" fill="hold">
                      <p:stCondLst>
                        <p:cond delay="indefinite"/>
                      </p:stCondLst>
                      <p:childTnLst>
                        <p:par>
                          <p:cTn id="258" fill="hold">
                            <p:stCondLst>
                              <p:cond delay="0"/>
                            </p:stCondLst>
                            <p:childTnLst>
                              <p:par>
                                <p:cTn id="2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1" fill="hold">
                      <p:stCondLst>
                        <p:cond delay="indefinite"/>
                      </p:stCondLst>
                      <p:childTnLst>
                        <p:par>
                          <p:cTn id="262" fill="hold">
                            <p:stCondLst>
                              <p:cond delay="0"/>
                            </p:stCondLst>
                            <p:childTnLst>
                              <p:par>
                                <p:cTn id="26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Num" idx="22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9A0C6C6-91EB-4581-8515-3F5E24423573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75472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Сега нека направим колоната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Id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първичен ключ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С </a:t>
            </a:r>
            <a:r>
              <a:rPr b="1" lang="bg-BG" sz="3200" spc="-1" strike="noStrike">
                <a:solidFill>
                  <a:srgbClr val="234465"/>
                </a:solidFill>
                <a:latin typeface="Calibri"/>
              </a:rPr>
              <a:t>десния бутон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натискаме вурху името на колоната и избираме 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</a:rPr>
              <a:t>Set Primary Key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]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таблици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(3)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19" name="Picture 5" descr=""/>
          <p:cNvPicPr/>
          <p:nvPr/>
        </p:nvPicPr>
        <p:blipFill>
          <a:blip r:embed="rId1"/>
          <a:stretch/>
        </p:blipFill>
        <p:spPr>
          <a:xfrm>
            <a:off x="939240" y="3302280"/>
            <a:ext cx="10312920" cy="255636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65" dur="indefinite" restart="never" nodeType="tmRoot">
          <p:childTnLst>
            <p:seq>
              <p:cTn id="266" dur="indefinite" nodeType="mainSeq">
                <p:childTnLst>
                  <p:par>
                    <p:cTn id="267" fill="hold">
                      <p:stCondLst>
                        <p:cond delay="indefinite"/>
                      </p:stCondLst>
                      <p:childTnLst>
                        <p:par>
                          <p:cTn id="268" fill="hold">
                            <p:stCondLst>
                              <p:cond delay="0"/>
                            </p:stCondLst>
                            <p:childTnLst>
                              <p:par>
                                <p:cTn id="2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1" fill="hold">
                      <p:stCondLst>
                        <p:cond delay="indefinite"/>
                      </p:stCondLst>
                      <p:childTnLst>
                        <p:par>
                          <p:cTn id="272" fill="hold">
                            <p:stCondLst>
                              <p:cond delay="0"/>
                            </p:stCondLst>
                            <p:childTnLst>
                              <p:par>
                                <p:cTn id="27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sldNum" idx="23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064CD2A-05B6-4CAE-9F53-8570CDCF6DC8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747972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За да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запазим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таблицата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,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натискаме с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десния бутон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върху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сегашния прозорец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 избираме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Save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]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Задаваме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име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на таблицата: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таблици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(4)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3" name="Picture 5" descr=""/>
          <p:cNvPicPr/>
          <p:nvPr/>
        </p:nvPicPr>
        <p:blipFill>
          <a:blip r:embed="rId1"/>
          <a:stretch/>
        </p:blipFill>
        <p:spPr>
          <a:xfrm>
            <a:off x="7175880" y="2167920"/>
            <a:ext cx="4414320" cy="355428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pic>
        <p:nvPicPr>
          <p:cNvPr id="324" name="Picture 7" descr=""/>
          <p:cNvPicPr/>
          <p:nvPr/>
        </p:nvPicPr>
        <p:blipFill>
          <a:blip r:embed="rId2"/>
          <a:stretch/>
        </p:blipFill>
        <p:spPr>
          <a:xfrm>
            <a:off x="490320" y="4104000"/>
            <a:ext cx="5649840" cy="215928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sp>
        <p:nvSpPr>
          <p:cNvPr id="325" name="Rectangle: Rounded Corners 8"/>
          <p:cNvSpPr/>
          <p:nvPr/>
        </p:nvSpPr>
        <p:spPr>
          <a:xfrm>
            <a:off x="8345880" y="2394000"/>
            <a:ext cx="2924280" cy="26928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75" dur="indefinite" restart="never" nodeType="tmRoot">
          <p:childTnLst>
            <p:seq>
              <p:cTn id="276" dur="indefinite" nodeType="mainSeq">
                <p:childTnLst>
                  <p:par>
                    <p:cTn id="277" fill="hold">
                      <p:stCondLst>
                        <p:cond delay="indefinite"/>
                      </p:stCondLst>
                      <p:childTnLst>
                        <p:par>
                          <p:cTn id="278" fill="hold">
                            <p:stCondLst>
                              <p:cond delay="0"/>
                            </p:stCondLst>
                            <p:childTnLst>
                              <p:par>
                                <p:cTn id="27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1" fill="hold">
                      <p:stCondLst>
                        <p:cond delay="indefinite"/>
                      </p:stCondLst>
                      <p:childTnLst>
                        <p:par>
                          <p:cTn id="282" fill="hold">
                            <p:stCondLst>
                              <p:cond delay="0"/>
                            </p:stCondLst>
                            <p:childTnLst>
                              <p:par>
                                <p:cTn id="2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5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Num" idx="24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6A2522B-06F3-4840-ABAB-5416D2028893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Създаваме още една таблица с името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Enrollments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, която ще съдържа следните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колони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таблици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(5)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29" name="Picture 8" descr=""/>
          <p:cNvPicPr/>
          <p:nvPr/>
        </p:nvPicPr>
        <p:blipFill>
          <a:blip r:embed="rId1"/>
          <a:stretch/>
        </p:blipFill>
        <p:spPr>
          <a:xfrm>
            <a:off x="2716200" y="2951280"/>
            <a:ext cx="6758640" cy="281700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sldNum" idx="25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1A93FAE-800D-4060-85F4-3D2C1C4453B1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Натиснете с десния бутон върху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Database Diagrams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 изберете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New Database Diagram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]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По този начин ще създадем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диаграма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на нашата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база данни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Тя ще визуализира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таблиците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с техните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колони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връзка между таблици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3" name="Picture 9" descr=""/>
          <p:cNvPicPr/>
          <p:nvPr/>
        </p:nvPicPr>
        <p:blipFill>
          <a:blip r:embed="rId1"/>
          <a:stretch/>
        </p:blipFill>
        <p:spPr>
          <a:xfrm>
            <a:off x="4052520" y="2529000"/>
            <a:ext cx="4086000" cy="248148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87" dur="indefinite" restart="never" nodeType="tmRoot">
          <p:childTnLst>
            <p:seq>
              <p:cTn id="288" dur="indefinite" nodeType="mainSeq">
                <p:childTnLst>
                  <p:par>
                    <p:cTn id="289" fill="hold">
                      <p:stCondLst>
                        <p:cond delay="indefinite"/>
                      </p:stCondLst>
                      <p:childTnLst>
                        <p:par>
                          <p:cTn id="290" fill="hold">
                            <p:stCondLst>
                              <p:cond delay="0"/>
                            </p:stCondLst>
                            <p:childTnLst>
                              <p:par>
                                <p:cTn id="29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3" fill="hold">
                      <p:stCondLst>
                        <p:cond delay="indefinite"/>
                      </p:stCondLst>
                      <p:childTnLst>
                        <p:par>
                          <p:cTn id="294" fill="hold">
                            <p:stCondLst>
                              <p:cond delay="0"/>
                            </p:stCondLst>
                            <p:childTnLst>
                              <p:par>
                                <p:cTn id="29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sldNum" idx="26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5A4019D-A1D0-44F7-B5A9-0F1303F8AE32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18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Селектираме и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двете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таблици, след което натискаме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Add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]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връзка между таблици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37" name="Picture 6" descr=""/>
          <p:cNvPicPr/>
          <p:nvPr/>
        </p:nvPicPr>
        <p:blipFill>
          <a:blip r:embed="rId1"/>
          <a:stretch/>
        </p:blipFill>
        <p:spPr>
          <a:xfrm>
            <a:off x="2675880" y="2484000"/>
            <a:ext cx="6839280" cy="3511440"/>
          </a:xfrm>
          <a:prstGeom prst="rect">
            <a:avLst/>
          </a:prstGeom>
          <a:ln w="0">
            <a:noFill/>
          </a:ln>
        </p:spPr>
      </p:pic>
      <p:sp>
        <p:nvSpPr>
          <p:cNvPr id="338" name="Rectangle: Rounded Corners 7"/>
          <p:cNvSpPr/>
          <p:nvPr/>
        </p:nvSpPr>
        <p:spPr>
          <a:xfrm>
            <a:off x="6635880" y="5384160"/>
            <a:ext cx="1349280" cy="38412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297" dur="indefinite" restart="never" nodeType="tmRoot">
          <p:childTnLst>
            <p:seq>
              <p:cTn id="298" dur="indefinite" nodeType="mainSeq">
                <p:childTnLst>
                  <p:par>
                    <p:cTn id="299" fill="hold">
                      <p:stCondLst>
                        <p:cond delay="indefinite"/>
                      </p:stCondLst>
                      <p:childTnLst>
                        <p:par>
                          <p:cTn id="300" fill="hold">
                            <p:stCondLst>
                              <p:cond delay="0"/>
                            </p:stCondLst>
                            <p:childTnLst>
                              <p:par>
                                <p:cTn id="30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sldNum" idx="27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C79723-CF09-4D63-B7F9-10244F6D4F84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Визуализират се таблиците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Students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и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Enrollments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 момента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няма връзка между тях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 предстои я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създадем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връзка между таблици (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3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2" name="Picture 5" descr=""/>
          <p:cNvPicPr/>
          <p:nvPr/>
        </p:nvPicPr>
        <p:blipFill>
          <a:blip r:embed="rId1"/>
          <a:stretch/>
        </p:blipFill>
        <p:spPr>
          <a:xfrm>
            <a:off x="957960" y="2061720"/>
            <a:ext cx="10275480" cy="388656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03" dur="indefinite" restart="never" nodeType="tmRoot">
          <p:childTnLst>
            <p:seq>
              <p:cTn id="304" dur="indefinite" nodeType="mainSeq">
                <p:childTnLst>
                  <p:par>
                    <p:cTn id="305" fill="hold">
                      <p:stCondLst>
                        <p:cond delay="indefinite"/>
                      </p:stCondLst>
                      <p:childTnLst>
                        <p:par>
                          <p:cTn id="306" fill="hold">
                            <p:stCondLst>
                              <p:cond delay="0"/>
                            </p:stCondLst>
                            <p:childTnLst>
                              <p:par>
                                <p:cTn id="30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sldNum" idx="28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4F5895-DCAF-453A-963A-C3CFBEEBBE8E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Натискаме върху колоната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StudentId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 таблицата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Enrollments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задържаме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с мишката върху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стрелката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, която се показва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След това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движим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прекъснатата лента до колоната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Id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 таблицата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Students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връзка между таблици (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4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46" name="Picture 5" descr=""/>
          <p:cNvPicPr/>
          <p:nvPr/>
        </p:nvPicPr>
        <p:blipFill>
          <a:blip r:embed="rId1"/>
          <a:stretch/>
        </p:blipFill>
        <p:spPr>
          <a:xfrm>
            <a:off x="988560" y="4284000"/>
            <a:ext cx="2568600" cy="223200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pic>
        <p:nvPicPr>
          <p:cNvPr id="347" name="Picture 7" descr=""/>
          <p:cNvPicPr/>
          <p:nvPr/>
        </p:nvPicPr>
        <p:blipFill>
          <a:blip r:embed="rId2"/>
          <a:stretch/>
        </p:blipFill>
        <p:spPr>
          <a:xfrm>
            <a:off x="5461200" y="4284000"/>
            <a:ext cx="5763960" cy="223200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sp>
        <p:nvSpPr>
          <p:cNvPr id="348" name="Arrow: Right 8"/>
          <p:cNvSpPr/>
          <p:nvPr/>
        </p:nvSpPr>
        <p:spPr>
          <a:xfrm>
            <a:off x="4199760" y="5222520"/>
            <a:ext cx="619200" cy="3549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dk2">
              <a:alpha val="80000"/>
            </a:schemeClr>
          </a:solidFill>
          <a:ln w="19050">
            <a:solidFill>
              <a:srgbClr val="1a334c">
                <a:alpha val="80000"/>
              </a:srgbClr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001">
            <a:schemeClr val="dk2"/>
          </a:fillRef>
          <a:effectRef idx="0">
            <a:schemeClr val="accent1"/>
          </a:effectRef>
          <a:fontRef idx="minor"/>
        </p:style>
        <p:txBody>
          <a:bodyPr numCol="1" spcCol="0" horzOverflow="overflow" vertOverflow="overflow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fffff"/>
              </a:solidFill>
              <a:latin typeface="Calibri"/>
              <a:ea typeface="DejaVu Sans"/>
            </a:endParaRPr>
          </a:p>
        </p:txBody>
      </p:sp>
      <p:sp>
        <p:nvSpPr>
          <p:cNvPr id="349" name="Rectangle: Rounded Corners 9"/>
          <p:cNvSpPr/>
          <p:nvPr/>
        </p:nvSpPr>
        <p:spPr>
          <a:xfrm>
            <a:off x="1040760" y="5613480"/>
            <a:ext cx="352080" cy="33156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  <p:sp>
        <p:nvSpPr>
          <p:cNvPr id="350" name="Rectangle: Rounded Corners 10"/>
          <p:cNvSpPr/>
          <p:nvPr/>
        </p:nvSpPr>
        <p:spPr>
          <a:xfrm>
            <a:off x="8818560" y="4735080"/>
            <a:ext cx="2294280" cy="33156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09" dur="indefinite" restart="never" nodeType="tmRoot">
          <p:childTnLst>
            <p:seq>
              <p:cTn id="310" dur="indefinite" nodeType="mainSeq">
                <p:childTnLst>
                  <p:par>
                    <p:cTn id="311" fill="hold">
                      <p:stCondLst>
                        <p:cond delay="indefinite"/>
                      </p:stCondLst>
                      <p:childTnLst>
                        <p:par>
                          <p:cTn id="312" fill="hold">
                            <p:stCondLst>
                              <p:cond delay="0"/>
                            </p:stCondLst>
                            <p:childTnLst>
                              <p:par>
                                <p:cTn id="3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5" fill="hold">
                      <p:stCondLst>
                        <p:cond delay="indefinite"/>
                      </p:stCondLst>
                      <p:childTnLst>
                        <p:par>
                          <p:cTn id="316" fill="hold">
                            <p:stCondLst>
                              <p:cond delay="0"/>
                            </p:stCondLst>
                            <p:childTnLst>
                              <p:par>
                                <p:cTn id="3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9" fill="hold">
                      <p:stCondLst>
                        <p:cond delay="indefinite"/>
                      </p:stCondLst>
                      <p:childTnLst>
                        <p:par>
                          <p:cTn id="320" fill="hold">
                            <p:stCondLst>
                              <p:cond delay="0"/>
                            </p:stCondLst>
                            <p:childTnLst>
                              <p:par>
                                <p:cTn id="3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5" fill="hold">
                      <p:stCondLst>
                        <p:cond delay="indefinite"/>
                      </p:stCondLst>
                      <p:childTnLst>
                        <p:par>
                          <p:cTn id="326" fill="hold">
                            <p:stCondLst>
                              <p:cond delay="0"/>
                            </p:stCondLst>
                            <p:childTnLst>
                              <p:par>
                                <p:cTn id="32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sldNum" idx="29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3FE1EF6-B203-48D2-B4A7-DDE8F467CB4E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155880" y="1196280"/>
            <a:ext cx="1192932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Натискаме върху 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</a:rPr>
              <a:t>OK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],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за да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създадем релацията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с даденото име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2800" spc="-1" strike="noStrike">
                <a:solidFill>
                  <a:srgbClr val="234465"/>
                </a:solidFill>
                <a:latin typeface="Calibri"/>
              </a:rPr>
              <a:t>Натискаме </a:t>
            </a:r>
            <a:r>
              <a:rPr b="0" lang="en-US" sz="28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</a:rPr>
              <a:t>OK</a:t>
            </a:r>
            <a:r>
              <a:rPr b="0" lang="en-US" sz="2800" spc="-1" strike="noStrike">
                <a:solidFill>
                  <a:srgbClr val="234465"/>
                </a:solidFill>
                <a:latin typeface="Calibri"/>
              </a:rPr>
              <a:t>], </a:t>
            </a:r>
            <a:r>
              <a:rPr b="0" lang="bg-BG" sz="2800" spc="-1" strike="noStrike">
                <a:solidFill>
                  <a:srgbClr val="234465"/>
                </a:solidFill>
                <a:latin typeface="Calibri"/>
              </a:rPr>
              <a:t>за да </a:t>
            </a:r>
            <a:r>
              <a:rPr b="1" lang="bg-BG" sz="2800" spc="-1" strike="noStrike">
                <a:solidFill>
                  <a:srgbClr val="bf7800"/>
                </a:solidFill>
                <a:latin typeface="Calibri"/>
              </a:rPr>
              <a:t>изпълним свързването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връзка между таблици (5)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54" name="Picture 5" descr=""/>
          <p:cNvPicPr/>
          <p:nvPr/>
        </p:nvPicPr>
        <p:blipFill>
          <a:blip r:embed="rId1"/>
          <a:stretch/>
        </p:blipFill>
        <p:spPr>
          <a:xfrm>
            <a:off x="335880" y="2830680"/>
            <a:ext cx="4870440" cy="370260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sp>
        <p:nvSpPr>
          <p:cNvPr id="355" name="Rectangle: Rounded Corners 6"/>
          <p:cNvSpPr/>
          <p:nvPr/>
        </p:nvSpPr>
        <p:spPr>
          <a:xfrm>
            <a:off x="3440880" y="6174000"/>
            <a:ext cx="764280" cy="22428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  <p:pic>
        <p:nvPicPr>
          <p:cNvPr id="356" name="Picture 8" descr=""/>
          <p:cNvPicPr/>
          <p:nvPr/>
        </p:nvPicPr>
        <p:blipFill>
          <a:blip r:embed="rId2"/>
          <a:stretch/>
        </p:blipFill>
        <p:spPr>
          <a:xfrm>
            <a:off x="5947920" y="2799000"/>
            <a:ext cx="5798880" cy="371628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sp>
        <p:nvSpPr>
          <p:cNvPr id="357" name="Rectangle: Rounded Corners 9"/>
          <p:cNvSpPr/>
          <p:nvPr/>
        </p:nvSpPr>
        <p:spPr>
          <a:xfrm>
            <a:off x="10011960" y="6129000"/>
            <a:ext cx="764280" cy="22428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29" dur="indefinite" restart="never" nodeType="tmRoot">
          <p:childTnLst>
            <p:seq>
              <p:cTn id="330" dur="indefinite" nodeType="mainSeq">
                <p:childTnLst>
                  <p:par>
                    <p:cTn id="331" fill="hold">
                      <p:stCondLst>
                        <p:cond delay="indefinite"/>
                      </p:stCondLst>
                      <p:childTnLst>
                        <p:par>
                          <p:cTn id="332" fill="hold">
                            <p:stCondLst>
                              <p:cond delay="0"/>
                            </p:stCondLst>
                            <p:childTnLst>
                              <p:par>
                                <p:cTn id="33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5" fill="hold">
                      <p:stCondLst>
                        <p:cond delay="indefinite"/>
                      </p:stCondLst>
                      <p:childTnLst>
                        <p:par>
                          <p:cTn id="336" fill="hold">
                            <p:stCondLst>
                              <p:cond delay="0"/>
                            </p:stCondLst>
                            <p:childTnLst>
                              <p:par>
                                <p:cTn id="33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9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1" fill="hold">
                      <p:stCondLst>
                        <p:cond delay="indefinite"/>
                      </p:stCondLst>
                      <p:childTnLst>
                        <p:par>
                          <p:cTn id="342" fill="hold">
                            <p:stCondLst>
                              <p:cond delay="0"/>
                            </p:stCondLst>
                            <p:childTnLst>
                              <p:par>
                                <p:cTn id="34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sldNum" idx="30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FFCAF4-79AF-402A-B1A7-099A1F38F961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Сега избираме от </a:t>
            </a:r>
            <a:r>
              <a:rPr b="1" lang="en-US" sz="3400" spc="-1" strike="noStrike">
                <a:solidFill>
                  <a:srgbClr val="bf7800"/>
                </a:solidFill>
                <a:latin typeface="Calibri"/>
              </a:rPr>
              <a:t>Object Explorer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Tables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] -&gt;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десен бутон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върху таблицата 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Enrollments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Design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]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връзка между таблици (6)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1" name="Picture 5" descr=""/>
          <p:cNvPicPr/>
          <p:nvPr/>
        </p:nvPicPr>
        <p:blipFill>
          <a:blip r:embed="rId1"/>
          <a:stretch/>
        </p:blipFill>
        <p:spPr>
          <a:xfrm>
            <a:off x="3182760" y="2512440"/>
            <a:ext cx="5825880" cy="399384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Num" idx="31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9F809D-B1B8-4CC0-9B1B-451F8135F3DF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Натискаме с </a:t>
            </a:r>
            <a:r>
              <a:rPr b="1" lang="bg-BG" sz="3400" spc="-1" strike="noStrike">
                <a:solidFill>
                  <a:srgbClr val="234465"/>
                </a:solidFill>
                <a:latin typeface="Calibri"/>
              </a:rPr>
              <a:t>десен бутон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извън таблицата и избираме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Relationships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]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връзка между таблици (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7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5" name="Picture 5" descr=""/>
          <p:cNvPicPr/>
          <p:nvPr/>
        </p:nvPicPr>
        <p:blipFill>
          <a:blip r:embed="rId1"/>
          <a:stretch/>
        </p:blipFill>
        <p:spPr>
          <a:xfrm>
            <a:off x="1999440" y="2480040"/>
            <a:ext cx="8192520" cy="401364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sldNum" idx="32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EF767F-C031-4FB2-9733-8C03534925B6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/>
          </p:nvPr>
        </p:nvSpPr>
        <p:spPr>
          <a:xfrm>
            <a:off x="-24120" y="1126800"/>
            <a:ext cx="1247328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Показана е новосъздадената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връзка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FK_Enrollments_Students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Това означава, че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успешно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сме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свързали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 двете таблици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Създаване на връзка между таблици (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8</a:t>
            </a: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69" name="Picture 5" descr=""/>
          <p:cNvPicPr/>
          <p:nvPr/>
        </p:nvPicPr>
        <p:blipFill>
          <a:blip r:embed="rId1"/>
          <a:stretch/>
        </p:blipFill>
        <p:spPr>
          <a:xfrm>
            <a:off x="2894040" y="2422080"/>
            <a:ext cx="6403320" cy="4084200"/>
          </a:xfrm>
          <a:prstGeom prst="rect">
            <a:avLst/>
          </a:prstGeom>
          <a:ln w="0">
            <a:noFill/>
          </a:ln>
        </p:spPr>
      </p:pic>
      <p:sp>
        <p:nvSpPr>
          <p:cNvPr id="370" name="Rectangle: Rounded Corners 6"/>
          <p:cNvSpPr/>
          <p:nvPr/>
        </p:nvSpPr>
        <p:spPr>
          <a:xfrm>
            <a:off x="3080880" y="3069000"/>
            <a:ext cx="1394280" cy="22428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45" dur="indefinite" restart="never" nodeType="tmRoot">
          <p:childTnLst>
            <p:seq>
              <p:cTn id="346" dur="indefinite" nodeType="mainSeq">
                <p:childTnLst>
                  <p:par>
                    <p:cTn id="347" fill="hold">
                      <p:stCondLst>
                        <p:cond delay="indefinite"/>
                      </p:stCondLst>
                      <p:childTnLst>
                        <p:par>
                          <p:cTn id="348" fill="hold">
                            <p:stCondLst>
                              <p:cond delay="0"/>
                            </p:stCondLst>
                            <p:childTnLst>
                              <p:par>
                                <p:cTn id="34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1" fill="hold">
                      <p:stCondLst>
                        <p:cond delay="indefinite"/>
                      </p:stCondLst>
                      <p:childTnLst>
                        <p:par>
                          <p:cTn id="352" fill="hold">
                            <p:stCondLst>
                              <p:cond delay="0"/>
                            </p:stCondLst>
                            <p:childTnLst>
                              <p:par>
                                <p:cTn id="35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2692800" y="4651560"/>
            <a:ext cx="6805800" cy="16455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5390" spc="-1" strike="noStrike">
                <a:solidFill>
                  <a:srgbClr val="234465"/>
                </a:solidFill>
                <a:latin typeface="Calibri"/>
              </a:rPr>
              <a:t>Визуално попълване на данни в таблици</a:t>
            </a:r>
            <a:endParaRPr b="0" lang="en-US" sz="539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icture 4"/>
          <p:cNvSpPr/>
          <p:nvPr/>
        </p:nvSpPr>
        <p:spPr>
          <a:xfrm>
            <a:off x="4674960" y="1242720"/>
            <a:ext cx="2770560" cy="2770560"/>
          </a:xfrm>
          <a:prstGeom prst="ellipse">
            <a:avLst/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sldNum" idx="33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5D536B2-7706-484C-B8B3-89117B8D8D7F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Натиснете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с десен бутон върху таблицата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Students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и изберете опцията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Edit Top 200 Rows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]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Попълване на данни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(1)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76" name="Picture 5" descr=""/>
          <p:cNvPicPr/>
          <p:nvPr/>
        </p:nvPicPr>
        <p:blipFill>
          <a:blip r:embed="rId1"/>
          <a:stretch/>
        </p:blipFill>
        <p:spPr>
          <a:xfrm>
            <a:off x="4161600" y="2619000"/>
            <a:ext cx="3868200" cy="371772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sp>
        <p:nvSpPr>
          <p:cNvPr id="377" name="Rectangle: Rounded Corners 6"/>
          <p:cNvSpPr/>
          <p:nvPr/>
        </p:nvSpPr>
        <p:spPr>
          <a:xfrm>
            <a:off x="5600880" y="5499000"/>
            <a:ext cx="2339280" cy="224280"/>
          </a:xfrm>
          <a:prstGeom prst="roundRect">
            <a:avLst>
              <a:gd name="adj" fmla="val 5385"/>
            </a:avLst>
          </a:prstGeom>
          <a:noFill/>
          <a:ln w="57150">
            <a:solidFill>
              <a:srgbClr val="234465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endParaRPr b="1" lang="en-US" sz="2800" spc="-1" strike="noStrike">
              <a:solidFill>
                <a:srgbClr val="fbeedc"/>
              </a:solidFill>
              <a:latin typeface="Consolas"/>
              <a:ea typeface="DejaVu Sans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55" dur="indefinite" restart="never" nodeType="tmRoot">
          <p:childTnLst>
            <p:seq>
              <p:cTn id="356" dur="indefinite" nodeType="mainSeq">
                <p:childTnLst>
                  <p:par>
                    <p:cTn id="357" fill="hold">
                      <p:stCondLst>
                        <p:cond delay="indefinite"/>
                      </p:stCondLst>
                      <p:childTnLst>
                        <p:par>
                          <p:cTn id="358" fill="hold">
                            <p:stCondLst>
                              <p:cond delay="0"/>
                            </p:stCondLst>
                            <p:childTnLst>
                              <p:par>
                                <p:cTn id="35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sldNum" idx="34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4CB1813-3C22-4619-A279-58E6D2BEE23B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9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В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полетата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,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където пише </a:t>
            </a:r>
            <a:r>
              <a:rPr b="1" lang="en-US" sz="3200" spc="-1" strike="noStrike">
                <a:solidFill>
                  <a:srgbClr val="234465"/>
                </a:solidFill>
                <a:latin typeface="Consolas"/>
              </a:rPr>
              <a:t>NULL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,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можем да </a:t>
            </a:r>
            <a:r>
              <a:rPr b="1" lang="bg-BG" sz="3200" spc="-1" strike="noStrike">
                <a:solidFill>
                  <a:srgbClr val="bf7800"/>
                </a:solidFill>
                <a:latin typeface="Calibri"/>
              </a:rPr>
              <a:t>добавяме данни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за съответните колони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000" spc="-1" strike="noStrike">
                <a:solidFill>
                  <a:srgbClr val="234465"/>
                </a:solidFill>
                <a:latin typeface="Calibri"/>
              </a:rPr>
              <a:t>Те трябва да бъдат от </a:t>
            </a:r>
            <a:r>
              <a:rPr b="1" lang="bg-BG" sz="3000" spc="-1" strike="noStrike">
                <a:solidFill>
                  <a:srgbClr val="bf7800"/>
                </a:solidFill>
                <a:latin typeface="Calibri"/>
              </a:rPr>
              <a:t>съответния</a:t>
            </a:r>
            <a:r>
              <a:rPr b="0" lang="bg-BG" sz="30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000" spc="-1" strike="noStrike">
                <a:solidFill>
                  <a:srgbClr val="bf7800"/>
                </a:solidFill>
                <a:latin typeface="Calibri"/>
              </a:rPr>
              <a:t>тип</a:t>
            </a:r>
            <a:r>
              <a:rPr b="0" lang="bg-BG" sz="3000" spc="-1" strike="noStrike">
                <a:solidFill>
                  <a:srgbClr val="234465"/>
                </a:solidFill>
                <a:latin typeface="Calibri"/>
              </a:rPr>
              <a:t> на </a:t>
            </a:r>
            <a:r>
              <a:rPr b="1" lang="bg-BG" sz="3000" spc="-1" strike="noStrike">
                <a:solidFill>
                  <a:srgbClr val="bf7800"/>
                </a:solidFill>
                <a:latin typeface="Calibri"/>
              </a:rPr>
              <a:t>колоната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000" spc="-1" strike="noStrike">
                <a:solidFill>
                  <a:srgbClr val="234465"/>
                </a:solidFill>
                <a:latin typeface="Calibri"/>
              </a:rPr>
              <a:t>Натиснете </a:t>
            </a:r>
            <a:r>
              <a:rPr b="0" lang="en-US" sz="3000" spc="-1" strike="noStrike">
                <a:solidFill>
                  <a:srgbClr val="234465"/>
                </a:solidFill>
                <a:latin typeface="Calibri"/>
              </a:rPr>
              <a:t>[</a:t>
            </a:r>
            <a:r>
              <a:rPr b="1" lang="en-US" sz="3000" spc="-1" strike="noStrike">
                <a:solidFill>
                  <a:srgbClr val="234465"/>
                </a:solidFill>
                <a:latin typeface="Calibri"/>
              </a:rPr>
              <a:t>Enter</a:t>
            </a:r>
            <a:r>
              <a:rPr b="0" lang="en-US" sz="3000" spc="-1" strike="noStrike">
                <a:solidFill>
                  <a:srgbClr val="234465"/>
                </a:solidFill>
                <a:latin typeface="Calibri"/>
              </a:rPr>
              <a:t>]</a:t>
            </a:r>
            <a:r>
              <a:rPr b="0" lang="bg-BG" sz="3000" spc="-1" strike="noStrike">
                <a:solidFill>
                  <a:srgbClr val="234465"/>
                </a:solidFill>
                <a:latin typeface="Calibri"/>
              </a:rPr>
              <a:t>, когато сте </a:t>
            </a:r>
            <a:r>
              <a:rPr b="1" lang="bg-BG" sz="3000" spc="-1" strike="noStrike">
                <a:solidFill>
                  <a:srgbClr val="bf7800"/>
                </a:solidFill>
                <a:latin typeface="Calibri"/>
              </a:rPr>
              <a:t>готови</a:t>
            </a:r>
            <a:r>
              <a:rPr b="0" lang="bg-BG" sz="3000" spc="-1" strike="noStrike">
                <a:solidFill>
                  <a:srgbClr val="234465"/>
                </a:solidFill>
                <a:latin typeface="Calibri"/>
              </a:rPr>
              <a:t> с попълването на данни: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lvl="1" marL="803160" indent="-360360">
              <a:lnSpc>
                <a:spcPct val="105000"/>
              </a:lnSpc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000" spc="-1" strike="noStrike">
                <a:solidFill>
                  <a:srgbClr val="234465"/>
                </a:solidFill>
                <a:latin typeface="Calibri"/>
              </a:rPr>
              <a:t>Нека добавим </a:t>
            </a:r>
            <a:r>
              <a:rPr b="1" lang="bg-BG" sz="3000" spc="-1" strike="noStrike">
                <a:solidFill>
                  <a:srgbClr val="bf7800"/>
                </a:solidFill>
                <a:latin typeface="Calibri"/>
              </a:rPr>
              <a:t>още</a:t>
            </a:r>
            <a:r>
              <a:rPr b="0" lang="bg-BG" sz="3000" spc="-1" strike="noStrike">
                <a:solidFill>
                  <a:srgbClr val="234465"/>
                </a:solidFill>
                <a:latin typeface="Calibri"/>
              </a:rPr>
              <a:t> записи в таблицата </a:t>
            </a:r>
            <a:r>
              <a:rPr b="0" lang="en-US" sz="30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000" spc="-1" strike="noStrike">
                <a:solidFill>
                  <a:srgbClr val="234465"/>
                </a:solidFill>
                <a:latin typeface="Calibri"/>
              </a:rPr>
              <a:t>Students</a:t>
            </a:r>
            <a:r>
              <a:rPr b="0" lang="en-US" sz="3000" spc="-1" strike="noStrike">
                <a:solidFill>
                  <a:srgbClr val="234465"/>
                </a:solidFill>
                <a:latin typeface="Calibri"/>
              </a:rPr>
              <a:t>":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Попълване на данни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(2)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1" name="Picture 5" descr=""/>
          <p:cNvPicPr/>
          <p:nvPr/>
        </p:nvPicPr>
        <p:blipFill>
          <a:blip r:embed="rId1"/>
          <a:stretch/>
        </p:blipFill>
        <p:spPr>
          <a:xfrm>
            <a:off x="2160000" y="3654000"/>
            <a:ext cx="7871400" cy="1034280"/>
          </a:xfrm>
          <a:prstGeom prst="rect">
            <a:avLst/>
          </a:prstGeom>
          <a:ln w="0">
            <a:solidFill>
              <a:srgbClr val="bfbfbf"/>
            </a:solidFill>
          </a:ln>
        </p:spPr>
      </p:pic>
      <p:pic>
        <p:nvPicPr>
          <p:cNvPr id="382" name="Picture 6" descr=""/>
          <p:cNvPicPr/>
          <p:nvPr/>
        </p:nvPicPr>
        <p:blipFill>
          <a:blip r:embed="rId2"/>
          <a:stretch/>
        </p:blipFill>
        <p:spPr>
          <a:xfrm>
            <a:off x="3395880" y="5432040"/>
            <a:ext cx="5613120" cy="125928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61" dur="indefinite" restart="never" nodeType="tmRoot">
          <p:childTnLst>
            <p:seq>
              <p:cTn id="362" dur="indefinite" nodeType="mainSeq">
                <p:childTnLst>
                  <p:par>
                    <p:cTn id="363" fill="hold">
                      <p:stCondLst>
                        <p:cond delay="indefinite"/>
                      </p:stCondLst>
                      <p:childTnLst>
                        <p:par>
                          <p:cTn id="364" fill="hold">
                            <p:stCondLst>
                              <p:cond delay="0"/>
                            </p:stCondLst>
                            <p:childTnLst>
                              <p:par>
                                <p:cTn id="36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7" fill="hold">
                      <p:stCondLst>
                        <p:cond delay="indefinite"/>
                      </p:stCondLst>
                      <p:childTnLst>
                        <p:par>
                          <p:cTn id="368" fill="hold">
                            <p:stCondLst>
                              <p:cond delay="0"/>
                            </p:stCondLst>
                            <p:childTnLst>
                              <p:par>
                                <p:cTn id="36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3" fill="hold">
                      <p:stCondLst>
                        <p:cond delay="indefinite"/>
                      </p:stCondLst>
                      <p:childTnLst>
                        <p:par>
                          <p:cTn id="374" fill="hold">
                            <p:stCondLst>
                              <p:cond delay="0"/>
                            </p:stCondLst>
                            <p:childTnLst>
                              <p:par>
                                <p:cTn id="37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Num" idx="35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ABB453-3749-45BC-B289-D02DBB3CA446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4" name="PlaceHolder 2"/>
          <p:cNvSpPr>
            <a:spLocks noGrp="1"/>
          </p:cNvSpPr>
          <p:nvPr>
            <p:ph/>
          </p:nvPr>
        </p:nvSpPr>
        <p:spPr>
          <a:xfrm>
            <a:off x="-24120" y="1140120"/>
            <a:ext cx="1218888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 fontScale="99000"/>
          </a:bodyPr>
          <a:p>
            <a:pPr marL="356400" indent="-3564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Избирайки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всички записи 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от таблицата </a:t>
            </a:r>
            <a:r>
              <a:rPr b="1" lang="en-US" sz="3600" spc="-1" strike="noStrike">
                <a:solidFill>
                  <a:srgbClr val="234465"/>
                </a:solidFill>
                <a:latin typeface="Calibri"/>
              </a:rPr>
              <a:t>Students</a:t>
            </a:r>
            <a:r>
              <a:rPr b="0" lang="en-US" sz="3600" spc="-1" strike="noStrike">
                <a:solidFill>
                  <a:srgbClr val="234465"/>
                </a:solidFill>
                <a:latin typeface="Calibri"/>
              </a:rPr>
              <a:t>, 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ще получим следния резутлат: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indent="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None/>
              <a:tabLst>
                <a:tab algn="l" pos="0"/>
              </a:tabLst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356400" indent="-35640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Това означава, че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успешно</a:t>
            </a:r>
            <a:r>
              <a:rPr b="0" lang="bg-BG" sz="3600" spc="-1" strike="noStrike">
                <a:solidFill>
                  <a:srgbClr val="234465"/>
                </a:solidFill>
                <a:latin typeface="Calibri"/>
              </a:rPr>
              <a:t> сме </a:t>
            </a:r>
            <a:r>
              <a:rPr b="1" lang="bg-BG" sz="3600" spc="-1" strike="noStrike">
                <a:solidFill>
                  <a:srgbClr val="bf7800"/>
                </a:solidFill>
                <a:latin typeface="Calibri"/>
              </a:rPr>
              <a:t>попълнили данни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Попълване на данни</a:t>
            </a:r>
            <a:r>
              <a:rPr b="1" lang="en-US" sz="4000" spc="-1" strike="noStrike">
                <a:solidFill>
                  <a:srgbClr val="ffffff"/>
                </a:solidFill>
                <a:latin typeface="Calibri"/>
              </a:rPr>
              <a:t> (3)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86" name="Picture 10" descr=""/>
          <p:cNvPicPr/>
          <p:nvPr/>
        </p:nvPicPr>
        <p:blipFill>
          <a:blip r:embed="rId1"/>
          <a:stretch/>
        </p:blipFill>
        <p:spPr>
          <a:xfrm>
            <a:off x="3206880" y="2574000"/>
            <a:ext cx="5777640" cy="278928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79" dur="indefinite" restart="never" nodeType="tmRoot">
          <p:childTnLst>
            <p:seq>
              <p:cTn id="380" dur="indefinite" nodeType="mainSeq">
                <p:childTnLst>
                  <p:par>
                    <p:cTn id="381" fill="hold">
                      <p:stCondLst>
                        <p:cond delay="indefinite"/>
                      </p:stCondLst>
                      <p:childTnLst>
                        <p:par>
                          <p:cTn id="382" fill="hold">
                            <p:stCondLst>
                              <p:cond delay="0"/>
                            </p:stCondLst>
                            <p:childTnLst>
                              <p:par>
                                <p:cTn id="38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PlaceHolder 1"/>
          <p:cNvSpPr>
            <a:spLocks noGrp="1"/>
          </p:cNvSpPr>
          <p:nvPr>
            <p:ph type="sldNum" idx="36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1D7CFE4-DB6E-4E89-B84D-EA05B84783E1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8" name="PlaceHolder 2"/>
          <p:cNvSpPr>
            <a:spLocks noGrp="1"/>
          </p:cNvSpPr>
          <p:nvPr>
            <p:ph/>
          </p:nvPr>
        </p:nvSpPr>
        <p:spPr>
          <a:xfrm>
            <a:off x="190440" y="1196280"/>
            <a:ext cx="11817360" cy="552816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Нека сега попълним данни в таблицата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Enrollments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За полето 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StudentId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(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външен ключ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)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, трябва да добавим вече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съществуващо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en-US" sz="3400" spc="-1" strike="noStrike">
                <a:solidFill>
                  <a:srgbClr val="234465"/>
                </a:solidFill>
                <a:latin typeface="Consolas"/>
              </a:rPr>
              <a:t>Id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на </a:t>
            </a:r>
            <a:r>
              <a:rPr b="1" lang="bg-BG" sz="3400" spc="-1" strike="noStrike">
                <a:solidFill>
                  <a:srgbClr val="bf7800"/>
                </a:solidFill>
                <a:latin typeface="Calibri"/>
              </a:rPr>
              <a:t>студент</a:t>
            </a:r>
            <a:r>
              <a:rPr b="0" lang="bg-BG" sz="3400" spc="-1" strike="noStrike">
                <a:solidFill>
                  <a:srgbClr val="234465"/>
                </a:solidFill>
                <a:latin typeface="Calibri"/>
              </a:rPr>
              <a:t> от таблицата 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</a:t>
            </a:r>
            <a:r>
              <a:rPr b="1" lang="en-US" sz="3400" spc="-1" strike="noStrike">
                <a:solidFill>
                  <a:srgbClr val="234465"/>
                </a:solidFill>
                <a:latin typeface="Calibri"/>
              </a:rPr>
              <a:t>Students</a:t>
            </a:r>
            <a:r>
              <a:rPr b="0" lang="en-US" sz="3400" spc="-1" strike="noStrike">
                <a:solidFill>
                  <a:srgbClr val="234465"/>
                </a:solidFill>
                <a:latin typeface="Calibri"/>
              </a:rPr>
              <a:t>":</a:t>
            </a:r>
            <a:endParaRPr b="0" lang="en-US" sz="3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3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Попълване на данни с външен ключ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0" name="Picture 5" descr=""/>
          <p:cNvPicPr/>
          <p:nvPr/>
        </p:nvPicPr>
        <p:blipFill>
          <a:blip r:embed="rId1"/>
          <a:stretch/>
        </p:blipFill>
        <p:spPr>
          <a:xfrm>
            <a:off x="360360" y="5006160"/>
            <a:ext cx="11069280" cy="1622880"/>
          </a:xfrm>
          <a:prstGeom prst="rect">
            <a:avLst/>
          </a:prstGeom>
          <a:ln w="0">
            <a:solidFill>
              <a:srgbClr val="bfbfbf"/>
            </a:solidFill>
          </a:ln>
        </p:spPr>
      </p:pic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85" dur="indefinite" restart="never" nodeType="tmRoot">
          <p:childTnLst>
            <p:seq>
              <p:cTn id="386" dur="indefinite" nodeType="mainSeq">
                <p:childTnLst>
                  <p:par>
                    <p:cTn id="387" fill="hold">
                      <p:stCondLst>
                        <p:cond delay="indefinite"/>
                      </p:stCondLst>
                      <p:childTnLst>
                        <p:par>
                          <p:cTn id="388" fill="hold">
                            <p:stCondLst>
                              <p:cond delay="0"/>
                            </p:stCondLst>
                            <p:childTnLst>
                              <p:par>
                                <p:cTn id="38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nodeType="with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1" name="Summary Box Group"/>
          <p:cNvGrpSpPr/>
          <p:nvPr/>
        </p:nvGrpSpPr>
        <p:grpSpPr>
          <a:xfrm>
            <a:off x="190440" y="1294200"/>
            <a:ext cx="9469800" cy="5393520"/>
            <a:chOff x="190440" y="1294200"/>
            <a:chExt cx="9469800" cy="5393520"/>
          </a:xfrm>
        </p:grpSpPr>
        <p:sp>
          <p:nvSpPr>
            <p:cNvPr id="392" name="Rounded Rectangle Blue"/>
            <p:cNvSpPr/>
            <p:nvPr/>
          </p:nvSpPr>
          <p:spPr>
            <a:xfrm>
              <a:off x="190440" y="1294200"/>
              <a:ext cx="9469800" cy="5393520"/>
            </a:xfrm>
            <a:prstGeom prst="roundRect">
              <a:avLst>
                <a:gd name="adj" fmla="val 3968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2400" spc="-1" strike="noStrike">
                <a:solidFill>
                  <a:schemeClr val="lt1"/>
                </a:solidFill>
                <a:latin typeface="Calibri"/>
                <a:ea typeface="DejaVu Sans"/>
              </a:endParaRPr>
            </a:p>
          </p:txBody>
        </p:sp>
        <p:sp>
          <p:nvSpPr>
            <p:cNvPr id="393" name="Rounded Rectangle Left"/>
            <p:cNvSpPr/>
            <p:nvPr/>
          </p:nvSpPr>
          <p:spPr>
            <a:xfrm>
              <a:off x="376920" y="1502640"/>
              <a:ext cx="202680" cy="4977000"/>
            </a:xfrm>
            <a:prstGeom prst="roundRect">
              <a:avLst>
                <a:gd name="adj" fmla="val 50000"/>
              </a:avLst>
            </a:prstGeom>
            <a:solidFill>
              <a:schemeClr val="bg2">
                <a:alpha val="4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2400" spc="-1" strike="noStrike">
                <a:solidFill>
                  <a:srgbClr val="bf7800"/>
                </a:solidFill>
                <a:latin typeface="Calibri"/>
                <a:ea typeface="DejaVu Sans"/>
              </a:endParaRPr>
            </a:p>
          </p:txBody>
        </p:sp>
        <p:sp>
          <p:nvSpPr>
            <p:cNvPr id="394" name="Half Frame Top Right"/>
            <p:cNvSpPr/>
            <p:nvPr/>
          </p:nvSpPr>
          <p:spPr>
            <a:xfrm rot="5400000">
              <a:off x="8805960" y="1576800"/>
              <a:ext cx="741960" cy="593640"/>
            </a:xfrm>
            <a:prstGeom prst="halfFrame">
              <a:avLst>
                <a:gd name="adj1" fmla="val 23728"/>
                <a:gd name="adj2" fmla="val 24642"/>
              </a:avLst>
            </a:prstGeom>
            <a:solidFill>
              <a:schemeClr val="bg2">
                <a:alpha val="2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>
                <a:lnSpc>
                  <a:spcPct val="100000"/>
                </a:lnSpc>
              </a:pPr>
              <a:endParaRPr b="0" lang="en-US" sz="2400" spc="-1" strike="noStrike">
                <a:solidFill>
                  <a:srgbClr val="234465"/>
                </a:solidFill>
                <a:latin typeface="Calibri"/>
                <a:ea typeface="DejaVu Sans"/>
              </a:endParaRPr>
            </a:p>
          </p:txBody>
        </p:sp>
      </p:grpSp>
      <p:sp>
        <p:nvSpPr>
          <p:cNvPr id="395" name="PlaceHolder 1"/>
          <p:cNvSpPr>
            <a:spLocks noGrp="1"/>
          </p:cNvSpPr>
          <p:nvPr>
            <p:ph/>
          </p:nvPr>
        </p:nvSpPr>
        <p:spPr>
          <a:xfrm>
            <a:off x="597600" y="685800"/>
            <a:ext cx="8775000" cy="617148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Autofit/>
          </a:bodyPr>
          <a:p>
            <a:pPr marL="36036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ffffff"/>
              </a:buClr>
              <a:buFont typeface="Wingdings" charset="2"/>
              <a:buChar char=""/>
            </a:pPr>
            <a:r>
              <a:rPr b="1" lang="bg-BG" sz="3000" spc="-1" strike="noStrike">
                <a:solidFill>
                  <a:srgbClr val="ffffff"/>
                </a:solidFill>
                <a:latin typeface="Calibri"/>
              </a:rPr>
              <a:t>Таблиците съдържат </a:t>
            </a:r>
            <a:r>
              <a:rPr b="1" lang="bg-BG" sz="3000" spc="-1" strike="noStrike">
                <a:solidFill>
                  <a:srgbClr val="ffb840"/>
                </a:solidFill>
                <a:latin typeface="Calibri"/>
              </a:rPr>
              <a:t>ключове</a:t>
            </a:r>
            <a:r>
              <a:rPr b="0" lang="bg-BG" sz="3000" spc="-1" strike="noStrike">
                <a:solidFill>
                  <a:srgbClr val="ffffff"/>
                </a:solidFill>
                <a:latin typeface="Calibri"/>
              </a:rPr>
              <a:t>: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lvl="1" marL="96984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ffffff"/>
              </a:buClr>
              <a:buFont typeface="Wingdings" charset="2"/>
              <a:buChar char=""/>
            </a:pPr>
            <a:r>
              <a:rPr b="1" lang="bg-BG" sz="2800" spc="-1" strike="noStrike">
                <a:solidFill>
                  <a:srgbClr val="ffb840"/>
                </a:solidFill>
                <a:latin typeface="Calibri"/>
              </a:rPr>
              <a:t>Първичен ключ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57968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ffffff"/>
              </a:buClr>
              <a:buFont typeface="Wingdings" charset="2"/>
              <a:buChar char=""/>
            </a:pPr>
            <a:r>
              <a:rPr b="1" lang="bg-BG" sz="2800" spc="-1" strike="noStrike">
                <a:solidFill>
                  <a:srgbClr val="ffb840"/>
                </a:solidFill>
                <a:latin typeface="Calibri"/>
              </a:rPr>
              <a:t>Уникалност </a:t>
            </a:r>
            <a:r>
              <a:rPr b="0" lang="bg-BG" sz="2800" spc="-1" strike="noStrike">
                <a:solidFill>
                  <a:srgbClr val="ffffff"/>
                </a:solidFill>
                <a:latin typeface="Calibri"/>
              </a:rPr>
              <a:t>на записи в таблица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57968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ffffff"/>
              </a:buClr>
              <a:buFont typeface="Wingdings" charset="2"/>
              <a:buChar char=""/>
            </a:pPr>
            <a:r>
              <a:rPr b="1" lang="en-US" sz="2800" spc="-1" strike="noStrike">
                <a:solidFill>
                  <a:srgbClr val="ffb840"/>
                </a:solidFill>
                <a:latin typeface="Calibri"/>
              </a:rPr>
              <a:t>Identity</a:t>
            </a:r>
            <a:r>
              <a:rPr b="0" lang="en-US" sz="2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2800" spc="-1" strike="noStrike">
                <a:solidFill>
                  <a:srgbClr val="ffffff"/>
                </a:solidFill>
                <a:latin typeface="Calibri"/>
              </a:rPr>
              <a:t>атрибут –</a:t>
            </a:r>
            <a:r>
              <a:rPr b="0" lang="bg-BG" sz="28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0" lang="bg-BG" sz="2800" spc="-1" strike="noStrike">
                <a:solidFill>
                  <a:srgbClr val="ffffff"/>
                </a:solidFill>
                <a:latin typeface="Calibri"/>
              </a:rPr>
              <a:t>автоматично генериране на стойности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96984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ffffff"/>
              </a:buClr>
              <a:buFont typeface="Wingdings" charset="2"/>
              <a:buChar char=""/>
            </a:pPr>
            <a:r>
              <a:rPr b="1" lang="bg-BG" sz="2800" spc="-1" strike="noStrike">
                <a:solidFill>
                  <a:srgbClr val="ffb840"/>
                </a:solidFill>
                <a:latin typeface="Calibri"/>
              </a:rPr>
              <a:t>Външен ключ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57968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ffffff"/>
              </a:buClr>
              <a:buFont typeface="Wingdings" charset="2"/>
              <a:buChar char=""/>
            </a:pPr>
            <a:r>
              <a:rPr b="1" lang="bg-BG" sz="2800" spc="-1" strike="noStrike">
                <a:solidFill>
                  <a:srgbClr val="ffb840"/>
                </a:solidFill>
                <a:latin typeface="Calibri"/>
              </a:rPr>
              <a:t>Връзка</a:t>
            </a:r>
            <a:r>
              <a:rPr b="0" lang="bg-BG" sz="2800" spc="-1" strike="noStrike">
                <a:solidFill>
                  <a:srgbClr val="ffffff"/>
                </a:solidFill>
                <a:latin typeface="Calibri"/>
              </a:rPr>
              <a:t> между две таблици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57968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ffffff"/>
              </a:buClr>
              <a:buFont typeface="Wingdings" charset="2"/>
              <a:buChar char=""/>
            </a:pPr>
            <a:r>
              <a:rPr b="0" lang="bg-BG" sz="2800" spc="-1" strike="noStrike">
                <a:solidFill>
                  <a:srgbClr val="ffffff"/>
                </a:solidFill>
                <a:latin typeface="Calibri"/>
              </a:rPr>
              <a:t>Използва полета (</a:t>
            </a:r>
            <a:r>
              <a:rPr b="1" lang="bg-BG" sz="2800" spc="-1" strike="noStrike">
                <a:solidFill>
                  <a:srgbClr val="ffb840"/>
                </a:solidFill>
                <a:latin typeface="Calibri"/>
              </a:rPr>
              <a:t>колони</a:t>
            </a:r>
            <a:r>
              <a:rPr b="0" lang="bg-BG" sz="2800" spc="-1" strike="noStrike">
                <a:solidFill>
                  <a:srgbClr val="ffffff"/>
                </a:solidFill>
                <a:latin typeface="Calibri"/>
              </a:rPr>
              <a:t>) за свързване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1" marL="969840" indent="-360360">
              <a:lnSpc>
                <a:spcPct val="105000"/>
              </a:lnSpc>
              <a:spcBef>
                <a:spcPts val="601"/>
              </a:spcBef>
              <a:spcAft>
                <a:spcPts val="601"/>
              </a:spcAft>
              <a:buClr>
                <a:srgbClr val="ffffff"/>
              </a:buClr>
              <a:buFont typeface="Wingdings" charset="2"/>
              <a:buChar char=""/>
            </a:pPr>
            <a:r>
              <a:rPr b="1" lang="bg-BG" sz="3000" spc="-1" strike="noStrike">
                <a:solidFill>
                  <a:srgbClr val="ffb840"/>
                </a:solidFill>
                <a:latin typeface="Calibri"/>
              </a:rPr>
              <a:t>Комбиниран ключ</a:t>
            </a:r>
            <a:r>
              <a:rPr b="0" lang="bg-BG" sz="3000" spc="-1" strike="noStrike">
                <a:solidFill>
                  <a:srgbClr val="ffb840"/>
                </a:solidFill>
                <a:latin typeface="Calibri"/>
              </a:rPr>
              <a:t> </a:t>
            </a:r>
            <a:r>
              <a:rPr b="0" lang="bg-BG" sz="3000" spc="-1" strike="noStrike">
                <a:solidFill>
                  <a:srgbClr val="ffffff"/>
                </a:solidFill>
                <a:latin typeface="Calibri"/>
              </a:rPr>
              <a:t>– напр.</a:t>
            </a:r>
            <a:r>
              <a:rPr b="1" lang="en-US" sz="3000" spc="-1" strike="noStrike">
                <a:solidFill>
                  <a:srgbClr val="bf7800"/>
                </a:solidFill>
                <a:latin typeface="Calibri"/>
              </a:rPr>
              <a:t> </a:t>
            </a:r>
            <a:r>
              <a:rPr b="1" lang="en-US" sz="3000" spc="-1" strike="noStrike">
                <a:solidFill>
                  <a:srgbClr val="ffb840"/>
                </a:solidFill>
                <a:latin typeface="Calibri"/>
              </a:rPr>
              <a:t>MountainsTourists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396" name="Picture SoftUni Mascot" descr=""/>
          <p:cNvPicPr/>
          <p:nvPr/>
        </p:nvPicPr>
        <p:blipFill>
          <a:blip r:embed="rId1"/>
          <a:stretch/>
        </p:blipFill>
        <p:spPr>
          <a:xfrm flipH="1">
            <a:off x="9811440" y="4204080"/>
            <a:ext cx="2055240" cy="2224440"/>
          </a:xfrm>
          <a:prstGeom prst="rect">
            <a:avLst/>
          </a:prstGeom>
          <a:ln w="0">
            <a:noFill/>
          </a:ln>
        </p:spPr>
      </p:pic>
      <p:sp>
        <p:nvSpPr>
          <p:cNvPr id="397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rm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Обобщение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3"/>
          <p:cNvSpPr>
            <a:spLocks noGrp="1"/>
          </p:cNvSpPr>
          <p:nvPr>
            <p:ph type="sldNum" idx="37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0B7D54-F67E-44AD-A110-B097BC5A8449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  <p:timing>
    <p:tnLst>
      <p:par>
        <p:cTn id="393" dur="indefinite" restart="never" nodeType="tmRoot">
          <p:childTnLst>
            <p:seq>
              <p:cTn id="394" dur="indefinite" nodeType="mainSeq">
                <p:childTnLst>
                  <p:par>
                    <p:cTn id="395" fill="hold">
                      <p:stCondLst>
                        <p:cond delay="indefinite"/>
                      </p:stCondLst>
                      <p:childTnLst>
                        <p:par>
                          <p:cTn id="396" fill="hold">
                            <p:stCondLst>
                              <p:cond delay="0"/>
                            </p:stCondLst>
                            <p:childTnLst>
                              <p:par>
                                <p:cTn id="39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9" fill="hold">
                      <p:stCondLst>
                        <p:cond delay="indefinite"/>
                      </p:stCondLst>
                      <p:childTnLst>
                        <p:par>
                          <p:cTn id="400" fill="hold">
                            <p:stCondLst>
                              <p:cond delay="0"/>
                            </p:stCondLst>
                            <p:childTnLst>
                              <p:par>
                                <p:cTn id="40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3" fill="hold">
                      <p:stCondLst>
                        <p:cond delay="indefinite"/>
                      </p:stCondLst>
                      <p:childTnLst>
                        <p:par>
                          <p:cTn id="404" fill="hold">
                            <p:stCondLst>
                              <p:cond delay="0"/>
                            </p:stCondLst>
                            <p:childTnLst>
                              <p:par>
                                <p:cTn id="40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7" fill="hold">
                      <p:stCondLst>
                        <p:cond delay="indefinite"/>
                      </p:stCondLst>
                      <p:childTnLst>
                        <p:par>
                          <p:cTn id="408" fill="hold">
                            <p:stCondLst>
                              <p:cond delay="0"/>
                            </p:stCondLst>
                            <p:childTnLst>
                              <p:par>
                                <p:cTn id="40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1" fill="hold">
                      <p:stCondLst>
                        <p:cond delay="indefinite"/>
                      </p:stCondLst>
                      <p:childTnLst>
                        <p:par>
                          <p:cTn id="412" fill="hold">
                            <p:stCondLst>
                              <p:cond delay="0"/>
                            </p:stCondLst>
                            <p:childTnLst>
                              <p:par>
                                <p:cTn id="4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5" fill="hold">
                      <p:stCondLst>
                        <p:cond delay="indefinite"/>
                      </p:stCondLst>
                      <p:childTnLst>
                        <p:par>
                          <p:cTn id="416" fill="hold">
                            <p:stCondLst>
                              <p:cond delay="0"/>
                            </p:stCondLst>
                            <p:childTnLst>
                              <p:par>
                                <p:cTn id="4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9" fill="hold">
                      <p:stCondLst>
                        <p:cond delay="indefinite"/>
                      </p:stCondLst>
                      <p:childTnLst>
                        <p:par>
                          <p:cTn id="420" fill="hold">
                            <p:stCondLst>
                              <p:cond delay="0"/>
                            </p:stCondLst>
                            <p:childTnLst>
                              <p:par>
                                <p:cTn id="421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PlaceHolder 1"/>
          <p:cNvSpPr>
            <a:spLocks noGrp="1"/>
          </p:cNvSpPr>
          <p:nvPr>
            <p:ph type="title"/>
          </p:nvPr>
        </p:nvSpPr>
        <p:spPr>
          <a:xfrm>
            <a:off x="726840" y="1461960"/>
            <a:ext cx="10730880" cy="304632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13800" spc="-1" strike="noStrike">
                <a:solidFill>
                  <a:srgbClr val="234465"/>
                </a:solidFill>
                <a:latin typeface="Calibri"/>
              </a:rPr>
              <a:t>Въпроси</a:t>
            </a:r>
            <a:r>
              <a:rPr b="1" lang="en-US" sz="13800" spc="-1" strike="noStrike">
                <a:solidFill>
                  <a:srgbClr val="234465"/>
                </a:solidFill>
                <a:latin typeface="Calibri"/>
              </a:rPr>
              <a:t>?</a:t>
            </a:r>
            <a:endParaRPr b="0" lang="en-US" sz="13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Rectangle Bottom Copyright"/>
          <p:cNvSpPr/>
          <p:nvPr/>
        </p:nvSpPr>
        <p:spPr>
          <a:xfrm>
            <a:off x="110880" y="6454800"/>
            <a:ext cx="11969280" cy="30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bg-BG" sz="1600" spc="-1" strike="noStrike">
                <a:solidFill>
                  <a:srgbClr val="ffffff"/>
                </a:solidFill>
                <a:latin typeface="Calibri"/>
                <a:ea typeface="Calibri"/>
              </a:rPr>
              <a:t>Проект "</a:t>
            </a:r>
            <a:r>
              <a:rPr b="0" lang="bg-BG" sz="1600" spc="-1" strike="noStrike" u="sng">
                <a:solidFill>
                  <a:srgbClr val="bf7800"/>
                </a:solidFill>
                <a:uFillTx/>
                <a:latin typeface="Calibri"/>
                <a:ea typeface="Calibri"/>
                <a:hlinkClick r:id="rId1"/>
              </a:rPr>
              <a:t>Отворено учебно съдържание по програмиране и ИТ</a:t>
            </a:r>
            <a:r>
              <a:rPr b="0" lang="bg-BG" sz="1600" spc="-1" strike="noStrike">
                <a:solidFill>
                  <a:srgbClr val="ffffff"/>
                </a:solidFill>
                <a:latin typeface="Calibri"/>
                <a:ea typeface="Calibri"/>
              </a:rPr>
              <a:t>", СофтУни Фондация (лиценз </a:t>
            </a:r>
            <a:r>
              <a:rPr b="0" lang="en-US" sz="1600" spc="-1" strike="noStrike">
                <a:solidFill>
                  <a:srgbClr val="ffffff"/>
                </a:solidFill>
                <a:latin typeface="Calibri"/>
                <a:ea typeface="Calibri"/>
              </a:rPr>
              <a:t>CC-BY-NC-SA</a:t>
            </a:r>
            <a:r>
              <a:rPr b="0" lang="bg-BG" sz="1600" spc="-1" strike="noStrike">
                <a:solidFill>
                  <a:srgbClr val="ffffff"/>
                </a:solidFill>
                <a:latin typeface="Calibri"/>
                <a:ea typeface="Calibri"/>
              </a:rPr>
              <a:t>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/>
          </p:nvPr>
        </p:nvSpPr>
        <p:spPr>
          <a:xfrm>
            <a:off x="190440" y="1269000"/>
            <a:ext cx="9864720" cy="247428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t">
            <a:normAutofit fontScale="87000"/>
          </a:bodyPr>
          <a:p>
            <a:pPr marL="313200" indent="-313200">
              <a:lnSpc>
                <a:spcPct val="12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Този курс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(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презентации, примери, демонстрационен код, упражнения, домашни, видео и други активи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)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представлява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</a:rPr>
              <a:t> </a:t>
            </a:r>
            <a:r>
              <a:rPr b="1" lang="bg-BG" sz="3200" spc="-1" strike="noStrike">
                <a:solidFill>
                  <a:srgbClr val="234465"/>
                </a:solidFill>
                <a:latin typeface="Calibri"/>
              </a:rPr>
              <a:t>свободно учебно съдържание 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</a:rPr>
              <a:t>и се разпространява под свободен лиценз </a:t>
            </a:r>
            <a:r>
              <a:rPr b="1" lang="en-US" sz="3200" spc="-1" strike="noStrike">
                <a:solidFill>
                  <a:srgbClr val="234465"/>
                </a:solidFill>
                <a:latin typeface="Calibri"/>
              </a:rPr>
              <a:t>CC-BY-NC-SA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402" name="Picture License" descr="License"/>
          <p:cNvPicPr/>
          <p:nvPr/>
        </p:nvPicPr>
        <p:blipFill>
          <a:blip r:embed="rId1"/>
          <a:stretch/>
        </p:blipFill>
        <p:spPr>
          <a:xfrm>
            <a:off x="10226160" y="1440000"/>
            <a:ext cx="1198440" cy="1268280"/>
          </a:xfrm>
          <a:prstGeom prst="rect">
            <a:avLst/>
          </a:prstGeom>
          <a:ln w="0">
            <a:noFill/>
          </a:ln>
        </p:spPr>
      </p:pic>
      <p:sp>
        <p:nvSpPr>
          <p:cNvPr id="403" name="PlaceHolder 2"/>
          <p:cNvSpPr>
            <a:spLocks noGrp="1"/>
          </p:cNvSpPr>
          <p:nvPr>
            <p:ph type="title"/>
          </p:nvPr>
        </p:nvSpPr>
        <p:spPr>
          <a:xfrm>
            <a:off x="190440" y="100800"/>
            <a:ext cx="10269720" cy="882000"/>
          </a:xfrm>
          <a:prstGeom prst="rect">
            <a:avLst/>
          </a:prstGeom>
          <a:noFill/>
          <a:ln w="0">
            <a:noFill/>
          </a:ln>
        </p:spPr>
        <p:txBody>
          <a:bodyPr lIns="108000" rIns="108000" tIns="36000" bIns="3600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bg-BG" sz="4000" spc="-1" strike="noStrike">
                <a:solidFill>
                  <a:srgbClr val="ffffff"/>
                </a:solidFill>
                <a:latin typeface="Calibri"/>
              </a:rPr>
              <a:t>Лиценз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Box 10"/>
          <p:cNvSpPr/>
          <p:nvPr/>
        </p:nvSpPr>
        <p:spPr>
          <a:xfrm>
            <a:off x="190440" y="3927600"/>
            <a:ext cx="11709720" cy="2660040"/>
          </a:xfrm>
          <a:prstGeom prst="rect">
            <a:avLst/>
          </a:prstGeom>
          <a:noFill/>
          <a:ln w="127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360360" indent="-360360">
              <a:lnSpc>
                <a:spcPct val="12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bg-BG" sz="3200" spc="-1" strike="noStrike">
                <a:solidFill>
                  <a:srgbClr val="234465"/>
                </a:solidFill>
                <a:latin typeface="Calibri"/>
                <a:ea typeface="DejaVu Sans"/>
              </a:rPr>
              <a:t>Проект "</a:t>
            </a:r>
            <a:r>
              <a:rPr b="1" lang="bg-BG" sz="3200" spc="-1" strike="noStrike">
                <a:solidFill>
                  <a:srgbClr val="234465"/>
                </a:solidFill>
                <a:latin typeface="Calibri"/>
                <a:ea typeface="DejaVu Sans"/>
              </a:rPr>
              <a:t>Отворено учебно съдържание по програмиране и ИТ</a:t>
            </a:r>
            <a:r>
              <a:rPr b="0" lang="bg-BG" sz="3200" spc="-1" strike="noStrike">
                <a:solidFill>
                  <a:srgbClr val="234465"/>
                </a:solidFill>
                <a:latin typeface="Calibri"/>
                <a:ea typeface="DejaVu Sans"/>
              </a:rPr>
              <a:t>" към Фондация "Софтуерен университет"</a:t>
            </a:r>
            <a:r>
              <a:rPr b="0" lang="en-US" sz="3200" spc="-1" strike="noStrike">
                <a:solidFill>
                  <a:srgbClr val="234465"/>
                </a:solidFill>
                <a:latin typeface="Calibri"/>
                <a:ea typeface="DejaVu Sans"/>
              </a:rPr>
              <a:t>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17560" indent="-360360">
              <a:lnSpc>
                <a:spcPct val="120000"/>
              </a:lnSpc>
              <a:spcBef>
                <a:spcPts val="601"/>
              </a:spcBef>
              <a:spcAft>
                <a:spcPts val="601"/>
              </a:spcAft>
              <a:buClr>
                <a:srgbClr val="234465"/>
              </a:buClr>
              <a:buFont typeface="Wingdings" charset="2"/>
              <a:buChar char=""/>
            </a:pPr>
            <a:r>
              <a:rPr b="0" lang="en-US" sz="3200" spc="-1" strike="noStrike" u="sng">
                <a:solidFill>
                  <a:srgbClr val="bf7800"/>
                </a:solidFill>
                <a:uFillTx/>
                <a:latin typeface="Calibri"/>
                <a:ea typeface="DejaVu Sans"/>
                <a:hlinkClick r:id="rId2"/>
              </a:rPr>
              <a:t>https://github.com/BG-IT-Edu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icture 6">
            <a:hlinkClick r:id="rId3"/>
          </p:cNvPr>
          <p:cNvSpPr/>
          <p:nvPr/>
        </p:nvSpPr>
        <p:spPr>
          <a:xfrm>
            <a:off x="9830880" y="2908440"/>
            <a:ext cx="1988640" cy="695160"/>
          </a:xfrm>
          <a:prstGeom prst="roundRect">
            <a:avLst>
              <a:gd name="adj" fmla="val 3940"/>
            </a:avLst>
          </a:prstGeom>
          <a:blipFill rotWithShape="0">
            <a:blip r:embed="rId4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DejaVu Sans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38"/>
          </p:nvPr>
        </p:nvSpPr>
        <p:spPr>
          <a:xfrm>
            <a:off x="11752920" y="6507000"/>
            <a:ext cx="366840" cy="296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000" spc="-1" strike="noStrike">
                <a:solidFill>
                  <a:srgbClr val="234465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D1B3F7F-47A3-4C24-860C-DB132996DD4C}" type="slidenum">
              <a:rPr b="0" lang="en-US" sz="1000" spc="-1" strike="noStrike">
                <a:solidFill>
                  <a:srgbClr val="234465"/>
                </a:solidFill>
                <a:latin typeface="Calibri"/>
              </a:rPr>
              <a:t>&lt;number&gt;</a:t>
            </a:fld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advTm="5000" p14:dur="2000"/>
    </mc:Choice>
    <mc:Fallback>
      <p:transition spd="slow" advTm="5000"/>
    </mc:Fallback>
  </mc:AlternateContent>
</p:sld>
</file>

<file path=ppt/theme/theme1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SoftUni">
  <a:themeElements>
    <a:clrScheme name="Custom 2">
      <a:dk1>
        <a:srgbClr val="234465"/>
      </a:dk1>
      <a:lt1>
        <a:srgbClr val="bf7800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4465"/>
      </a:dk2>
      <a:lt2>
        <a:srgbClr val="ffffff"/>
      </a:lt2>
      <a:accent1>
        <a:srgbClr val="ffa000"/>
      </a:accent1>
      <a:accent2>
        <a:srgbClr val="00b050"/>
      </a:accent2>
      <a:accent3>
        <a:srgbClr val="44a9f8"/>
      </a:accent3>
      <a:accent4>
        <a:srgbClr val="7030a0"/>
      </a:accent4>
      <a:accent5>
        <a:srgbClr val="67748e"/>
      </a:accent5>
      <a:accent6>
        <a:srgbClr val="f4f5f7"/>
      </a:accent6>
      <a:hlink>
        <a:srgbClr val="bf7800"/>
      </a:hlink>
      <a:folHlink>
        <a:srgbClr val="ef9511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6350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4091</TotalTime>
  <Application>LibreOffice/7.4.7.2$Linux_X86_64 LibreOffice_project/40$Build-2</Application>
  <AppVersion>15.0000</AppVersion>
  <Words>1678</Words>
  <Paragraphs>331</Paragraphs>
  <Company>BG-IT-Edu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category>computer programming;programming;software development;software engineering</cp:category>
  <dcterms:created xsi:type="dcterms:W3CDTF">2018-05-23T13:08:44Z</dcterms:created>
  <dc:creator>BG-IT-Edu</dc:creator>
  <dc:description>Open Programming and IT Courseware for IT Teachers (BG-IT-Edu): https://github.com/BG-IT-Edu
With the kind support of SoftUni: https://softuni.bg</dc:description>
  <cp:keywords>SoftUni Software University programming coding computer programming software development software engineering software technologies digital skills technical skills training course</cp:keywords>
  <dc:language>en-US</dc:language>
  <cp:lastModifiedBy/>
  <dcterms:modified xsi:type="dcterms:W3CDTF">2025-11-03T15:39:58Z</dcterms:modified>
  <cp:revision>167</cp:revision>
  <dc:subject>Software Development</dc:subject>
  <dc:title>Моделиране на бази данни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1</vt:i4>
  </property>
  <property fmtid="{D5CDD505-2E9C-101B-9397-08002B2CF9AE}" pid="3" name="Notes">
    <vt:i4>12</vt:i4>
  </property>
  <property fmtid="{D5CDD505-2E9C-101B-9397-08002B2CF9AE}" pid="4" name="PresentationFormat">
    <vt:lpwstr>Widescreen</vt:lpwstr>
  </property>
  <property fmtid="{D5CDD505-2E9C-101B-9397-08002B2CF9AE}" pid="5" name="Slides">
    <vt:i4>40</vt:i4>
  </property>
</Properties>
</file>