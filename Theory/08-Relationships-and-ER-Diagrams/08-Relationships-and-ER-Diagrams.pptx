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_rels/notesSlide3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notesSlide3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3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2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4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6.xml.rels" ContentType="application/vnd.openxmlformats-package.relationships+xml"/>
  <Override PartName="/ppt/slides/_rels/slide34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33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AB38449-8C66-4012-A75C-F8BE62B2793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3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3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3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3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3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3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3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3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3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3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3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3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3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3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3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Num" idx="33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0416BD3-B32C-4D7D-B7FA-18071F6A09F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35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 type="ftr" idx="34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32BA055-3CC1-4C4D-96C8-10DF8DA160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35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ftr" idx="3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 idx="36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7A9D26-24FA-4A82-BE30-FB6A4ECE3A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ftr" idx="3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38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F334CD-F2B2-4C3E-8415-C39050BD7DC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5" name="PlaceHolder 4"/>
          <p:cNvSpPr>
            <a:spLocks noGrp="1"/>
          </p:cNvSpPr>
          <p:nvPr>
            <p:ph type="ftr" idx="3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40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5C07CD-A863-4FF3-BC47-8608B3F792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9" name="PlaceHolder 4"/>
          <p:cNvSpPr>
            <a:spLocks noGrp="1"/>
          </p:cNvSpPr>
          <p:nvPr>
            <p:ph type="ftr" idx="4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 idx="42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8AA683-09FA-4080-B156-9797F1DCE90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 type="ftr" idx="43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4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20E01C-1976-4A95-A208-0A28D630D4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 type="ftr" idx="4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46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A25E6CC-93B0-40E9-9318-1FAC239E5E8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ftr" idx="4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 idx="48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975386-1757-4B9E-8FB5-4A95F824A6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 type="ftr" idx="49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sldNum" idx="50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5C69C36-46BA-497C-A8B9-1CFD54316A4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9" name="PlaceHolder 4"/>
          <p:cNvSpPr>
            <a:spLocks noGrp="1"/>
          </p:cNvSpPr>
          <p:nvPr>
            <p:ph type="ftr" idx="51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52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4FB55A-C68B-40C9-A21C-02976FA0D4F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ftr" idx="53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 idx="54"/>
          </p:nvPr>
        </p:nvSpPr>
        <p:spPr>
          <a:xfrm>
            <a:off x="6489000" y="8892000"/>
            <a:ext cx="36720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06E6A2D-B8A6-471D-8E35-5AB4A9FED0E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ftr" idx="55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C1893E0-1A17-4E13-BB99-FAE71BD53E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ftr" idx="56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63E72BE-CB12-406E-B6B2-D1CC62A191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ftr" idx="57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lide Number Placeholder 5"/>
          <p:cNvSpPr/>
          <p:nvPr/>
        </p:nvSpPr>
        <p:spPr>
          <a:xfrm>
            <a:off x="6489000" y="884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69B05623-F326-4431-9EEE-1B5A2C37668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ftr" idx="58"/>
          </p:nvPr>
        </p:nvSpPr>
        <p:spPr>
          <a:xfrm>
            <a:off x="0" y="8892000"/>
            <a:ext cx="6488640" cy="251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>
              <a:lnSpc>
                <a:spcPct val="100000"/>
              </a:lnSpc>
              <a:buNone/>
              <a:defRPr b="0" lang="bg-BG" sz="11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bg-BG" sz="1100" spc="-1" strike="noStrike">
                <a:solidFill>
                  <a:srgbClr val="000000"/>
                </a:solidFill>
                <a:latin typeface="Times New Roman"/>
              </a:rPr>
              <a:t>Работна група "Образование по програмиране и ИТ", с подкрепата на </a:t>
            </a:r>
            <a:r>
              <a:rPr b="0" lang="en-US" sz="1100" spc="-1" strike="noStrike" u="sng">
                <a:solidFill>
                  <a:srgbClr val="000000"/>
                </a:solidFill>
                <a:uFillTx/>
                <a:latin typeface="Times New Roman"/>
                <a:hlinkClick r:id="rId1"/>
              </a:rPr>
              <a:t>SoftUni</a:t>
            </a:r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371EF09-1863-46ED-B9D1-C7362A9A6C3B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B7B8352-1BD5-402D-B67B-ED939255BE8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3A1522A-AC50-406A-9FA3-B196BF1B6C83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AFCAC19-E4BC-433D-909B-DEF6AFDBFFF1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02D1BF5-E296-4589-A01E-23ACF6FDE6D9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A92CE2E-652D-463C-9489-09F16A59C959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09F8BDE-6391-4A91-9E53-A756842245CE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B16B14-0598-487A-9D8C-C62E4C3C65A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AEE3C2B-B7FD-4F93-922F-38575923FECB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D63D55C-D00B-4CE0-B23F-15AA8F55658A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CAE89F-671F-4C23-9594-D31F260623B0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4602DA-02BB-43C5-955D-4A94C4046041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748A50-15A8-4E85-A3CD-DABBAF640AFE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AC4C9A-85EA-4CCF-BE2C-3F377208FEE0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5EE600-261E-4C23-BAD1-7B524670239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DF63BF-321D-4F20-8282-01AEADFA9919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C1ABFF-750C-4C6A-AFD1-3AECD57822E4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D5C76E-B6DC-4D94-8654-661C291CBAB3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EA71698-2BE7-49B7-AF04-EA588546488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801840-E1B8-4FA9-9ED8-D6FD05B77A81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C9D4CC-956B-4526-8554-BE24A0F6ACA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07FAF0-9F7D-4EB1-8AE2-1BB8990B1D29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95592AE-FFD0-4E3F-BBE7-BCAF5174070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E33D9F-8951-4984-9062-B0E3CB854A06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13DF09-68D2-44F5-B1E7-F3126EEC4DE7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D15068-37FE-4E6A-872B-593AF5DB73CB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A4A183-23EB-43FD-B277-45D51EA5EAB4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DEE68-F66D-4FFD-A920-18A72CBF98D7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BCCA8-0081-4849-8975-64E5F398D029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5F227B-9831-4614-B061-B5E3717A30E1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EAEBB8-3AC3-4442-81E2-080E204DA0F1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CA6EDB-0409-48C0-B10B-F1AF8DC3CFA2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C446F9-8C0A-4A49-8CF5-75961B38B285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8B4FF3-5017-44FF-B0EF-8890BBB205FA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FA5F3C-8B61-45A5-99B0-E400CFFCBB39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B3986-037E-47CC-BA79-B9417E0C8C59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ubTitle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ubTitle"/>
          </p:nvPr>
        </p:nvSpPr>
        <p:spPr>
          <a:xfrm>
            <a:off x="190440" y="100800"/>
            <a:ext cx="10270080" cy="409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55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/>
          </p:nvPr>
        </p:nvSpPr>
        <p:spPr>
          <a:xfrm>
            <a:off x="190440" y="4084200"/>
            <a:ext cx="1181772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6246000" y="119628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/>
          </p:nvPr>
        </p:nvSpPr>
        <p:spPr>
          <a:xfrm>
            <a:off x="19044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/>
          </p:nvPr>
        </p:nvSpPr>
        <p:spPr>
          <a:xfrm>
            <a:off x="6246000" y="4084200"/>
            <a:ext cx="576684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18644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/>
          </p:nvPr>
        </p:nvSpPr>
        <p:spPr>
          <a:xfrm>
            <a:off x="8182080" y="119628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4" name="PlaceHolder 5"/>
          <p:cNvSpPr>
            <a:spLocks noGrp="1"/>
          </p:cNvSpPr>
          <p:nvPr>
            <p:ph/>
          </p:nvPr>
        </p:nvSpPr>
        <p:spPr>
          <a:xfrm>
            <a:off x="190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5" name="PlaceHolder 6"/>
          <p:cNvSpPr>
            <a:spLocks noGrp="1"/>
          </p:cNvSpPr>
          <p:nvPr>
            <p:ph/>
          </p:nvPr>
        </p:nvSpPr>
        <p:spPr>
          <a:xfrm>
            <a:off x="418644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46" name="PlaceHolder 7"/>
          <p:cNvSpPr>
            <a:spLocks noGrp="1"/>
          </p:cNvSpPr>
          <p:nvPr>
            <p:ph/>
          </p:nvPr>
        </p:nvSpPr>
        <p:spPr>
          <a:xfrm>
            <a:off x="8182080" y="4084200"/>
            <a:ext cx="3805200" cy="263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Relationship Id="rId9" Type="http://schemas.openxmlformats.org/officeDocument/2006/relationships/slideLayout" Target="../slideLayouts/slideLayout5.xml"/><Relationship Id="rId10" Type="http://schemas.openxmlformats.org/officeDocument/2006/relationships/slideLayout" Target="../slideLayouts/slideLayout6.xml"/><Relationship Id="rId11" Type="http://schemas.openxmlformats.org/officeDocument/2006/relationships/slideLayout" Target="../slideLayouts/slideLayout7.xml"/><Relationship Id="rId12" Type="http://schemas.openxmlformats.org/officeDocument/2006/relationships/slideLayout" Target="../slideLayouts/slideLayout8.xml"/><Relationship Id="rId13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Bottom"/>
          <p:cNvSpPr/>
          <p:nvPr/>
        </p:nvSpPr>
        <p:spPr>
          <a:xfrm>
            <a:off x="0" y="6702840"/>
            <a:ext cx="12194640" cy="154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body"/>
          </p:nvPr>
        </p:nvSpPr>
        <p:spPr>
          <a:xfrm>
            <a:off x="6390000" y="3399840"/>
            <a:ext cx="5248080" cy="218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bf7800"/>
                </a:solidFill>
                <a:latin typeface="Calibri"/>
              </a:rPr>
              <a:t>Click icon to add picture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234465"/>
                </a:solidFill>
                <a:latin typeface="Calibri"/>
              </a:rPr>
              <a:t>https://softuni.foundation  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SoftUni Foundation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1a334c"/>
                </a:solidFill>
                <a:latin typeface="Calibri"/>
              </a:rPr>
              <a:t>URL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Authors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6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en-US" sz="5400" spc="-1" strike="noStrike">
                <a:solidFill>
                  <a:srgbClr val="234465"/>
                </a:solidFill>
                <a:latin typeface="Calibri"/>
              </a:rPr>
              <a:t>Presentation Title</a:t>
            </a:r>
            <a:endParaRPr b="0" lang="en-US" sz="5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2"/>
          <a:stretch/>
        </p:blipFill>
        <p:spPr>
          <a:xfrm>
            <a:off x="536400" y="4326120"/>
            <a:ext cx="2537640" cy="632520"/>
          </a:xfrm>
          <a:prstGeom prst="rect">
            <a:avLst/>
          </a:prstGeom>
          <a:ln w="0">
            <a:noFill/>
          </a:ln>
        </p:spPr>
      </p:pic>
      <p:sp>
        <p:nvSpPr>
          <p:cNvPr id="8" name="Picture 4">
            <a:hlinkClick r:id="rId3"/>
          </p:cNvPr>
          <p:cNvSpPr/>
          <p:nvPr/>
        </p:nvSpPr>
        <p:spPr>
          <a:xfrm>
            <a:off x="3402720" y="4321440"/>
            <a:ext cx="1809000" cy="632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ldNum" idx="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3911D1-8987-4DEA-875C-6ACF481F10ED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96920" y="1371600"/>
            <a:ext cx="1178136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…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Table of Contents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9" name="Picture 2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val Center Icon"/>
          <p:cNvSpPr/>
          <p:nvPr/>
        </p:nvSpPr>
        <p:spPr>
          <a:xfrm>
            <a:off x="4319640" y="867600"/>
            <a:ext cx="3552120" cy="35521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Click to Edit Section Title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Num" idx="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A62D38-DEDD-4682-AC21-0A70D7D7516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27" name="Rectangle Top"/>
          <p:cNvSpPr/>
          <p:nvPr/>
        </p:nvSpPr>
        <p:spPr>
          <a:xfrm>
            <a:off x="0" y="0"/>
            <a:ext cx="12196440" cy="10951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29" name="Picture 3" descr=""/>
          <p:cNvPicPr/>
          <p:nvPr/>
        </p:nvPicPr>
        <p:blipFill>
          <a:blip r:embed="rId2"/>
          <a:stretch/>
        </p:blipFill>
        <p:spPr>
          <a:xfrm>
            <a:off x="10553400" y="36900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Num" idx="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5260FC-137A-4A0F-A700-99B0C75236F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Rectangle Left"/>
          <p:cNvSpPr/>
          <p:nvPr/>
        </p:nvSpPr>
        <p:spPr>
          <a:xfrm>
            <a:off x="0" y="0"/>
            <a:ext cx="1153440" cy="68576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pic>
        <p:nvPicPr>
          <p:cNvPr id="168" name="Picture Bulb" descr="Bulb"/>
          <p:cNvPicPr/>
          <p:nvPr/>
        </p:nvPicPr>
        <p:blipFill>
          <a:blip r:embed="rId2"/>
          <a:stretch/>
        </p:blipFill>
        <p:spPr>
          <a:xfrm>
            <a:off x="235080" y="1792440"/>
            <a:ext cx="1829880" cy="406188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1865880" y="1121040"/>
            <a:ext cx="1012896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Edit Master text styles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Second level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Third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3" marL="1700280" indent="-35244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Fourth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4" marL="2058840" indent="-2667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Fifth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234465"/>
                </a:solidFill>
                <a:latin typeface="Calibri"/>
              </a:rPr>
              <a:t>Slide Title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171" name="Picture 1" descr=""/>
          <p:cNvPicPr/>
          <p:nvPr/>
        </p:nvPicPr>
        <p:blipFill>
          <a:blip r:embed="rId3"/>
          <a:stretch/>
        </p:blipFill>
        <p:spPr>
          <a:xfrm>
            <a:off x="10551960" y="362160"/>
            <a:ext cx="1442880" cy="35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Bottom"/>
          <p:cNvSpPr/>
          <p:nvPr/>
        </p:nvSpPr>
        <p:spPr>
          <a:xfrm>
            <a:off x="0" y="6371280"/>
            <a:ext cx="12194640" cy="4867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7c86d"/>
              </a:solidFill>
              <a:latin typeface="Calibri"/>
              <a:ea typeface="맑은 고딕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5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Click to edit the outline text format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64000" indent="-324000">
              <a:lnSpc>
                <a:spcPct val="105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000" spc="-1" strike="noStrike">
                <a:solidFill>
                  <a:srgbClr val="234465"/>
                </a:solidFill>
                <a:latin typeface="Calibri"/>
              </a:rPr>
              <a:t>Second Outline Level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2" marL="1296000" indent="-288000">
              <a:lnSpc>
                <a:spcPct val="105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234465"/>
                </a:solidFill>
                <a:latin typeface="Calibri"/>
              </a:rPr>
              <a:t>Third Outline Level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3" marL="1728000" indent="-216000">
              <a:lnSpc>
                <a:spcPct val="105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234465"/>
                </a:solidFill>
                <a:latin typeface="Calibri"/>
              </a:rPr>
              <a:t>Fourth Outline Level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4" marL="2160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5" marL="2592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  <a:p>
            <a:pPr lvl="6" marL="3024000" indent="-216000">
              <a:lnSpc>
                <a:spcPct val="105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34465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about.softuni.bg/" TargetMode="Externa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hyperlink" Target="https://github.com/BG-IT-Edu" TargetMode="External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hyperlink" Target="https://github.com/BG-IT-Edu" TargetMode="External"/><Relationship Id="rId3" Type="http://schemas.openxmlformats.org/officeDocument/2006/relationships/hyperlink" Target="http://creativecommons.org/licenses/by-nc-sa/4.0/" TargetMode="External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37.xml"/><Relationship Id="rId6" Type="http://schemas.openxmlformats.org/officeDocument/2006/relationships/notesSlide" Target="../notesSlides/notesSlide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/>
          </p:nvPr>
        </p:nvSpPr>
        <p:spPr>
          <a:xfrm>
            <a:off x="6390000" y="6086160"/>
            <a:ext cx="5248080" cy="3409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1800" spc="-1" strike="noStrike">
                <a:solidFill>
                  <a:srgbClr val="234465"/>
                </a:solidFill>
                <a:latin typeface="Calibri"/>
              </a:rPr>
              <a:t>Софтуерни и хардуерни науки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6390000" y="5698080"/>
            <a:ext cx="5248080" cy="37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rmAutofit fontScale="94000"/>
          </a:bodyPr>
          <a:p>
            <a:pPr indent="0" algn="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bg-BG" sz="2000" spc="-1" strike="noStrike">
                <a:solidFill>
                  <a:srgbClr val="234465"/>
                </a:solidFill>
                <a:latin typeface="Calibri"/>
              </a:rPr>
              <a:t>Курс "Релационни бази данни"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33880" y="6085800"/>
            <a:ext cx="4751640" cy="341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0" lang="en-US" sz="1800" spc="-1" strike="noStrike" u="sng">
                <a:solidFill>
                  <a:srgbClr val="8f5a00"/>
                </a:solidFill>
                <a:uFillTx/>
                <a:latin typeface="Calibri"/>
                <a:hlinkClick r:id="rId1"/>
              </a:rPr>
              <a:t>https://about.softuni.bg</a:t>
            </a:r>
            <a:endParaRPr b="0" lang="en-US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533880" y="5250960"/>
            <a:ext cx="4751640" cy="7246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1a334c"/>
                </a:solidFill>
                <a:latin typeface="Calibri"/>
              </a:rPr>
              <a:t>Software University</a:t>
            </a:r>
            <a:endParaRPr b="0" lang="en-US" sz="2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subTitle"/>
          </p:nvPr>
        </p:nvSpPr>
        <p:spPr>
          <a:xfrm>
            <a:off x="554760" y="1402920"/>
            <a:ext cx="11083320" cy="13057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indent="0"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Връзки, релационна схема, аномалии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и нормални форми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6"/>
          <p:cNvSpPr>
            <a:spLocks noGrp="1"/>
          </p:cNvSpPr>
          <p:nvPr>
            <p:ph type="title"/>
          </p:nvPr>
        </p:nvSpPr>
        <p:spPr>
          <a:xfrm>
            <a:off x="554760" y="321480"/>
            <a:ext cx="11083320" cy="9712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4400" spc="-1" strike="noStrike">
                <a:solidFill>
                  <a:srgbClr val="234465"/>
                </a:solidFill>
                <a:latin typeface="Calibri"/>
              </a:rPr>
              <a:t>Връзки и </a:t>
            </a:r>
            <a:r>
              <a:rPr b="1" lang="en-US" sz="4400" spc="-1" strike="noStrike">
                <a:solidFill>
                  <a:srgbClr val="234465"/>
                </a:solidFill>
                <a:latin typeface="Calibri"/>
              </a:rPr>
              <a:t>E/R </a:t>
            </a:r>
            <a:r>
              <a:rPr b="1" lang="bg-BG" sz="4400" spc="-1" strike="noStrike">
                <a:solidFill>
                  <a:srgbClr val="234465"/>
                </a:solidFill>
                <a:latin typeface="Calibri"/>
              </a:rPr>
              <a:t>диаграми</a:t>
            </a:r>
            <a:endParaRPr b="0" lang="en-US" sz="44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259" name="Picture 3" descr=""/>
          <p:cNvPicPr/>
          <p:nvPr/>
        </p:nvPicPr>
        <p:blipFill>
          <a:blip r:embed="rId2"/>
          <a:stretch/>
        </p:blipFill>
        <p:spPr>
          <a:xfrm>
            <a:off x="584280" y="3002400"/>
            <a:ext cx="1956240" cy="875160"/>
          </a:xfrm>
          <a:prstGeom prst="rect">
            <a:avLst/>
          </a:prstGeom>
          <a:ln w="0">
            <a:noFill/>
          </a:ln>
        </p:spPr>
      </p:pic>
      <p:pic>
        <p:nvPicPr>
          <p:cNvPr id="260" name="Picture 2" descr="What is an Entity Diagram (ERD)?. An Entity Relationship Diagram or ER… |  by sonia dumitru | Medium"/>
          <p:cNvPicPr/>
          <p:nvPr/>
        </p:nvPicPr>
        <p:blipFill>
          <a:blip r:embed="rId3"/>
          <a:stretch/>
        </p:blipFill>
        <p:spPr>
          <a:xfrm>
            <a:off x="7715880" y="2696400"/>
            <a:ext cx="3769920" cy="2758320"/>
          </a:xfrm>
          <a:prstGeom prst="rect">
            <a:avLst/>
          </a:prstGeom>
          <a:ln w="0">
            <a:solidFill>
              <a:srgbClr val="ffffff">
                <a:lumMod val="75000"/>
              </a:srgbClr>
            </a:solidFill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/>
          </p:nvPr>
        </p:nvSpPr>
        <p:spPr>
          <a:xfrm>
            <a:off x="304920" y="1219320"/>
            <a:ext cx="10671480" cy="52070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Видове връзки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Ограничения на целостта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Каскадни операции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 аномалии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вмъкване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на записи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редактиране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на записи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При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изтриване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на записи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Нормализиране на БД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514080" indent="-51408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Calibri"/>
              <a:buAutoNum type="arabicPeriod"/>
            </a:pP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E/R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диаграми и релационна схема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96688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Съдържание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3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00CC829-4AAB-482C-AAB3-F0328D894EC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Picture 2" descr="Key | Bandipedia | Fandom"/>
          <p:cNvPicPr/>
          <p:nvPr/>
        </p:nvPicPr>
        <p:blipFill>
          <a:blip r:embed="rId1"/>
          <a:stretch/>
        </p:blipFill>
        <p:spPr>
          <a:xfrm>
            <a:off x="4724280" y="1143000"/>
            <a:ext cx="2742840" cy="2899440"/>
          </a:xfrm>
          <a:prstGeom prst="rect">
            <a:avLst/>
          </a:prstGeom>
          <a:ln w="0">
            <a:noFill/>
          </a:ln>
        </p:spPr>
      </p:pic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615240" y="4869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Видове връзки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8000"/>
          </a:bodyPr>
          <a:p>
            <a:pPr marL="316800" indent="-3168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Външният ключ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е идентификатор на запис, разположен в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друга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таблица (обикновено нейният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първичен ключ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16800" indent="-3168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Чрез използването на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релации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(relationships)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избягваме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повтарянето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на данни в БД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16800" indent="-3168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Има следните </a:t>
            </a:r>
            <a:r>
              <a:rPr b="1" lang="bg-BG" sz="3400" spc="-1" strike="noStrike">
                <a:solidFill>
                  <a:srgbClr val="234465"/>
                </a:solidFill>
                <a:latin typeface="Calibri"/>
              </a:rPr>
              <a:t>видове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234465"/>
                </a:solidFill>
                <a:latin typeface="Calibri"/>
              </a:rPr>
              <a:t>връзки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06680" indent="-3168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Едно към много (</a:t>
            </a:r>
            <a:r>
              <a:rPr b="1" lang="en-US" sz="3200" spc="-1" strike="noStrike">
                <a:solidFill>
                  <a:srgbClr val="bf7800"/>
                </a:solidFill>
                <a:latin typeface="Calibri"/>
              </a:rPr>
              <a:t>one-to-many</a:t>
            </a:r>
            <a:r>
              <a:rPr b="1" lang="bg-BG" sz="3200" spc="-1" strike="noStrike">
                <a:solidFill>
                  <a:srgbClr val="1a334c"/>
                </a:solidFill>
                <a:latin typeface="Calibri"/>
              </a:rPr>
              <a:t>)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 – пример: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държава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 /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град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06680" indent="-3168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Много към много (</a:t>
            </a:r>
            <a:r>
              <a:rPr b="1" lang="en-US" sz="3200" spc="-1" strike="noStrike">
                <a:solidFill>
                  <a:srgbClr val="bf7800"/>
                </a:solidFill>
                <a:latin typeface="Calibri"/>
              </a:rPr>
              <a:t>many-to-many</a:t>
            </a:r>
            <a:r>
              <a:rPr b="1" lang="bg-BG" sz="3200" spc="-1" strike="noStrike">
                <a:solidFill>
                  <a:srgbClr val="1a334c"/>
                </a:solidFill>
                <a:latin typeface="Calibri"/>
              </a:rPr>
              <a:t>)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 – пример: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студент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 /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курс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06680" indent="-3168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Едно към едно (</a:t>
            </a:r>
            <a:r>
              <a:rPr b="1" lang="en-US" sz="3200" spc="-1" strike="noStrike">
                <a:solidFill>
                  <a:srgbClr val="bf7800"/>
                </a:solidFill>
                <a:latin typeface="Calibri"/>
              </a:rPr>
              <a:t>one-to-one</a:t>
            </a:r>
            <a:r>
              <a:rPr b="1" lang="bg-BG" sz="3200" spc="-1" strike="noStrike">
                <a:solidFill>
                  <a:srgbClr val="1a334c"/>
                </a:solidFill>
                <a:latin typeface="Calibri"/>
              </a:rPr>
              <a:t>)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–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пример: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човек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 /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паспорт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Връзки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8FDCF9-9760-45D9-8104-90C9E2FE0AE6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/>
          </p:nvPr>
        </p:nvSpPr>
        <p:spPr>
          <a:xfrm>
            <a:off x="-22860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Един запис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 първата таблица има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много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съответстващи записи във втората таблица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Едно към много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(One-to-Many)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1" name="Text Box 51"/>
          <p:cNvSpPr/>
          <p:nvPr/>
        </p:nvSpPr>
        <p:spPr>
          <a:xfrm>
            <a:off x="2628720" y="2574000"/>
            <a:ext cx="124632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1a334c"/>
                </a:solidFill>
                <a:latin typeface="Consolas"/>
              </a:rPr>
              <a:t>Towns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Box 52"/>
          <p:cNvSpPr/>
          <p:nvPr/>
        </p:nvSpPr>
        <p:spPr>
          <a:xfrm>
            <a:off x="8348400" y="2853720"/>
            <a:ext cx="209988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1a334c"/>
                </a:solidFill>
                <a:latin typeface="Consolas"/>
              </a:rPr>
              <a:t>Countries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Line 56"/>
          <p:cNvSpPr/>
          <p:nvPr/>
        </p:nvSpPr>
        <p:spPr>
          <a:xfrm>
            <a:off x="6400800" y="4091040"/>
            <a:ext cx="1523880" cy="22860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4" name="Line 57"/>
          <p:cNvSpPr/>
          <p:nvPr/>
        </p:nvSpPr>
        <p:spPr>
          <a:xfrm flipV="1">
            <a:off x="6400800" y="4471920"/>
            <a:ext cx="1523880" cy="13608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5" name="Line 58"/>
          <p:cNvSpPr/>
          <p:nvPr/>
        </p:nvSpPr>
        <p:spPr>
          <a:xfrm flipV="1">
            <a:off x="6400800" y="4929120"/>
            <a:ext cx="1523880" cy="13608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6" name="Line 59"/>
          <p:cNvSpPr/>
          <p:nvPr/>
        </p:nvSpPr>
        <p:spPr>
          <a:xfrm flipV="1">
            <a:off x="6400800" y="5081400"/>
            <a:ext cx="1523880" cy="44928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77" name="Line 60"/>
          <p:cNvSpPr/>
          <p:nvPr/>
        </p:nvSpPr>
        <p:spPr>
          <a:xfrm flipV="1">
            <a:off x="6400800" y="5538600"/>
            <a:ext cx="1523880" cy="44928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278" name="object 14"/>
          <p:cNvGraphicFramePr/>
          <p:nvPr/>
        </p:nvGraphicFramePr>
        <p:xfrm>
          <a:off x="1143000" y="3176640"/>
          <a:ext cx="5257440" cy="3058200"/>
        </p:xfrm>
        <a:graphic>
          <a:graphicData uri="http://schemas.openxmlformats.org/drawingml/2006/table">
            <a:tbl>
              <a:tblPr/>
              <a:tblGrid>
                <a:gridCol w="1093680"/>
                <a:gridCol w="1397160"/>
                <a:gridCol w="2766600"/>
              </a:tblGrid>
              <a:tr h="559800">
                <a:tc>
                  <a:txBody>
                    <a:bodyPr lIns="0" rIns="0" tIns="583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58320" bIns="0" anchor="t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Name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58320" bIns="0" anchor="t">
                      <a:noAutofit/>
                    </a:bodyPr>
                    <a:p>
                      <a:pPr marL="93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CountryId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559800">
                <a:tc>
                  <a:txBody>
                    <a:bodyPr lIns="0" rIns="0" tIns="583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t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0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Sofia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t">
                      <a:noAutofit/>
                    </a:bodyPr>
                    <a:p>
                      <a:pPr marL="936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0" rIns="0" tIns="295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2" strike="noStrike">
                          <a:solidFill>
                            <a:srgbClr val="224464"/>
                          </a:solidFill>
                          <a:latin typeface="Calibri"/>
                        </a:rPr>
                        <a:t>Varna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576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2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0" rIns="0" tIns="295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Munich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576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0" rIns="0" tIns="295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Berlin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576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0" rIns="0" tIns="295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5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Moscow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576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2808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9" name="object 14"/>
          <p:cNvGraphicFramePr/>
          <p:nvPr/>
        </p:nvGraphicFramePr>
        <p:xfrm>
          <a:off x="7924680" y="3501720"/>
          <a:ext cx="2947320" cy="2249280"/>
        </p:xfrm>
        <a:graphic>
          <a:graphicData uri="http://schemas.openxmlformats.org/drawingml/2006/table">
            <a:tbl>
              <a:tblPr/>
              <a:tblGrid>
                <a:gridCol w="955800"/>
                <a:gridCol w="1991520"/>
              </a:tblGrid>
              <a:tr h="546840">
                <a:tc>
                  <a:txBody>
                    <a:bodyPr lIns="0" rIns="0" tIns="83520" bIns="0" anchor="t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</a:t>
                      </a: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t">
                      <a:noAutofit/>
                    </a:bodyPr>
                    <a:p>
                      <a:pPr marL="2361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Name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623160">
                <a:tc>
                  <a:txBody>
                    <a:bodyPr lIns="0" rIns="0" tIns="583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t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0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Bulgaria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39280">
                <a:tc>
                  <a:txBody>
                    <a:bodyPr lIns="0" rIns="0" tIns="295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2" strike="noStrike">
                          <a:solidFill>
                            <a:srgbClr val="224464"/>
                          </a:solidFill>
                          <a:latin typeface="Calibri"/>
                        </a:rPr>
                        <a:t>Germany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39280">
                <a:tc>
                  <a:txBody>
                    <a:bodyPr lIns="0" rIns="0" tIns="29520" bIns="0" anchor="t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t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Russia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0" name="PlaceHolder 3"/>
          <p:cNvSpPr>
            <a:spLocks noGrp="1"/>
          </p:cNvSpPr>
          <p:nvPr>
            <p:ph type="sldNum" idx="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E687EF-0BA9-4F9F-98E7-026A89CA5DE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/>
          </p:nvPr>
        </p:nvSpPr>
        <p:spPr>
          <a:xfrm>
            <a:off x="190440" y="121932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Записите в първата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таблица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имат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много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съответстващи записи във втората 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обратно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Реализира се чрез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допълнителна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таблица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Много към много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(Many-to-Many)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3" name="Text Box 42"/>
          <p:cNvSpPr/>
          <p:nvPr/>
        </p:nvSpPr>
        <p:spPr>
          <a:xfrm>
            <a:off x="9089640" y="3647520"/>
            <a:ext cx="167328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Courses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Line 67"/>
          <p:cNvSpPr/>
          <p:nvPr/>
        </p:nvSpPr>
        <p:spPr>
          <a:xfrm flipH="1" flipV="1">
            <a:off x="3657240" y="4485600"/>
            <a:ext cx="1143000" cy="22860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5" name="Line 68"/>
          <p:cNvSpPr/>
          <p:nvPr/>
        </p:nvSpPr>
        <p:spPr>
          <a:xfrm flipH="1" flipV="1">
            <a:off x="3697920" y="4690440"/>
            <a:ext cx="1102680" cy="55692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6" name="Line 70"/>
          <p:cNvSpPr/>
          <p:nvPr/>
        </p:nvSpPr>
        <p:spPr>
          <a:xfrm flipH="1" flipV="1">
            <a:off x="3657240" y="5628600"/>
            <a:ext cx="1143000" cy="7596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30960" bIns="3096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7" name="Line 71"/>
          <p:cNvSpPr/>
          <p:nvPr/>
        </p:nvSpPr>
        <p:spPr>
          <a:xfrm flipH="1" flipV="1">
            <a:off x="3657240" y="5780880"/>
            <a:ext cx="1143000" cy="53352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8" name="Line 73"/>
          <p:cNvSpPr/>
          <p:nvPr/>
        </p:nvSpPr>
        <p:spPr>
          <a:xfrm>
            <a:off x="7619760" y="4714200"/>
            <a:ext cx="914400" cy="22860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89" name="Line 74"/>
          <p:cNvSpPr/>
          <p:nvPr/>
        </p:nvSpPr>
        <p:spPr>
          <a:xfrm>
            <a:off x="7620120" y="5380920"/>
            <a:ext cx="914040" cy="9504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0" name="Line 75"/>
          <p:cNvSpPr/>
          <p:nvPr/>
        </p:nvSpPr>
        <p:spPr>
          <a:xfrm flipV="1">
            <a:off x="7620120" y="5628240"/>
            <a:ext cx="914040" cy="13356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1" name="Line 76"/>
          <p:cNvSpPr/>
          <p:nvPr/>
        </p:nvSpPr>
        <p:spPr>
          <a:xfrm flipV="1">
            <a:off x="7619760" y="6009480"/>
            <a:ext cx="914400" cy="27000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2" name="Text Box 52"/>
          <p:cNvSpPr/>
          <p:nvPr/>
        </p:nvSpPr>
        <p:spPr>
          <a:xfrm>
            <a:off x="1233000" y="3114000"/>
            <a:ext cx="188640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Students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3" name="object 14"/>
          <p:cNvGraphicFramePr/>
          <p:nvPr/>
        </p:nvGraphicFramePr>
        <p:xfrm>
          <a:off x="990720" y="3723480"/>
          <a:ext cx="2590560" cy="2719080"/>
        </p:xfrm>
        <a:graphic>
          <a:graphicData uri="http://schemas.openxmlformats.org/drawingml/2006/table">
            <a:tbl>
              <a:tblPr/>
              <a:tblGrid>
                <a:gridCol w="980280"/>
                <a:gridCol w="1610280"/>
              </a:tblGrid>
              <a:tr h="533160">
                <a:tc>
                  <a:txBody>
                    <a:bodyPr lIns="0" rIns="0" tIns="83520" bIns="0" anchor="ctr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</a:t>
                      </a: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marL="2361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Name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607680">
                <a:tc>
                  <a:txBody>
                    <a:bodyPr lIns="0" rIns="0" tIns="58320" bIns="0" anchor="ctr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58320" bIns="0" anchor="ctr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b="0" lang="en-US" sz="2400" spc="-21" strike="noStrike">
                          <a:solidFill>
                            <a:srgbClr val="224464"/>
                          </a:solidFill>
                          <a:latin typeface="Calibri"/>
                        </a:rPr>
                        <a:t>Ivan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lIns="0" rIns="0" tIns="29520" bIns="0" anchor="ctr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4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400" spc="-12" strike="noStrike">
                          <a:solidFill>
                            <a:srgbClr val="224464"/>
                          </a:solidFill>
                          <a:latin typeface="Calibri"/>
                        </a:rPr>
                        <a:t>Peter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lIns="0" rIns="0" tIns="29520" bIns="0" anchor="ctr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George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lIns="0" rIns="0" tIns="29520" bIns="0" anchor="ctr">
                      <a:noAutofit/>
                    </a:bodyPr>
                    <a:p>
                      <a:pPr marL="4320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lIns="0" rIns="0" tIns="29520" bIns="0" anchor="ctr">
                      <a:noAutofit/>
                    </a:bodyPr>
                    <a:p>
                      <a:pPr marL="2610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Maria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4" name="Text Box 52"/>
          <p:cNvSpPr/>
          <p:nvPr/>
        </p:nvSpPr>
        <p:spPr>
          <a:xfrm>
            <a:off x="4495680" y="3266280"/>
            <a:ext cx="3352320" cy="8571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StudentsCourses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95" name="object 14"/>
          <p:cNvGraphicFramePr/>
          <p:nvPr/>
        </p:nvGraphicFramePr>
        <p:xfrm>
          <a:off x="4800600" y="3876120"/>
          <a:ext cx="2819160" cy="2644560"/>
        </p:xfrm>
        <a:graphic>
          <a:graphicData uri="http://schemas.openxmlformats.org/drawingml/2006/table">
            <a:tbl>
              <a:tblPr/>
              <a:tblGrid>
                <a:gridCol w="1409400"/>
                <a:gridCol w="1409400"/>
              </a:tblGrid>
              <a:tr h="533160">
                <a:tc>
                  <a:txBody>
                    <a:bodyPr lIns="0" rIns="0" tIns="83520" bIns="0" anchor="ctr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Student</a:t>
                      </a: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marL="23616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CourseId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6" name="object 14"/>
          <p:cNvGraphicFramePr/>
          <p:nvPr/>
        </p:nvGraphicFramePr>
        <p:xfrm>
          <a:off x="8610480" y="4257000"/>
          <a:ext cx="2666520" cy="2310840"/>
        </p:xfrm>
        <a:graphic>
          <a:graphicData uri="http://schemas.openxmlformats.org/drawingml/2006/table">
            <a:tbl>
              <a:tblPr/>
              <a:tblGrid>
                <a:gridCol w="1066680"/>
                <a:gridCol w="1600200"/>
              </a:tblGrid>
              <a:tr h="500400">
                <a:tc>
                  <a:txBody>
                    <a:bodyPr lIns="0" rIns="0" tIns="83520" bIns="0" anchor="ctr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marL="23616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Name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.NET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Databases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JavaScript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A885CD-4AAA-4E45-AE42-2F55345AC30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" dur="indefinite" restart="never" nodeType="tmRoot">
          <p:childTnLst>
            <p:seq>
              <p:cTn id="76" dur="indefinite" nodeType="mainSeq">
                <p:childTnLst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/>
          </p:nvPr>
        </p:nvSpPr>
        <p:spPr>
          <a:xfrm>
            <a:off x="76320" y="1287720"/>
            <a:ext cx="1227456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Един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 запис в първата таблица съответства на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един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 запис във втората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Използва се за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наследяване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 между таблици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title"/>
          </p:nvPr>
        </p:nvSpPr>
        <p:spPr>
          <a:xfrm>
            <a:off x="190440" y="142200"/>
            <a:ext cx="971532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Едно към едно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(One-to-One)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0" name="Line 41"/>
          <p:cNvSpPr/>
          <p:nvPr/>
        </p:nvSpPr>
        <p:spPr>
          <a:xfrm>
            <a:off x="4794840" y="5994000"/>
            <a:ext cx="2518200" cy="51300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headEnd len="lg" type="stealth" w="lg"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1" name="Line 42"/>
          <p:cNvSpPr/>
          <p:nvPr/>
        </p:nvSpPr>
        <p:spPr>
          <a:xfrm>
            <a:off x="4794840" y="5544360"/>
            <a:ext cx="2471040" cy="17928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headEnd len="lg" type="stealth" w="lg"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2" name="Line 43"/>
          <p:cNvSpPr/>
          <p:nvPr/>
        </p:nvSpPr>
        <p:spPr>
          <a:xfrm flipV="1">
            <a:off x="8148240" y="3158640"/>
            <a:ext cx="360" cy="1388880"/>
          </a:xfrm>
          <a:prstGeom prst="line">
            <a:avLst/>
          </a:prstGeom>
          <a:ln w="31750">
            <a:solidFill>
              <a:srgbClr val="67748e">
                <a:lumMod val="20000"/>
                <a:lumOff val="80000"/>
              </a:srgbClr>
            </a:solidFill>
            <a:round/>
            <a:headEnd len="lg" type="stealth" w="lg"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03" name="Text Box 52"/>
          <p:cNvSpPr/>
          <p:nvPr/>
        </p:nvSpPr>
        <p:spPr>
          <a:xfrm>
            <a:off x="8148600" y="4026960"/>
            <a:ext cx="190476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People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4" name="object 14"/>
          <p:cNvGraphicFramePr/>
          <p:nvPr/>
        </p:nvGraphicFramePr>
        <p:xfrm>
          <a:off x="7543800" y="4547880"/>
          <a:ext cx="3352320" cy="2125800"/>
        </p:xfrm>
        <a:graphic>
          <a:graphicData uri="http://schemas.openxmlformats.org/drawingml/2006/table">
            <a:tbl>
              <a:tblPr/>
              <a:tblGrid>
                <a:gridCol w="871560"/>
                <a:gridCol w="1261800"/>
                <a:gridCol w="1218960"/>
              </a:tblGrid>
              <a:tr h="533160">
                <a:tc>
                  <a:txBody>
                    <a:bodyPr lIns="0" rIns="0" tIns="83520" bIns="0" anchor="ctr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Name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Age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Peter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Stoyan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20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Ivan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5" name="AutoShape 7"/>
          <p:cNvSpPr/>
          <p:nvPr/>
        </p:nvSpPr>
        <p:spPr>
          <a:xfrm>
            <a:off x="5777640" y="4090680"/>
            <a:ext cx="1676160" cy="914040"/>
          </a:xfrm>
          <a:prstGeom prst="wedgeRoundRectCallout">
            <a:avLst>
              <a:gd name="adj1" fmla="val 55702"/>
              <a:gd name="adj2" fmla="val 679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Първичен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Box 42"/>
          <p:cNvSpPr/>
          <p:nvPr/>
        </p:nvSpPr>
        <p:spPr>
          <a:xfrm>
            <a:off x="1780920" y="4267080"/>
            <a:ext cx="188640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Students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07" name="object 14"/>
          <p:cNvGraphicFramePr/>
          <p:nvPr/>
        </p:nvGraphicFramePr>
        <p:xfrm>
          <a:off x="928800" y="4800600"/>
          <a:ext cx="3733560" cy="2053080"/>
        </p:xfrm>
        <a:graphic>
          <a:graphicData uri="http://schemas.openxmlformats.org/drawingml/2006/table">
            <a:tbl>
              <a:tblPr/>
              <a:tblGrid>
                <a:gridCol w="1098000"/>
                <a:gridCol w="2635560"/>
              </a:tblGrid>
              <a:tr h="500400">
                <a:tc>
                  <a:txBody>
                    <a:bodyPr lIns="0" rIns="0" tIns="83520" bIns="0" anchor="ctr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PersonId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Specialty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Computer Science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Chemistry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8" name="AutoShape 7"/>
          <p:cNvSpPr/>
          <p:nvPr/>
        </p:nvSpPr>
        <p:spPr>
          <a:xfrm>
            <a:off x="5105880" y="2667240"/>
            <a:ext cx="2209320" cy="990360"/>
          </a:xfrm>
          <a:prstGeom prst="wedgeRoundRectCallout">
            <a:avLst>
              <a:gd name="adj1" fmla="val 79216"/>
              <a:gd name="adj2" fmla="val 1303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Първичен и външен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Box 42"/>
          <p:cNvSpPr/>
          <p:nvPr/>
        </p:nvSpPr>
        <p:spPr>
          <a:xfrm>
            <a:off x="8073000" y="1861200"/>
            <a:ext cx="231336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Professors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0" name="object 14"/>
          <p:cNvGraphicFramePr/>
          <p:nvPr/>
        </p:nvGraphicFramePr>
        <p:xfrm>
          <a:off x="7999200" y="2394720"/>
          <a:ext cx="2437920" cy="993960"/>
        </p:xfrm>
        <a:graphic>
          <a:graphicData uri="http://schemas.openxmlformats.org/drawingml/2006/table">
            <a:tbl>
              <a:tblPr/>
              <a:tblGrid>
                <a:gridCol w="1218960"/>
                <a:gridCol w="1218960"/>
              </a:tblGrid>
              <a:tr h="500400">
                <a:tc>
                  <a:txBody>
                    <a:bodyPr lIns="0" rIns="0" tIns="83520" bIns="0" anchor="ctr">
                      <a:noAutofit/>
                    </a:bodyPr>
                    <a:p>
                      <a:pPr marL="252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PersonId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marL="23616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Title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4935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Ph.D.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1" name="AutoShape 7"/>
          <p:cNvSpPr/>
          <p:nvPr/>
        </p:nvSpPr>
        <p:spPr>
          <a:xfrm>
            <a:off x="676080" y="2956320"/>
            <a:ext cx="2133360" cy="914040"/>
          </a:xfrm>
          <a:prstGeom prst="wedgeRoundRectCallout">
            <a:avLst>
              <a:gd name="adj1" fmla="val -17999"/>
              <a:gd name="adj2" fmla="val 15126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Първичен и външен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A39D71-D3AB-447F-BD37-5E3003D3187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ffffff"/>
                </a:solidFill>
                <a:latin typeface="Calibri"/>
              </a:rPr>
              <a:t>Връзка между записи в същата таблица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Връзките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първичен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/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външен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ключ могат да сочат към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една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съща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таблица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(self-relationship)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Пример: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папките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 съдържат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подпапки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5" name="Text Box 52"/>
          <p:cNvSpPr/>
          <p:nvPr/>
        </p:nvSpPr>
        <p:spPr>
          <a:xfrm>
            <a:off x="5015880" y="3231720"/>
            <a:ext cx="1904760" cy="47340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spcBef>
                <a:spcPts val="839"/>
              </a:spcBef>
            </a:pPr>
            <a:r>
              <a:rPr b="1" lang="en-US" sz="2800" spc="-1" strike="noStrike">
                <a:solidFill>
                  <a:srgbClr val="234465"/>
                </a:solidFill>
                <a:latin typeface="Consolas"/>
              </a:rPr>
              <a:t>Folders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6" name="object 14"/>
          <p:cNvGraphicFramePr/>
          <p:nvPr/>
        </p:nvGraphicFramePr>
        <p:xfrm>
          <a:off x="3886200" y="3809880"/>
          <a:ext cx="4419360" cy="2948760"/>
        </p:xfrm>
        <a:graphic>
          <a:graphicData uri="http://schemas.openxmlformats.org/drawingml/2006/table">
            <a:tbl>
              <a:tblPr/>
              <a:tblGrid>
                <a:gridCol w="990360"/>
                <a:gridCol w="2052360"/>
                <a:gridCol w="1376280"/>
              </a:tblGrid>
              <a:tr h="533160">
                <a:tc>
                  <a:txBody>
                    <a:bodyPr lIns="0" rIns="0" tIns="83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24464"/>
                          </a:solidFill>
                          <a:latin typeface="Calibri"/>
                        </a:rPr>
                        <a:t>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7" strike="noStrike">
                          <a:solidFill>
                            <a:srgbClr val="224464"/>
                          </a:solidFill>
                          <a:latin typeface="Calibri"/>
                        </a:rPr>
                        <a:t>Name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lIns="0" rIns="0" tIns="83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b="1" lang="en-US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ParentId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Root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NULL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Documents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Pictures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5259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Birthday Party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7" name="AutoShape 7"/>
          <p:cNvSpPr/>
          <p:nvPr/>
        </p:nvSpPr>
        <p:spPr>
          <a:xfrm>
            <a:off x="1447920" y="3352680"/>
            <a:ext cx="2437920" cy="533160"/>
          </a:xfrm>
          <a:prstGeom prst="wedgeRoundRectCallout">
            <a:avLst>
              <a:gd name="adj1" fmla="val 55702"/>
              <a:gd name="adj2" fmla="val 679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Първичен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Freeform 33"/>
          <p:cNvSpPr/>
          <p:nvPr/>
        </p:nvSpPr>
        <p:spPr>
          <a:xfrm>
            <a:off x="8320320" y="4724280"/>
            <a:ext cx="796680" cy="914040"/>
          </a:xfrm>
          <a:custGeom>
            <a:avLst/>
            <a:gdLst>
              <a:gd name="textAreaLeft" fmla="*/ 0 w 796680"/>
              <a:gd name="textAreaRight" fmla="*/ 797040 w 796680"/>
              <a:gd name="textAreaTop" fmla="*/ 0 h 914040"/>
              <a:gd name="textAreaBottom" fmla="*/ 914400 h 914040"/>
            </a:gdLst>
            <a:ahLst/>
            <a:rect l="textAreaLeft" t="textAreaTop" r="textAreaRight" b="textAreaBottom"/>
            <a:pathLst>
              <a:path w="502" h="617">
                <a:moveTo>
                  <a:pt x="5" y="590"/>
                </a:moveTo>
                <a:cubicBezTo>
                  <a:pt x="76" y="580"/>
                  <a:pt x="359" y="617"/>
                  <a:pt x="430" y="533"/>
                </a:cubicBezTo>
                <a:cubicBezTo>
                  <a:pt x="501" y="449"/>
                  <a:pt x="502" y="170"/>
                  <a:pt x="430" y="85"/>
                </a:cubicBezTo>
                <a:cubicBezTo>
                  <a:pt x="358" y="0"/>
                  <a:pt x="90" y="34"/>
                  <a:pt x="0" y="21"/>
                </a:cubicBezTo>
              </a:path>
            </a:pathLst>
          </a:custGeom>
          <a:noFill/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19" name="Freeform 34"/>
          <p:cNvSpPr/>
          <p:nvPr/>
        </p:nvSpPr>
        <p:spPr>
          <a:xfrm>
            <a:off x="8320320" y="4495680"/>
            <a:ext cx="796680" cy="685440"/>
          </a:xfrm>
          <a:custGeom>
            <a:avLst/>
            <a:gdLst>
              <a:gd name="textAreaLeft" fmla="*/ 0 w 796680"/>
              <a:gd name="textAreaRight" fmla="*/ 797040 w 796680"/>
              <a:gd name="textAreaTop" fmla="*/ 0 h 685440"/>
              <a:gd name="textAreaBottom" fmla="*/ 685800 h 685440"/>
            </a:gdLst>
            <a:ahLst/>
            <a:rect l="textAreaLeft" t="textAreaTop" r="textAreaRight" b="textAreaBottom"/>
            <a:pathLst>
              <a:path w="502" h="617">
                <a:moveTo>
                  <a:pt x="5" y="590"/>
                </a:moveTo>
                <a:cubicBezTo>
                  <a:pt x="76" y="580"/>
                  <a:pt x="359" y="617"/>
                  <a:pt x="430" y="533"/>
                </a:cubicBezTo>
                <a:cubicBezTo>
                  <a:pt x="501" y="449"/>
                  <a:pt x="502" y="170"/>
                  <a:pt x="430" y="85"/>
                </a:cubicBezTo>
                <a:cubicBezTo>
                  <a:pt x="358" y="0"/>
                  <a:pt x="90" y="34"/>
                  <a:pt x="0" y="21"/>
                </a:cubicBezTo>
              </a:path>
            </a:pathLst>
          </a:custGeom>
          <a:noFill/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0" name="Freeform 35"/>
          <p:cNvSpPr/>
          <p:nvPr/>
        </p:nvSpPr>
        <p:spPr>
          <a:xfrm>
            <a:off x="8305920" y="5715000"/>
            <a:ext cx="796680" cy="495360"/>
          </a:xfrm>
          <a:custGeom>
            <a:avLst/>
            <a:gdLst>
              <a:gd name="textAreaLeft" fmla="*/ 0 w 796680"/>
              <a:gd name="textAreaRight" fmla="*/ 797040 w 796680"/>
              <a:gd name="textAreaTop" fmla="*/ 0 h 495360"/>
              <a:gd name="textAreaBottom" fmla="*/ 495720 h 495360"/>
            </a:gdLst>
            <a:ahLst/>
            <a:rect l="textAreaLeft" t="textAreaTop" r="textAreaRight" b="textAreaBottom"/>
            <a:pathLst>
              <a:path w="502" h="617">
                <a:moveTo>
                  <a:pt x="5" y="590"/>
                </a:moveTo>
                <a:cubicBezTo>
                  <a:pt x="76" y="580"/>
                  <a:pt x="359" y="617"/>
                  <a:pt x="430" y="533"/>
                </a:cubicBezTo>
                <a:cubicBezTo>
                  <a:pt x="501" y="449"/>
                  <a:pt x="502" y="170"/>
                  <a:pt x="430" y="85"/>
                </a:cubicBezTo>
                <a:cubicBezTo>
                  <a:pt x="358" y="0"/>
                  <a:pt x="90" y="34"/>
                  <a:pt x="0" y="21"/>
                </a:cubicBezTo>
              </a:path>
            </a:pathLst>
          </a:custGeom>
          <a:noFill/>
          <a:ln w="31750">
            <a:solidFill>
              <a:srgbClr val="67748e">
                <a:lumMod val="20000"/>
                <a:lumOff val="80000"/>
              </a:srgbClr>
            </a:solidFill>
            <a:round/>
            <a:tailEnd len="lg" type="stealth" w="lg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bg-BG" sz="1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1" name="AutoShape 7"/>
          <p:cNvSpPr/>
          <p:nvPr/>
        </p:nvSpPr>
        <p:spPr>
          <a:xfrm>
            <a:off x="8305920" y="2888280"/>
            <a:ext cx="2666520" cy="540360"/>
          </a:xfrm>
          <a:prstGeom prst="wedgeRoundRectCallout">
            <a:avLst>
              <a:gd name="adj1" fmla="val -62462"/>
              <a:gd name="adj2" fmla="val 14249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Външен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AutoShape 7"/>
          <p:cNvSpPr/>
          <p:nvPr/>
        </p:nvSpPr>
        <p:spPr>
          <a:xfrm>
            <a:off x="9601200" y="4329720"/>
            <a:ext cx="1599840" cy="540360"/>
          </a:xfrm>
          <a:prstGeom prst="wedgeRoundRectCallout">
            <a:avLst>
              <a:gd name="adj1" fmla="val -76269"/>
              <a:gd name="adj2" fmla="val 4433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Връзки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1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6EBF7B-52C3-4349-8119-5E6CA6D6E8FB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Num" idx="1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73E03A-1CA5-4EAD-8D01-34F8980FD88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В диаграмите на </a:t>
            </a:r>
            <a:r>
              <a:rPr b="1" lang="en-US" sz="3200" spc="-1" strike="noStrike">
                <a:solidFill>
                  <a:srgbClr val="234465"/>
                </a:solidFill>
                <a:latin typeface="Calibri"/>
              </a:rPr>
              <a:t>SQL Server Management Studio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можем да създаваме връзки между таблици с "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влачене на колона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"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Създаване на връзки в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SSMS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27" name="Picture 5" descr=""/>
          <p:cNvPicPr/>
          <p:nvPr/>
        </p:nvPicPr>
        <p:blipFill>
          <a:blip r:embed="rId1"/>
          <a:stretch/>
        </p:blipFill>
        <p:spPr>
          <a:xfrm>
            <a:off x="470880" y="2414160"/>
            <a:ext cx="6254640" cy="2084760"/>
          </a:xfrm>
          <a:prstGeom prst="rect">
            <a:avLst/>
          </a:prstGeom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</p:pic>
      <p:pic>
        <p:nvPicPr>
          <p:cNvPr id="328" name="Picture 7" descr=""/>
          <p:cNvPicPr/>
          <p:nvPr/>
        </p:nvPicPr>
        <p:blipFill>
          <a:blip r:embed="rId2"/>
          <a:stretch/>
        </p:blipFill>
        <p:spPr>
          <a:xfrm>
            <a:off x="2675880" y="4141800"/>
            <a:ext cx="5685840" cy="2474280"/>
          </a:xfrm>
          <a:prstGeom prst="rect">
            <a:avLst/>
          </a:prstGeom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</p:pic>
      <p:pic>
        <p:nvPicPr>
          <p:cNvPr id="329" name="Picture 9" descr=""/>
          <p:cNvPicPr/>
          <p:nvPr/>
        </p:nvPicPr>
        <p:blipFill>
          <a:blip r:embed="rId3"/>
          <a:stretch/>
        </p:blipFill>
        <p:spPr>
          <a:xfrm>
            <a:off x="7092360" y="2889000"/>
            <a:ext cx="4660200" cy="1484640"/>
          </a:xfrm>
          <a:prstGeom prst="rect">
            <a:avLst/>
          </a:prstGeom>
          <a:ln w="0">
            <a:noFill/>
          </a:ln>
          <a:effectLst>
            <a:outerShdw algn="ctr" blurRad="63360" rotWithShape="0" sx="102000" sy="102000">
              <a:srgbClr val="000000">
                <a:alpha val="40000"/>
              </a:srgbClr>
            </a:outerShdw>
          </a:effectLst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2" descr="Barrier PNGs for Free Download"/>
          <p:cNvPicPr/>
          <p:nvPr/>
        </p:nvPicPr>
        <p:blipFill>
          <a:blip r:embed="rId1"/>
          <a:stretch/>
        </p:blipFill>
        <p:spPr>
          <a:xfrm>
            <a:off x="4811400" y="1752480"/>
            <a:ext cx="2568960" cy="1830240"/>
          </a:xfrm>
          <a:prstGeom prst="rect">
            <a:avLst/>
          </a:prstGeom>
          <a:ln w="0">
            <a:noFill/>
          </a:ln>
        </p:spPr>
      </p:pic>
      <p:sp>
        <p:nvSpPr>
          <p:cNvPr id="331" name="PlaceHolder 1"/>
          <p:cNvSpPr>
            <a:spLocks noGrp="1"/>
          </p:cNvSpPr>
          <p:nvPr>
            <p:ph type="subTitle"/>
          </p:nvPr>
        </p:nvSpPr>
        <p:spPr>
          <a:xfrm>
            <a:off x="615240" y="5585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4000" spc="-1" strike="noStrike">
                <a:solidFill>
                  <a:srgbClr val="234465"/>
                </a:solidFill>
                <a:latin typeface="Calibri"/>
              </a:rPr>
              <a:t>Integrity Constraints: </a:t>
            </a:r>
            <a:r>
              <a:rPr b="0" lang="bg-BG" sz="4000" spc="-1" strike="noStrike">
                <a:solidFill>
                  <a:srgbClr val="234465"/>
                </a:solidFill>
                <a:latin typeface="Calibri"/>
              </a:rPr>
              <a:t>правила и проверки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Ограничение на целостта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95000"/>
          </a:bodyPr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Гарантират целостта на данните в таблиците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6284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Налага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т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правила за данни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, които не могат да бъдат нарушавани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Ограничение за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първичен ключ</a:t>
            </a:r>
            <a:r>
              <a:rPr b="0" lang="bg-BG" sz="34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(primary key constraint)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6284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Първичният ключ на таблица има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уникална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стойност за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всеки ред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в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нея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4200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Unique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ограничение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(unique key constraint)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62840" indent="-3420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Гарантира, че всички стойности в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определена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колона са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уникални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title"/>
          </p:nvPr>
        </p:nvSpPr>
        <p:spPr>
          <a:xfrm>
            <a:off x="190440" y="136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Ограничения на целостта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1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AD3A26-7226-4D9B-9602-BBA3ED12F9D9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190440" y="98316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Ограничение за</a:t>
            </a:r>
            <a:r>
              <a:rPr b="0" lang="bg-BG" sz="34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външен ключ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(foreign key constraint)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Гарантира, че стойността в дадена колона е ключ от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друга таблица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Check</a:t>
            </a:r>
            <a:r>
              <a:rPr b="0" lang="en-US" sz="3400" spc="-1" strike="noStrike">
                <a:solidFill>
                  <a:srgbClr val="1a334c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ограничение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(check constraint)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Гарантира, че стойностите в определена колона отговарят на някакво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предварително зададено условие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Примери: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Ограничения на целостта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38" name="Rectangle 4"/>
          <p:cNvSpPr/>
          <p:nvPr/>
        </p:nvSpPr>
        <p:spPr>
          <a:xfrm>
            <a:off x="3200760" y="6057000"/>
            <a:ext cx="5486040" cy="80100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CHECK (Hour &gt;= 0) AND (Hour &lt; 24)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Rectangle 4"/>
          <p:cNvSpPr/>
          <p:nvPr/>
        </p:nvSpPr>
        <p:spPr>
          <a:xfrm>
            <a:off x="3200760" y="5486400"/>
            <a:ext cx="4343040" cy="4453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CHECK (TotalAmount &gt;= 0)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4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1652E65-1D44-4809-9612-BC7B410FF94D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5" dur="indefinite" restart="never" nodeType="tmRoot">
          <p:childTnLst>
            <p:seq>
              <p:cTn id="216" dur="indefinite" nodeType="mainSeq">
                <p:childTnLst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Num" idx="15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392911-7879-41C4-8C21-08EBB4188C39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Задаваме ограничение на колоните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Name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Price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Казваме, че ще имаме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неповтарящи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се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имена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и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цената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на продуктите трябва да бъде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положително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число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Ограничения на целостта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4" name="Rectangle 4"/>
          <p:cNvSpPr/>
          <p:nvPr/>
        </p:nvSpPr>
        <p:spPr>
          <a:xfrm>
            <a:off x="2563560" y="2349000"/>
            <a:ext cx="7312320" cy="22237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CREATE TABLE Products (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Id INT PRIMARY KEY,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[Name] VARCHAR(255) </a:t>
            </a: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UNIQUE</a:t>
            </a: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,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	</a:t>
            </a: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Price DECIMAL(10, 2) </a:t>
            </a:r>
            <a:r>
              <a:rPr b="1" lang="en-US" sz="2200" spc="-1" strike="noStrike">
                <a:solidFill>
                  <a:srgbClr val="bf7800"/>
                </a:solidFill>
                <a:latin typeface="Consolas"/>
              </a:rPr>
              <a:t>CHECK (Price &gt; 0)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2801"/>
              </a:lnSpc>
            </a:pPr>
            <a:r>
              <a:rPr b="1" lang="en-US" sz="22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39" dur="indefinite" restart="never" nodeType="tmRoot">
          <p:childTnLst>
            <p:seq>
              <p:cTn id="240" dur="indefinite" nodeType="mainSeq"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Picture 4" descr="Ð ÐµÐ·ÑÐ»ÑÐ°Ñ Ñ Ð¸Ð·Ð¾Ð±ÑÐ°Ð¶ÐµÐ½Ð¸Ðµ Ð·Ð° cascading png"/>
          <p:cNvPicPr/>
          <p:nvPr/>
        </p:nvPicPr>
        <p:blipFill>
          <a:blip r:embed="rId1"/>
          <a:stretch/>
        </p:blipFill>
        <p:spPr>
          <a:xfrm>
            <a:off x="4318200" y="1208880"/>
            <a:ext cx="3255120" cy="3013200"/>
          </a:xfrm>
          <a:prstGeom prst="rect">
            <a:avLst/>
          </a:prstGeom>
          <a:ln w="0">
            <a:noFill/>
          </a:ln>
        </p:spPr>
      </p:pic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15240" y="4554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Каскадни операции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subTitle"/>
          </p:nvPr>
        </p:nvSpPr>
        <p:spPr>
          <a:xfrm>
            <a:off x="615240" y="5634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234465"/>
                </a:solidFill>
                <a:latin typeface="Calibri"/>
              </a:rPr>
              <a:t>Аномалии при вмъкване на записи. Каскадно изтриване и променяне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Възникват, когато се опитаме да вмъкнем нов запис в таблица,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който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изисква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данни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за които все още нямаме налична стойност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Например,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ако има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м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е таблица за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клиенти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и трябва да вмъкнете нов запис за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клиент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но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не е въведен адрес на клиента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Това може да доведе до възникване на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празни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или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невалидни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записи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Аномалии при вмъкване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3C1E406-7EE0-419A-A458-D4438B1317C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/>
          </p:nvPr>
        </p:nvSpPr>
        <p:spPr>
          <a:xfrm>
            <a:off x="2151720" y="1108800"/>
            <a:ext cx="9600840" cy="55461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Позволява, когато се направи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промяна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в определен обект, тази промяна да се приложи към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всички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свързани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обекти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Каскадни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могат да бъдат и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изтриването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,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променянето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title"/>
          </p:nvPr>
        </p:nvSpPr>
        <p:spPr>
          <a:xfrm>
            <a:off x="1297080" y="100800"/>
            <a:ext cx="916380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234465"/>
                </a:solidFill>
                <a:latin typeface="Calibri"/>
              </a:rPr>
              <a:t>Каскадиране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353" name="Picture 2" descr="database-schema-1895779 - American Nonsmokers' Rights Foundation |  no-smoke.org"/>
          <p:cNvPicPr/>
          <p:nvPr/>
        </p:nvPicPr>
        <p:blipFill>
          <a:blip r:embed="rId1"/>
          <a:stretch/>
        </p:blipFill>
        <p:spPr>
          <a:xfrm>
            <a:off x="6019920" y="3581280"/>
            <a:ext cx="3552480" cy="3102840"/>
          </a:xfrm>
          <a:prstGeom prst="rect">
            <a:avLst/>
          </a:prstGeom>
          <a:ln w="0">
            <a:noFill/>
          </a:ln>
        </p:spPr>
      </p:pic>
      <p:sp>
        <p:nvSpPr>
          <p:cNvPr id="354" name="Slide Number"/>
          <p:cNvSpPr/>
          <p:nvPr/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E98CC0B-7C01-4BB2-A001-331CDB887C42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59" dur="indefinite" restart="never" nodeType="tmRoot">
          <p:childTnLst>
            <p:seq>
              <p:cTn id="260" dur="indefinite" nodeType="mainSeq">
                <p:childTnLst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5" name="Table 9"/>
          <p:cNvGraphicFramePr/>
          <p:nvPr/>
        </p:nvGraphicFramePr>
        <p:xfrm>
          <a:off x="6508080" y="3151440"/>
          <a:ext cx="4342320" cy="2094480"/>
        </p:xfrm>
        <a:graphic>
          <a:graphicData uri="http://schemas.openxmlformats.org/drawingml/2006/table">
            <a:tbl>
              <a:tblPr/>
              <a:tblGrid>
                <a:gridCol w="2171160"/>
                <a:gridCol w="2171160"/>
              </a:tblGrid>
              <a:tr h="523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ItemId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 w="12240">
                      <a:solidFill>
                        <a:srgbClr val="f4f5f7"/>
                      </a:solidFill>
                    </a:lnT>
                    <a:lnB>
                      <a:noFill/>
                    </a:lnB>
                    <a:solidFill>
                      <a:srgbClr val="d1d5d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OrderId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 w="12240">
                      <a:solidFill>
                        <a:srgbClr val="f4f5f7"/>
                      </a:solidFill>
                    </a:lnT>
                    <a:lnB>
                      <a:noFill/>
                    </a:lnB>
                    <a:solidFill>
                      <a:srgbClr val="d1d5dd"/>
                    </a:solidFill>
                  </a:tcPr>
                </a:tc>
              </a:tr>
              <a:tr h="523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24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r>
                        <a:rPr b="0" lang="bg-BG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3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87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f4f5f7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>
                      <a:noFill/>
                    </a:lnT>
                    <a:lnB w="12240">
                      <a:solidFill>
                        <a:srgbClr val="f4f5f7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56" name="Table 1"/>
          <p:cNvGraphicFramePr/>
          <p:nvPr/>
        </p:nvGraphicFramePr>
        <p:xfrm>
          <a:off x="1233360" y="3453120"/>
          <a:ext cx="3656160" cy="1627200"/>
        </p:xfrm>
        <a:graphic>
          <a:graphicData uri="http://schemas.openxmlformats.org/drawingml/2006/table">
            <a:tbl>
              <a:tblPr/>
              <a:tblGrid>
                <a:gridCol w="1487160"/>
                <a:gridCol w="2169000"/>
              </a:tblGrid>
              <a:tr h="54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OrderId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 w="12240">
                      <a:solidFill>
                        <a:srgbClr val="f4f5f7"/>
                      </a:solidFill>
                    </a:lnT>
                    <a:lnB>
                      <a:noFill/>
                    </a:lnB>
                    <a:solidFill>
                      <a:srgbClr val="d1d5d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OrderName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 w="12240">
                      <a:solidFill>
                        <a:srgbClr val="f4f5f7"/>
                      </a:solidFill>
                    </a:lnT>
                    <a:lnB>
                      <a:noFill/>
                    </a:lnB>
                    <a:solidFill>
                      <a:srgbClr val="d1d5dd"/>
                    </a:solidFill>
                  </a:tcPr>
                </a:tc>
              </a:tr>
              <a:tr h="542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6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22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4f5f7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f4f5f7"/>
                      </a:solidFill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24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…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 w="12240">
                      <a:solidFill>
                        <a:srgbClr val="f4f5f7"/>
                      </a:solidFill>
                    </a:lnR>
                    <a:lnT>
                      <a:noFill/>
                    </a:lnT>
                    <a:lnB w="12240">
                      <a:solidFill>
                        <a:srgbClr val="f4f5f7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ffffff"/>
                </a:solidFill>
                <a:latin typeface="Calibri"/>
              </a:rPr>
              <a:t>Каскадиране – 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cxnSp>
        <p:nvCxnSpPr>
          <p:cNvPr id="358" name="Straight Arrow Connector 10"/>
          <p:cNvCxnSpPr/>
          <p:nvPr/>
        </p:nvCxnSpPr>
        <p:spPr>
          <a:xfrm flipV="1">
            <a:off x="4970160" y="4073040"/>
            <a:ext cx="1153080" cy="96480"/>
          </a:xfrm>
          <a:prstGeom prst="straightConnector1">
            <a:avLst/>
          </a:prstGeom>
          <a:ln w="47625">
            <a:solidFill>
              <a:srgbClr val="234465"/>
            </a:solidFill>
            <a:round/>
            <a:tailEnd len="med" type="triangle" w="med"/>
          </a:ln>
        </p:spPr>
      </p:cxnSp>
      <p:sp>
        <p:nvSpPr>
          <p:cNvPr id="359" name="TextBox 12"/>
          <p:cNvSpPr/>
          <p:nvPr/>
        </p:nvSpPr>
        <p:spPr>
          <a:xfrm>
            <a:off x="2299680" y="2955600"/>
            <a:ext cx="138816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Orders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3"/>
          <p:cNvSpPr/>
          <p:nvPr/>
        </p:nvSpPr>
        <p:spPr>
          <a:xfrm>
            <a:off x="7195680" y="2824200"/>
            <a:ext cx="2239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234465"/>
                </a:solidFill>
                <a:latin typeface="Calibri"/>
              </a:rPr>
              <a:t>OrderItems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1" name="Straight Arrow Connector 15"/>
          <p:cNvCxnSpPr/>
          <p:nvPr/>
        </p:nvCxnSpPr>
        <p:spPr>
          <a:xfrm>
            <a:off x="4970160" y="4169160"/>
            <a:ext cx="1132920" cy="784080"/>
          </a:xfrm>
          <a:prstGeom prst="straightConnector1">
            <a:avLst/>
          </a:prstGeom>
          <a:ln w="47625">
            <a:solidFill>
              <a:srgbClr val="234465"/>
            </a:solidFill>
            <a:round/>
            <a:tailEnd len="med" type="triangle" w="med"/>
          </a:ln>
        </p:spPr>
      </p:cxnSp>
      <p:sp>
        <p:nvSpPr>
          <p:cNvPr id="362" name="AutoShape 7"/>
          <p:cNvSpPr/>
          <p:nvPr/>
        </p:nvSpPr>
        <p:spPr>
          <a:xfrm>
            <a:off x="304920" y="2412000"/>
            <a:ext cx="2757960" cy="632880"/>
          </a:xfrm>
          <a:prstGeom prst="wedgeRoundRectCallout">
            <a:avLst>
              <a:gd name="adj1" fmla="val -4855"/>
              <a:gd name="adj2" fmla="val 12837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Първичен ключ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AutoShape 7"/>
          <p:cNvSpPr/>
          <p:nvPr/>
        </p:nvSpPr>
        <p:spPr>
          <a:xfrm>
            <a:off x="4419720" y="2054160"/>
            <a:ext cx="3026160" cy="611280"/>
          </a:xfrm>
          <a:prstGeom prst="wedgeRoundRectCallout">
            <a:avLst>
              <a:gd name="adj1" fmla="val 20786"/>
              <a:gd name="adj2" fmla="val 16642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Първичен ключ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AutoShape 7"/>
          <p:cNvSpPr/>
          <p:nvPr/>
        </p:nvSpPr>
        <p:spPr>
          <a:xfrm>
            <a:off x="9144000" y="2119320"/>
            <a:ext cx="2437920" cy="591120"/>
          </a:xfrm>
          <a:prstGeom prst="wedgeRoundRectCallout">
            <a:avLst>
              <a:gd name="adj1" fmla="val -39642"/>
              <a:gd name="adj2" fmla="val 161628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Външен ключ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AutoShape 7"/>
          <p:cNvSpPr/>
          <p:nvPr/>
        </p:nvSpPr>
        <p:spPr>
          <a:xfrm>
            <a:off x="3072600" y="5615280"/>
            <a:ext cx="3605760" cy="611280"/>
          </a:xfrm>
          <a:prstGeom prst="wedgeRoundRectCallout">
            <a:avLst>
              <a:gd name="adj1" fmla="val 17485"/>
              <a:gd name="adj2" fmla="val -18096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800" spc="-1" strike="noStrike">
                <a:solidFill>
                  <a:srgbClr val="ffffff"/>
                </a:solidFill>
                <a:latin typeface="Calibri"/>
              </a:rPr>
              <a:t>Каскадно изтриване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sldNum" idx="1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C77427-02C9-4783-93CF-8EC313725189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65" dur="indefinite" restart="never" nodeType="tmRoot">
          <p:childTnLst>
            <p:seq>
              <p:cTn id="266" dur="indefinite" nodeType="mainSeq">
                <p:childTnLst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"/>
                            </p:stCondLst>
                            <p:childTnLst>
                              <p:par>
                                <p:cTn id="28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82" dur="5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85" dur="5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/>
          </p:nvPr>
        </p:nvSpPr>
        <p:spPr>
          <a:xfrm>
            <a:off x="190440" y="1176840"/>
            <a:ext cx="120013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Използвайте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каскадно изтриване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,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когато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Свързаните обекти са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безсмислени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без "главния"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Не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използвайте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каскадно изтриване 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когато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Извършвате </a:t>
            </a: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логическо изтриване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2" marL="125568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Обектите са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маркирани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 като изтрити (но всъщност не са)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При по-сложни връзки каскадното изтриване няма да работи с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кръгови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зависимости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Каскадно изтриване 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915FEE-3632-4A08-A5D9-D78E68576B6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289" dur="indefinite" restart="never" nodeType="tmRoot">
          <p:childTnLst>
            <p:seq>
              <p:cTn id="290" dur="indefinite" nodeType="mainSeq">
                <p:childTnLst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angle 9"/>
          <p:cNvSpPr/>
          <p:nvPr/>
        </p:nvSpPr>
        <p:spPr>
          <a:xfrm>
            <a:off x="438120" y="1228320"/>
            <a:ext cx="11315520" cy="524088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108000" bIns="108000" anchor="t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CREATE TABLE Drivers(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DriverID INT PRIMARY KEY,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DriverName VARCHAR(50)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CREATE TABLE Cars(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CarID INT PRIMARY KEY,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DriverID INT,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bg-BG" sz="3000" spc="-1" strike="noStrike">
                <a:solidFill>
                  <a:srgbClr val="bf7800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FOREIGN KEY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(DriverID)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REFERENCES Drivers(DriverID)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ON</a:t>
            </a:r>
            <a:r>
              <a:rPr b="1" lang="en-US" sz="3000" spc="-1" strike="noStrike">
                <a:solidFill>
                  <a:srgbClr val="1a334c"/>
                </a:solidFill>
                <a:latin typeface="Consolas"/>
              </a:rPr>
              <a:t>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DELETE CASCADE</a:t>
            </a:r>
            <a:br>
              <a:rPr sz="3000"/>
            </a:b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Каскадно изтриване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–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2" name="AutoShape 7"/>
          <p:cNvSpPr/>
          <p:nvPr/>
        </p:nvSpPr>
        <p:spPr>
          <a:xfrm>
            <a:off x="5780880" y="4239000"/>
            <a:ext cx="2229120" cy="559440"/>
          </a:xfrm>
          <a:prstGeom prst="wedgeRoundRectCallout">
            <a:avLst>
              <a:gd name="adj1" fmla="val -77921"/>
              <a:gd name="adj2" fmla="val 8761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Външен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AutoShape 7"/>
          <p:cNvSpPr/>
          <p:nvPr/>
        </p:nvSpPr>
        <p:spPr>
          <a:xfrm>
            <a:off x="6400800" y="6197400"/>
            <a:ext cx="1924560" cy="559440"/>
          </a:xfrm>
          <a:prstGeom prst="wedgeRoundRectCallout">
            <a:avLst>
              <a:gd name="adj1" fmla="val 39498"/>
              <a:gd name="adj2" fmla="val -10409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Каскада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sldNum" idx="1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7C3F1A-8D65-4A3F-BF75-3B1E782DA95B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1" dur="indefinite" restart="never" nodeType="tmRoot">
          <p:childTnLst>
            <p:seq>
              <p:cTn id="312" dur="indefinite" nodeType="mainSeq">
                <p:childTnLst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Използвайте 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каскадно променяне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когато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Първичният ключ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не е самонарастващ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(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Identity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)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и следователно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може да бъде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променен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Най-добре се използва с уникално ограничение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(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Unique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Не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използвайте </a:t>
            </a:r>
            <a:r>
              <a:rPr b="1" lang="bg-BG" sz="3600" spc="-1" strike="noStrike">
                <a:solidFill>
                  <a:srgbClr val="bf7800"/>
                </a:solidFill>
                <a:latin typeface="Calibri"/>
              </a:rPr>
              <a:t>каскадно променяне </a:t>
            </a:r>
            <a:r>
              <a:rPr b="0" lang="bg-BG" sz="3600" spc="-1" strike="noStrike">
                <a:solidFill>
                  <a:srgbClr val="234465"/>
                </a:solidFill>
                <a:latin typeface="Calibri"/>
              </a:rPr>
              <a:t>когато</a:t>
            </a:r>
            <a:r>
              <a:rPr b="0" lang="en-US" sz="36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6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14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Първичният ключ 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самонарастващ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Каскадно променяне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2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1757DF-98CB-4575-8538-5CAD7D0028D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333" dur="indefinite" restart="never" nodeType="tmRoot">
          <p:childTnLst>
            <p:seq>
              <p:cTn id="334" dur="indefinite" nodeType="mainSeq">
                <p:childTnLst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Rectangle 9"/>
          <p:cNvSpPr/>
          <p:nvPr/>
        </p:nvSpPr>
        <p:spPr>
          <a:xfrm>
            <a:off x="395640" y="1314360"/>
            <a:ext cx="11400120" cy="615456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rgbClr val="67748e">
                <a:lumMod val="60000"/>
                <a:lumOff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00" rIns="144000" tIns="108000" bIns="108000" anchor="t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CREATE TABLE Products(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BarcodeId INT PRIMARY KEY,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Name VARCHAR(50)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CREATE TABLE Stock(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Id INT PRIMARY KEY,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BarcodeID INT,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CONSTRAINT FK_Stock_Products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FOREIGN KEY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(BarcodeId)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  </a:t>
            </a: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REFERENCES Products(BarcodeId) </a:t>
            </a:r>
            <a:r>
              <a:rPr b="1" lang="en-US" sz="3000" spc="-1" strike="noStrike">
                <a:solidFill>
                  <a:srgbClr val="bf7800"/>
                </a:solidFill>
                <a:latin typeface="Consolas"/>
              </a:rPr>
              <a:t>ON UPDATE CASCADE</a:t>
            </a:r>
            <a:br>
              <a:rPr sz="3000"/>
            </a:br>
            <a:r>
              <a:rPr b="1" lang="en-US" sz="3000" spc="-1" strike="noStrike">
                <a:solidFill>
                  <a:srgbClr val="234465"/>
                </a:solidFill>
                <a:latin typeface="Consolas"/>
              </a:rPr>
              <a:t>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Каскадно променяне –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0" name="AutoShape 7"/>
          <p:cNvSpPr/>
          <p:nvPr/>
        </p:nvSpPr>
        <p:spPr>
          <a:xfrm>
            <a:off x="8534520" y="4191120"/>
            <a:ext cx="2229120" cy="559440"/>
          </a:xfrm>
          <a:prstGeom prst="wedgeRoundRectCallout">
            <a:avLst>
              <a:gd name="adj1" fmla="val -41916"/>
              <a:gd name="adj2" fmla="val 9879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Външен ключ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AutoShape 7"/>
          <p:cNvSpPr/>
          <p:nvPr/>
        </p:nvSpPr>
        <p:spPr>
          <a:xfrm>
            <a:off x="8040600" y="6244560"/>
            <a:ext cx="2229120" cy="559440"/>
          </a:xfrm>
          <a:prstGeom prst="wedgeRoundRectCallout">
            <a:avLst>
              <a:gd name="adj1" fmla="val 1267"/>
              <a:gd name="adj2" fmla="val -10027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rgbClr val="234465"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Каскада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sldNum" idx="2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5DA929-0B7E-462A-8810-49DE241D0AD1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1" dur="indefinite" restart="never" nodeType="tmRoot">
          <p:childTnLst>
            <p:seq>
              <p:cTn id="352" dur="indefinite" nodeType="mainSeq">
                <p:childTnLst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Picture 2" descr="Data, database, ok, online, server, storage, tick icon - Download on  Iconfinder"/>
          <p:cNvPicPr/>
          <p:nvPr/>
        </p:nvPicPr>
        <p:blipFill>
          <a:blip r:embed="rId1"/>
          <a:stretch/>
        </p:blipFill>
        <p:spPr>
          <a:xfrm>
            <a:off x="4800600" y="1447920"/>
            <a:ext cx="2590560" cy="2590560"/>
          </a:xfrm>
          <a:prstGeom prst="rect">
            <a:avLst/>
          </a:prstGeom>
          <a:ln w="0">
            <a:noFill/>
          </a:ln>
        </p:spPr>
      </p:pic>
      <p:sp>
        <p:nvSpPr>
          <p:cNvPr id="384" name="PlaceHolder 1"/>
          <p:cNvSpPr>
            <a:spLocks noGrp="1"/>
          </p:cNvSpPr>
          <p:nvPr>
            <p:ph type="subTitle"/>
          </p:nvPr>
        </p:nvSpPr>
        <p:spPr>
          <a:xfrm>
            <a:off x="615240" y="563076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4000" spc="-1" strike="noStrike">
                <a:solidFill>
                  <a:srgbClr val="234465"/>
                </a:solidFill>
                <a:latin typeface="Calibri"/>
              </a:rPr>
              <a:t>Избягване на дублирани данни чрез нормализиране на схемата на БД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title"/>
          </p:nvPr>
        </p:nvSpPr>
        <p:spPr>
          <a:xfrm>
            <a:off x="615240" y="4554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Нормализиране на БД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24464"/>
              </a:buClr>
              <a:buFont typeface="Wingdings" charset="2"/>
              <a:buChar char=""/>
            </a:pP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Нормализирането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на релационната схема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премахва повтарящи се данни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Ненормализираните схеми могат да съдържат много повтарящи се данни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Нормализация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388" name="object 14"/>
          <p:cNvGraphicFramePr/>
          <p:nvPr/>
        </p:nvGraphicFramePr>
        <p:xfrm>
          <a:off x="1409760" y="3559320"/>
          <a:ext cx="9372240" cy="4203720"/>
        </p:xfrm>
        <a:graphic>
          <a:graphicData uri="http://schemas.openxmlformats.org/drawingml/2006/table">
            <a:tbl>
              <a:tblPr/>
              <a:tblGrid>
                <a:gridCol w="2209680"/>
                <a:gridCol w="2057400"/>
                <a:gridCol w="761760"/>
                <a:gridCol w="1371600"/>
                <a:gridCol w="1981080"/>
                <a:gridCol w="990360"/>
              </a:tblGrid>
              <a:tr h="4064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Product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Producer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Price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Category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Shop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0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Town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618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yoghurt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Mlexis Ltd.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0.67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food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store "Mente"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Sofia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618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bread "Dobrudja"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Bakery "Smoky"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0.85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food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store "Mente"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Sofia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6188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beer "Zagorka"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Zagorka Corp.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0.68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soft drinks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stall "non-stop"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Varna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7398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beer "Tuborg"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Shoumen Drinks Corp.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0.87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soft drinks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stall "non-stop"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Varna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9" name="PlaceHolder 3"/>
          <p:cNvSpPr>
            <a:spLocks noGrp="1"/>
          </p:cNvSpPr>
          <p:nvPr>
            <p:ph type="sldNum" idx="2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5B636FA-C6F4-4D31-A539-97BB87DFFAD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p14:dur="10"/>
    </mc:Choice>
    <mc:Fallback>
      <p:transition/>
    </mc:Fallback>
  </mc:AlternateContent>
  <p:timing>
    <p:tnLst>
      <p:par>
        <p:cTn id="373" dur="indefinite" restart="never" nodeType="tmRoot">
          <p:childTnLst>
            <p:seq>
              <p:cTn id="374" dur="indefinite" nodeType="mainSeq">
                <p:childTnLst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Първа </a:t>
            </a:r>
            <a:r>
              <a:rPr b="0" lang="bg-BG" sz="3400" spc="-1" strike="noStrike">
                <a:solidFill>
                  <a:srgbClr val="224464"/>
                </a:solidFill>
                <a:latin typeface="Calibri"/>
              </a:rPr>
              <a:t>нормална форма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Данните се съхраняват в таблици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Полетата в редовете са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неразделими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стойности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 рамките на един ред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няма повторения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За всяка таблица се дефинира първичен ключ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Нормализация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(2)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392" name="object 14"/>
          <p:cNvGraphicFramePr/>
          <p:nvPr/>
        </p:nvGraphicFramePr>
        <p:xfrm>
          <a:off x="1600200" y="4572000"/>
          <a:ext cx="8991360" cy="2181600"/>
        </p:xfrm>
        <a:graphic>
          <a:graphicData uri="http://schemas.openxmlformats.org/drawingml/2006/table">
            <a:tbl>
              <a:tblPr/>
              <a:tblGrid>
                <a:gridCol w="2209680"/>
                <a:gridCol w="1828800"/>
                <a:gridCol w="1676160"/>
                <a:gridCol w="32763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BookTitle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ISBN (PK)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Author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AuthorEmail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696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.NET Framework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3847028437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Mr. Kiro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bai-kiro@abv.bg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696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Beginning SQL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7234534450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Santa Claus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dedo@mraz.org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3" name="PlaceHolder 3"/>
          <p:cNvSpPr>
            <a:spLocks noGrp="1"/>
          </p:cNvSpPr>
          <p:nvPr>
            <p:ph type="sldNum" idx="23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42CFCD4-4662-4C2B-9FD6-65E72FA3D4E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1" dur="indefinite" restart="never" nodeType="tmRoot">
          <p:childTnLst>
            <p:seq>
              <p:cTn id="382" dur="indefinite" nodeType="mainSeq">
                <p:childTnLst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/>
          </p:nvPr>
        </p:nvSpPr>
        <p:spPr>
          <a:xfrm>
            <a:off x="200880" y="117900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/>
          </a:bodyPr>
          <a:p>
            <a:pPr marL="3603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200" spc="-1" strike="noStrike">
                <a:solidFill>
                  <a:srgbClr val="bf7800"/>
                </a:solidFill>
                <a:latin typeface="Calibri"/>
              </a:rPr>
              <a:t>Втора </a:t>
            </a:r>
            <a:r>
              <a:rPr b="0" lang="bg-BG" sz="3200" spc="-1" strike="noStrike">
                <a:solidFill>
                  <a:srgbClr val="224464"/>
                </a:solidFill>
                <a:latin typeface="Calibri"/>
              </a:rPr>
              <a:t>нормална форма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Запазва всички изисквания на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1-ва </a:t>
            </a:r>
            <a:r>
              <a:rPr b="0" lang="ru-RU" sz="3000" spc="-1" strike="noStrike">
                <a:solidFill>
                  <a:srgbClr val="224464"/>
                </a:solidFill>
                <a:latin typeface="Calibri"/>
              </a:rPr>
              <a:t>нормална форма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  <a:p>
            <a:pPr lvl="1" marL="803160" indent="-36036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ru-RU" sz="3000" spc="-1" strike="noStrike">
                <a:solidFill>
                  <a:srgbClr val="234465"/>
                </a:solidFill>
                <a:latin typeface="Calibri"/>
              </a:rPr>
              <a:t>Всички колони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, които не са първичен ключ, трябва да </a:t>
            </a:r>
            <a:r>
              <a:rPr b="1" lang="ru-RU" sz="3000" spc="-1" strike="noStrike">
                <a:solidFill>
                  <a:srgbClr val="bf7800"/>
                </a:solidFill>
                <a:latin typeface="Calibri"/>
              </a:rPr>
              <a:t>зависят изцяло </a:t>
            </a:r>
            <a:r>
              <a:rPr b="0" lang="ru-RU" sz="3000" spc="-1" strike="noStrike">
                <a:solidFill>
                  <a:srgbClr val="234465"/>
                </a:solidFill>
                <a:latin typeface="Calibri"/>
              </a:rPr>
              <a:t>от първичния ключ (дори ако той е съставен)</a:t>
            </a: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Нормализация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graphicFrame>
        <p:nvGraphicFramePr>
          <p:cNvPr id="396" name="object 14"/>
          <p:cNvGraphicFramePr/>
          <p:nvPr/>
        </p:nvGraphicFramePr>
        <p:xfrm>
          <a:off x="1600200" y="4800600"/>
          <a:ext cx="8991360" cy="2023560"/>
        </p:xfrm>
        <a:graphic>
          <a:graphicData uri="http://schemas.openxmlformats.org/drawingml/2006/table">
            <a:tbl>
              <a:tblPr/>
              <a:tblGrid>
                <a:gridCol w="2209680"/>
                <a:gridCol w="1828800"/>
                <a:gridCol w="1676160"/>
                <a:gridCol w="327636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BookTitle </a:t>
                      </a:r>
                      <a:r>
                        <a:rPr b="1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(</a:t>
                      </a:r>
                      <a:r>
                        <a:rPr b="1" lang="en-US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PK)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Author (PK)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Price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AuthorEmail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28080">
                      <a:solidFill>
                        <a:srgbClr val="dfe2e9"/>
                      </a:solidFill>
                    </a:lnB>
                    <a:solidFill>
                      <a:srgbClr val="d0d4dc"/>
                    </a:solidFill>
                  </a:tcPr>
                </a:tc>
              </a:tr>
              <a:tr h="696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.NET Framework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Bai Kiro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15.99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bai-kiro@abv.bg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2808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  <a:tr h="696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Beginning SQL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2808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Dqdo Mraz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bg-BG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20.99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GB" sz="2200" spc="-1" strike="noStrike">
                          <a:solidFill>
                            <a:srgbClr val="234465"/>
                          </a:solidFill>
                          <a:latin typeface="Calibri"/>
                        </a:rPr>
                        <a:t>dqdo@mraz.org</a:t>
                      </a:r>
                      <a:endParaRPr b="0" lang="en-US" sz="2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dfe2e9"/>
                      </a:solidFill>
                    </a:lnL>
                    <a:lnR w="12240">
                      <a:solidFill>
                        <a:srgbClr val="dfe2e9"/>
                      </a:solidFill>
                    </a:lnR>
                    <a:lnT w="12240">
                      <a:solidFill>
                        <a:srgbClr val="dfe2e9"/>
                      </a:solidFill>
                    </a:lnT>
                    <a:lnB w="12240">
                      <a:solidFill>
                        <a:srgbClr val="df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7" name="AutoShape 7"/>
          <p:cNvSpPr/>
          <p:nvPr/>
        </p:nvSpPr>
        <p:spPr>
          <a:xfrm>
            <a:off x="3581280" y="3581280"/>
            <a:ext cx="3200040" cy="990360"/>
          </a:xfrm>
          <a:prstGeom prst="wedgeRoundRectCallout">
            <a:avLst>
              <a:gd name="adj1" fmla="val 37348"/>
              <a:gd name="adj2" fmla="val 782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b840"/>
                </a:solidFill>
                <a:latin typeface="Calibri"/>
              </a:rPr>
              <a:t>Цената</a:t>
            </a: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 зависи само  от </a:t>
            </a:r>
            <a:r>
              <a:rPr b="1" lang="bg-BG" sz="2400" spc="-1" strike="noStrike">
                <a:solidFill>
                  <a:srgbClr val="ffb840"/>
                </a:solidFill>
                <a:latin typeface="Calibri"/>
              </a:rPr>
              <a:t>книгата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AutoShape 7"/>
          <p:cNvSpPr/>
          <p:nvPr/>
        </p:nvSpPr>
        <p:spPr>
          <a:xfrm>
            <a:off x="7696080" y="3505320"/>
            <a:ext cx="3352320" cy="990360"/>
          </a:xfrm>
          <a:prstGeom prst="wedgeRoundRectCallout">
            <a:avLst>
              <a:gd name="adj1" fmla="val 469"/>
              <a:gd name="adj2" fmla="val 8495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rgbClr val="234465">
                <a:lumMod val="75000"/>
                <a:alpha val="80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/>
        </p:style>
        <p:txBody>
          <a:bodyPr numCol="1" spcCol="0" horzOverflow="overflow" vertOverflow="overflow" anchor="ctr">
            <a:noAutofit/>
          </a:bodyPr>
          <a:p>
            <a:pPr algn="ctr">
              <a:lnSpc>
                <a:spcPct val="100000"/>
              </a:lnSpc>
            </a:pPr>
            <a:r>
              <a:rPr b="1" lang="bg-BG" sz="2400" spc="-1" strike="noStrike">
                <a:solidFill>
                  <a:srgbClr val="ffb840"/>
                </a:solidFill>
                <a:latin typeface="Calibri"/>
              </a:rPr>
              <a:t>Имейлът </a:t>
            </a:r>
            <a:r>
              <a:rPr b="1" lang="bg-BG" sz="2400" spc="-1" strike="noStrike">
                <a:solidFill>
                  <a:srgbClr val="ffffff"/>
                </a:solidFill>
                <a:latin typeface="Calibri"/>
              </a:rPr>
              <a:t>зависи само от </a:t>
            </a:r>
            <a:r>
              <a:rPr b="1" lang="bg-BG" sz="2400" spc="-1" strike="noStrike">
                <a:solidFill>
                  <a:srgbClr val="ffb840"/>
                </a:solidFill>
                <a:latin typeface="Calibri"/>
              </a:rPr>
              <a:t>автора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4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38A48C-057D-4FA9-A5B1-B4FB49B000D7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7" dur="indefinite" restart="never" nodeType="tmRoot">
          <p:childTnLst>
            <p:seq>
              <p:cTn id="398" dur="indefinite" nodeType="mainSeq">
                <p:childTnLst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Picture 6" descr="Share icon PNG on Transparent Background 14455886 PNG"/>
          <p:cNvPicPr/>
          <p:nvPr/>
        </p:nvPicPr>
        <p:blipFill>
          <a:blip r:embed="rId1">
            <a:lum bright="100000"/>
          </a:blip>
          <a:stretch/>
        </p:blipFill>
        <p:spPr>
          <a:xfrm>
            <a:off x="4343400" y="1371600"/>
            <a:ext cx="3122280" cy="2628720"/>
          </a:xfrm>
          <a:prstGeom prst="rect">
            <a:avLst/>
          </a:prstGeom>
          <a:ln w="0">
            <a:noFill/>
          </a:ln>
        </p:spPr>
      </p:pic>
      <p:sp>
        <p:nvSpPr>
          <p:cNvPr id="401" name="PlaceHolder 1"/>
          <p:cNvSpPr>
            <a:spLocks noGrp="1"/>
          </p:cNvSpPr>
          <p:nvPr>
            <p:ph type="subTitle"/>
          </p:nvPr>
        </p:nvSpPr>
        <p:spPr>
          <a:xfrm>
            <a:off x="615240" y="558900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algn="ctr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4000" spc="-1" strike="noStrike">
                <a:solidFill>
                  <a:srgbClr val="234465"/>
                </a:solidFill>
                <a:latin typeface="Calibri"/>
              </a:rPr>
              <a:t>Релационна схема, значение и примери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title"/>
          </p:nvPr>
        </p:nvSpPr>
        <p:spPr>
          <a:xfrm>
            <a:off x="615240" y="4704840"/>
            <a:ext cx="10961280" cy="7678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90" spc="-1" strike="noStrike">
                <a:solidFill>
                  <a:srgbClr val="234465"/>
                </a:solidFill>
                <a:latin typeface="Calibri"/>
              </a:rPr>
              <a:t>E/R </a:t>
            </a:r>
            <a:r>
              <a:rPr b="1" lang="bg-BG" sz="5390" spc="-1" strike="noStrike">
                <a:solidFill>
                  <a:srgbClr val="234465"/>
                </a:solidFill>
                <a:latin typeface="Calibri"/>
              </a:rPr>
              <a:t>диаграми</a:t>
            </a:r>
            <a:endParaRPr b="0" lang="en-US" sz="5390" spc="-1" strike="noStrike">
              <a:solidFill>
                <a:srgbClr val="234465"/>
              </a:solidFill>
              <a:latin typeface="Calibri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/>
          </p:nvPr>
        </p:nvSpPr>
        <p:spPr>
          <a:xfrm>
            <a:off x="190440" y="1151280"/>
            <a:ext cx="11807640" cy="55699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90000"/>
          </a:bodyPr>
          <a:p>
            <a:pPr marL="324000" indent="-3240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Релационна схема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 (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relational DB schema</a:t>
            </a: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)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 == </a:t>
            </a:r>
            <a:r>
              <a:rPr b="0" lang="bg-BG" sz="3400" spc="-1" strike="noStrike">
                <a:solidFill>
                  <a:srgbClr val="1a334c"/>
                </a:solidFill>
                <a:latin typeface="Calibri"/>
              </a:rPr>
              <a:t>колекцията</a:t>
            </a:r>
            <a:r>
              <a:rPr b="0" lang="ru-RU" sz="3400" spc="-1" strike="noStrike">
                <a:solidFill>
                  <a:srgbClr val="1a334c"/>
                </a:solidFill>
                <a:latin typeface="Calibri"/>
              </a:rPr>
              <a:t> от: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22520" indent="-3240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Схемите на всички таблици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22520" indent="-3240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Релации между таблиците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lvl="1" marL="722520" indent="-3240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Всички други обекти на базата данни (напр. ограничения)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  <a:p>
            <a:pPr marL="324000" indent="-3240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Релационната схема описва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структурата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на базата данни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24000" indent="-32400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Релационните схеми се показват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графично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в диаграми на обект/връзка (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E/R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диаграми</a:t>
            </a:r>
            <a:r>
              <a:rPr b="0" lang="en-US" sz="3400" spc="-1" strike="noStrike">
                <a:solidFill>
                  <a:srgbClr val="234465"/>
                </a:solidFill>
                <a:latin typeface="Calibri"/>
              </a:rPr>
              <a:t>, Entity-Relationship Diagram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)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Релационна схема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25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2EDA5F-7E60-4561-AA7F-045EF0601C3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3" dur="indefinite" restart="never" nodeType="tmRoot">
          <p:childTnLst>
            <p:seq>
              <p:cTn id="414" dur="indefinite" nodeType="mainSeq">
                <p:childTnLst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7000"/>
          </a:bodyPr>
          <a:p>
            <a:pPr marL="338760" indent="-33876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Графични инструменти за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моделиране на данни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 информационни системи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38760" indent="-33876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П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омагат за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визуализиране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на 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съотношенията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между обекти и техните 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връзки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38760" indent="-33876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Помагат да се разбере как информацията се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организира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и как обектите се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свързват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38760" indent="-33876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Използват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абстрактни символи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което прави моделирането </a:t>
            </a:r>
            <a:r>
              <a:rPr b="0" lang="ru-RU" sz="3400" spc="-1" strike="noStrike">
                <a:solidFill>
                  <a:srgbClr val="224464"/>
                </a:solidFill>
                <a:latin typeface="Calibri"/>
              </a:rPr>
              <a:t>по-прегледно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lvl="1" marL="754920" indent="-338760">
              <a:lnSpc>
                <a:spcPct val="11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Фокусиране върху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структурата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 и </a:t>
            </a:r>
            <a:r>
              <a:rPr b="1" lang="ru-RU" sz="3200" spc="-1" strike="noStrike">
                <a:solidFill>
                  <a:srgbClr val="bf7800"/>
                </a:solidFill>
                <a:latin typeface="Calibri"/>
              </a:rPr>
              <a:t>връзките</a:t>
            </a:r>
            <a:r>
              <a:rPr b="0" lang="ru-RU" sz="3200" spc="-1" strike="noStrike">
                <a:solidFill>
                  <a:srgbClr val="234465"/>
                </a:solidFill>
                <a:latin typeface="Calibri"/>
              </a:rPr>
              <a:t>, без да се оглеждат детайлите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E/R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диаграми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 (Entity/Relationship Diagrams)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sldNum" idx="26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42BFC69-AB87-430D-B761-3AFBA7920B73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435" dur="indefinite" restart="never" nodeType="tmRoot">
          <p:childTnLst>
            <p:seq>
              <p:cTn id="436" dur="indefinite" nodeType="mainSeq">
                <p:childTnLst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E/R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 диаграми – пример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10" name="Picture 4" descr=""/>
          <p:cNvPicPr/>
          <p:nvPr/>
        </p:nvPicPr>
        <p:blipFill>
          <a:blip r:embed="rId1"/>
          <a:stretch/>
        </p:blipFill>
        <p:spPr>
          <a:xfrm>
            <a:off x="2670840" y="1523880"/>
            <a:ext cx="6850440" cy="4880160"/>
          </a:xfrm>
          <a:prstGeom prst="rect">
            <a:avLst/>
          </a:prstGeom>
          <a:ln w="9525">
            <a:solidFill>
              <a:srgbClr val="ffffff">
                <a:lumMod val="75000"/>
              </a:srgbClr>
            </a:solidFill>
            <a:miter/>
          </a:ln>
        </p:spPr>
      </p:pic>
      <p:sp>
        <p:nvSpPr>
          <p:cNvPr id="411" name="PlaceHolder 2"/>
          <p:cNvSpPr>
            <a:spLocks noGrp="1"/>
          </p:cNvSpPr>
          <p:nvPr>
            <p:ph type="sldNum" idx="27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BCBFF0-76F8-4928-BB12-9D3BEE0A66F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Num" idx="28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C72E59-EB65-4138-B807-334C7F826848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 </a:t>
            </a:r>
            <a:r>
              <a:rPr b="1" lang="ru-RU" sz="3400" spc="-1" strike="noStrike">
                <a:solidFill>
                  <a:srgbClr val="bf7800"/>
                </a:solidFill>
                <a:latin typeface="Consolas"/>
              </a:rPr>
              <a:t>Object Explorer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отляво разгънете вашата база данни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Щракнете с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десния бутон 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върху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Database Diagrams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 и след това изберете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New Database Diagram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14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Как да създадем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E/R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диаграма? (1)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15" name="Picture 2" descr="New Database diagram"/>
          <p:cNvPicPr/>
          <p:nvPr/>
        </p:nvPicPr>
        <p:blipFill>
          <a:blip r:embed="rId1"/>
          <a:stretch/>
        </p:blipFill>
        <p:spPr>
          <a:xfrm>
            <a:off x="6037200" y="3705480"/>
            <a:ext cx="4021200" cy="3152520"/>
          </a:xfrm>
          <a:prstGeom prst="rect">
            <a:avLst/>
          </a:prstGeom>
          <a:ln w="0">
            <a:solidFill>
              <a:srgbClr val="ffffff">
                <a:lumMod val="75000"/>
              </a:srgbClr>
            </a:solidFill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453" dur="indefinite" restart="never" nodeType="tmRoot">
          <p:childTnLst>
            <p:seq>
              <p:cTn id="454" dur="indefinite" nodeType="mainSeq">
                <p:childTnLst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Num" idx="29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711787-B731-496E-B0CA-2C298E20886C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Изберете </a:t>
            </a:r>
            <a:r>
              <a:rPr b="1" lang="ru-RU" sz="3400" spc="-1" strike="noStrike">
                <a:solidFill>
                  <a:srgbClr val="bf7800"/>
                </a:solidFill>
                <a:latin typeface="Calibri"/>
              </a:rPr>
              <a:t>таблиците</a:t>
            </a:r>
            <a:r>
              <a:rPr b="0" lang="ru-RU" sz="3400" spc="-1" strike="noStrike">
                <a:solidFill>
                  <a:srgbClr val="234465"/>
                </a:solidFill>
                <a:latin typeface="Calibri"/>
              </a:rPr>
              <a:t>, които сте създали по-горе, и след това натиснете </a:t>
            </a:r>
            <a:r>
              <a:rPr b="1" lang="en-US" sz="3400" spc="-1" strike="noStrike">
                <a:solidFill>
                  <a:srgbClr val="bf7800"/>
                </a:solidFill>
                <a:latin typeface="Consolas"/>
              </a:rPr>
              <a:t>[Add]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Как да създадем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E/R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диаграма? (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2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19" name="Picture 4" descr="Add tables to ER diagram"/>
          <p:cNvPicPr/>
          <p:nvPr/>
        </p:nvPicPr>
        <p:blipFill>
          <a:blip r:embed="rId1"/>
          <a:stretch/>
        </p:blipFill>
        <p:spPr>
          <a:xfrm>
            <a:off x="2404800" y="2619000"/>
            <a:ext cx="7382160" cy="3849480"/>
          </a:xfrm>
          <a:prstGeom prst="rect">
            <a:avLst/>
          </a:prstGeom>
          <a:ln w="0">
            <a:solidFill>
              <a:srgbClr val="ffffff">
                <a:lumMod val="75000"/>
              </a:srgbClr>
            </a:solidFill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Num" idx="30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7C7245-F436-4D6B-96FF-FC71BF3B3504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190440" y="1196280"/>
            <a:ext cx="11817720" cy="552852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360">
              <a:lnSpc>
                <a:spcPct val="105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400" spc="-1" strike="noStrike">
                <a:solidFill>
                  <a:srgbClr val="234465"/>
                </a:solidFill>
                <a:latin typeface="Calibri"/>
              </a:rPr>
              <a:t>Това генерира </a:t>
            </a:r>
            <a:r>
              <a:rPr b="1" lang="en-US" sz="3400" spc="-1" strike="noStrike">
                <a:solidFill>
                  <a:srgbClr val="bf7800"/>
                </a:solidFill>
                <a:latin typeface="Calibri"/>
              </a:rPr>
              <a:t>E/R </a:t>
            </a:r>
            <a:r>
              <a:rPr b="1" lang="bg-BG" sz="3400" spc="-1" strike="noStrike">
                <a:solidFill>
                  <a:srgbClr val="bf7800"/>
                </a:solidFill>
                <a:latin typeface="Calibri"/>
              </a:rPr>
              <a:t>диаграмата</a:t>
            </a:r>
            <a:endParaRPr b="0" lang="en-US" sz="34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Как да създадем </a:t>
            </a: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E/R </a:t>
            </a: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диаграма? (3)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23" name="Picture 2" descr="ER Diagram"/>
          <p:cNvPicPr/>
          <p:nvPr/>
        </p:nvPicPr>
        <p:blipFill>
          <a:blip r:embed="rId1"/>
          <a:stretch/>
        </p:blipFill>
        <p:spPr>
          <a:xfrm>
            <a:off x="3399840" y="2016000"/>
            <a:ext cx="5391720" cy="4562640"/>
          </a:xfrm>
          <a:prstGeom prst="rect">
            <a:avLst/>
          </a:prstGeom>
          <a:ln w="0">
            <a:solidFill>
              <a:srgbClr val="ffffff">
                <a:lumMod val="75000"/>
              </a:srgbClr>
            </a:solidFill>
          </a:ln>
        </p:spPr>
      </p:pic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Summary Box Group"/>
          <p:cNvGrpSpPr/>
          <p:nvPr/>
        </p:nvGrpSpPr>
        <p:grpSpPr>
          <a:xfrm>
            <a:off x="190440" y="1294200"/>
            <a:ext cx="9470160" cy="5393880"/>
            <a:chOff x="190440" y="1294200"/>
            <a:chExt cx="9470160" cy="5393880"/>
          </a:xfrm>
        </p:grpSpPr>
        <p:sp>
          <p:nvSpPr>
            <p:cNvPr id="425" name="Rounded Rectangle Blue"/>
            <p:cNvSpPr/>
            <p:nvPr/>
          </p:nvSpPr>
          <p:spPr>
            <a:xfrm>
              <a:off x="190440" y="1294200"/>
              <a:ext cx="9470160" cy="5393880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chemeClr val="lt1"/>
                </a:solidFill>
                <a:latin typeface="Calibri"/>
              </a:endParaRPr>
            </a:p>
          </p:txBody>
        </p:sp>
        <p:sp>
          <p:nvSpPr>
            <p:cNvPr id="426" name="Rounded Rectangle Left"/>
            <p:cNvSpPr/>
            <p:nvPr/>
          </p:nvSpPr>
          <p:spPr>
            <a:xfrm>
              <a:off x="376920" y="1502640"/>
              <a:ext cx="203040" cy="4977360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bf7800"/>
                </a:solidFill>
                <a:latin typeface="Calibri"/>
              </a:endParaRPr>
            </a:p>
          </p:txBody>
        </p:sp>
        <p:sp>
          <p:nvSpPr>
            <p:cNvPr id="427" name="Half Frame Top Right"/>
            <p:cNvSpPr/>
            <p:nvPr/>
          </p:nvSpPr>
          <p:spPr>
            <a:xfrm rot="5400000">
              <a:off x="8805600" y="1576800"/>
              <a:ext cx="742320" cy="594000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</a:pPr>
              <a:endParaRPr b="0" lang="en-US" sz="2400" spc="-1" strike="noStrike">
                <a:solidFill>
                  <a:srgbClr val="234465"/>
                </a:solidFill>
                <a:latin typeface="Calibri"/>
              </a:endParaRPr>
            </a:p>
          </p:txBody>
        </p:sp>
      </p:grpSp>
      <p:sp>
        <p:nvSpPr>
          <p:cNvPr id="428" name="PlaceHolder 1"/>
          <p:cNvSpPr>
            <a:spLocks noGrp="1"/>
          </p:cNvSpPr>
          <p:nvPr>
            <p:ph/>
          </p:nvPr>
        </p:nvSpPr>
        <p:spPr>
          <a:xfrm>
            <a:off x="685800" y="1447920"/>
            <a:ext cx="8775360" cy="52574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Autofit/>
          </a:bodyPr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Видове връзки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Едно към много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Много към много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Едно към едно</a:t>
            </a:r>
            <a:endParaRPr b="0" lang="en-US" sz="26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Ограничения на целостта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Unique</a:t>
            </a: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-</a:t>
            </a: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bg-BG" sz="2400" spc="-1" strike="noStrike">
                <a:solidFill>
                  <a:srgbClr val="ffffff"/>
                </a:solidFill>
                <a:latin typeface="Calibri"/>
              </a:rPr>
              <a:t>Уникални стойности в колоната</a:t>
            </a:r>
            <a:endParaRPr b="0" lang="en-US" sz="2400" spc="-1" strike="noStrike">
              <a:solidFill>
                <a:srgbClr val="234465"/>
              </a:solidFill>
              <a:latin typeface="Calibri"/>
            </a:endParaRPr>
          </a:p>
          <a:p>
            <a:pPr lvl="1" marL="96984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600" spc="-1" strike="noStrike">
                <a:solidFill>
                  <a:srgbClr val="ffb840"/>
                </a:solidFill>
                <a:latin typeface="Calibri"/>
              </a:rPr>
              <a:t>Check</a:t>
            </a: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bg-BG" sz="2600" spc="-1" strike="noStrike">
                <a:solidFill>
                  <a:srgbClr val="ffffff"/>
                </a:solidFill>
                <a:latin typeface="Calibri"/>
              </a:rPr>
              <a:t>-</a:t>
            </a:r>
            <a:r>
              <a:rPr b="1" lang="bg-BG" sz="2600" spc="-1" strike="noStrike">
                <a:solidFill>
                  <a:srgbClr val="ffb840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ffffff"/>
                </a:solidFill>
                <a:latin typeface="Calibri"/>
              </a:rPr>
              <a:t>(Age &gt; 0)</a:t>
            </a:r>
            <a:endParaRPr b="0" lang="en-US" sz="24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Cascade </a:t>
            </a: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Delete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/ </a:t>
            </a: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Update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Нормални форми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marL="360360" indent="-36000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Wingdings" charset="2"/>
              <a:buChar char=""/>
            </a:pPr>
            <a:r>
              <a:rPr b="1" lang="en-US" sz="2800" spc="-1" strike="noStrike">
                <a:solidFill>
                  <a:srgbClr val="ffb840"/>
                </a:solidFill>
                <a:latin typeface="Calibri"/>
              </a:rPr>
              <a:t>E/R</a:t>
            </a:r>
            <a:r>
              <a:rPr b="0" lang="en-US" sz="2800" spc="-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bg-BG" sz="2800" spc="-1" strike="noStrike">
                <a:solidFill>
                  <a:srgbClr val="ffffff"/>
                </a:solidFill>
                <a:latin typeface="Calibri"/>
              </a:rPr>
              <a:t>диаграми</a:t>
            </a: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5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234465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01"/>
              </a:spcBef>
              <a:buNone/>
            </a:pPr>
            <a:endParaRPr b="0" lang="en-US" sz="30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29" name="Picture SoftUni Mascot" descr=""/>
          <p:cNvPicPr/>
          <p:nvPr/>
        </p:nvPicPr>
        <p:blipFill>
          <a:blip r:embed="rId1"/>
          <a:stretch/>
        </p:blipFill>
        <p:spPr>
          <a:xfrm flipH="1">
            <a:off x="9811080" y="4204080"/>
            <a:ext cx="2055600" cy="2224800"/>
          </a:xfrm>
          <a:prstGeom prst="rect">
            <a:avLst/>
          </a:prstGeom>
          <a:ln w="0">
            <a:noFill/>
          </a:ln>
        </p:spPr>
      </p:pic>
      <p:sp>
        <p:nvSpPr>
          <p:cNvPr id="430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Обобщение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31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0443C1-39BE-44D7-9FF1-C473EB4BA185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33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  <p:timing>
    <p:tnLst>
      <p:par>
        <p:cTn id="461" dur="indefinite" restart="never" nodeType="tmRoot">
          <p:childTnLst>
            <p:seq>
              <p:cTn id="462" dur="indefinite" nodeType="mainSeq">
                <p:childTnLst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726840" y="1461960"/>
            <a:ext cx="10731240" cy="304668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bg-BG" sz="13800" spc="-1" strike="noStrike">
                <a:solidFill>
                  <a:srgbClr val="234465"/>
                </a:solidFill>
                <a:latin typeface="Calibri"/>
              </a:rPr>
              <a:t>Въпроси</a:t>
            </a:r>
            <a:r>
              <a:rPr b="1" lang="en-US" sz="13800" spc="-1" strike="noStrike">
                <a:solidFill>
                  <a:srgbClr val="234465"/>
                </a:solidFill>
                <a:latin typeface="Calibri"/>
              </a:rPr>
              <a:t>?</a:t>
            </a:r>
            <a:endParaRPr b="0" lang="en-US" sz="138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3" name="Rectangle Bottom Copyright"/>
          <p:cNvSpPr/>
          <p:nvPr/>
        </p:nvSpPr>
        <p:spPr>
          <a:xfrm>
            <a:off x="110880" y="6454800"/>
            <a:ext cx="11969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Проект "</a:t>
            </a:r>
            <a:r>
              <a:rPr b="0" lang="bg-BG" sz="1600" spc="-1" strike="noStrike" u="sng">
                <a:solidFill>
                  <a:srgbClr val="ffe7bf"/>
                </a:solidFill>
                <a:uFillTx/>
                <a:latin typeface="Calibri"/>
                <a:ea typeface="Calibri"/>
                <a:hlinkClick r:id="rId1"/>
              </a:rPr>
              <a:t>Отворено учебно съдържание по програмиране и ИТ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", СофтУни Фондация (лиценз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CC-BY-NC-SA</a:t>
            </a:r>
            <a:r>
              <a:rPr b="0" lang="bg-BG" sz="1600" spc="-1" strike="noStrike">
                <a:solidFill>
                  <a:srgbClr val="ffffff"/>
                </a:solidFill>
                <a:latin typeface="Calibri"/>
                <a:ea typeface="Calibri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/>
          </p:nvPr>
        </p:nvSpPr>
        <p:spPr>
          <a:xfrm>
            <a:off x="190440" y="1269000"/>
            <a:ext cx="9865080" cy="247464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t">
            <a:normAutofit fontScale="87000"/>
          </a:bodyPr>
          <a:p>
            <a:pPr marL="313200" indent="-31320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Този курс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(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презентации, примери, демонстрационен код, упражнения, домашни, видео и други активи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)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представлява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 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свободно учебно съдържание 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и се разпространява под свободен лиценз </a:t>
            </a:r>
            <a:r>
              <a:rPr b="1" lang="en-US" sz="3200" spc="-1" strike="noStrike">
                <a:solidFill>
                  <a:srgbClr val="234465"/>
                </a:solidFill>
                <a:latin typeface="Calibri"/>
              </a:rPr>
              <a:t>CC-BY-NC-SA</a:t>
            </a:r>
            <a:endParaRPr b="0" lang="en-US" sz="3200" spc="-1" strike="noStrike">
              <a:solidFill>
                <a:srgbClr val="234465"/>
              </a:solidFill>
              <a:latin typeface="Calibri"/>
            </a:endParaRPr>
          </a:p>
        </p:txBody>
      </p:sp>
      <p:pic>
        <p:nvPicPr>
          <p:cNvPr id="435" name="Picture License" descr="License"/>
          <p:cNvPicPr/>
          <p:nvPr/>
        </p:nvPicPr>
        <p:blipFill>
          <a:blip r:embed="rId1"/>
          <a:stretch/>
        </p:blipFill>
        <p:spPr>
          <a:xfrm>
            <a:off x="10226160" y="1440000"/>
            <a:ext cx="1198800" cy="1268640"/>
          </a:xfrm>
          <a:prstGeom prst="rect">
            <a:avLst/>
          </a:prstGeom>
          <a:ln w="0">
            <a:noFill/>
          </a:ln>
        </p:spPr>
      </p:pic>
      <p:sp>
        <p:nvSpPr>
          <p:cNvPr id="436" name="PlaceHolder 2"/>
          <p:cNvSpPr>
            <a:spLocks noGrp="1"/>
          </p:cNvSpPr>
          <p:nvPr>
            <p:ph type="title"/>
          </p:nvPr>
        </p:nvSpPr>
        <p:spPr>
          <a:xfrm>
            <a:off x="190440" y="100800"/>
            <a:ext cx="10270080" cy="882360"/>
          </a:xfrm>
          <a:prstGeom prst="rect">
            <a:avLst/>
          </a:prstGeom>
          <a:noFill/>
          <a:ln w="0">
            <a:noFill/>
          </a:ln>
        </p:spPr>
        <p:txBody>
          <a:bodyPr lIns="108000" rIns="108000" tIns="36000" bIns="3600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1" lang="bg-BG" sz="4000" spc="-1" strike="noStrike">
                <a:solidFill>
                  <a:srgbClr val="ffffff"/>
                </a:solidFill>
                <a:latin typeface="Calibri"/>
              </a:rPr>
              <a:t>Лиценз</a:t>
            </a:r>
            <a:endParaRPr b="0" lang="en-US" sz="4000" spc="-1" strike="noStrike">
              <a:solidFill>
                <a:srgbClr val="234465"/>
              </a:solidFill>
              <a:latin typeface="Calibri"/>
            </a:endParaRPr>
          </a:p>
        </p:txBody>
      </p:sp>
      <p:sp>
        <p:nvSpPr>
          <p:cNvPr id="437" name="TextBox 10"/>
          <p:cNvSpPr/>
          <p:nvPr/>
        </p:nvSpPr>
        <p:spPr>
          <a:xfrm>
            <a:off x="190440" y="3927600"/>
            <a:ext cx="11710080" cy="2660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3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Проект "</a:t>
            </a:r>
            <a:r>
              <a:rPr b="1" lang="bg-BG" sz="3200" spc="-1" strike="noStrike">
                <a:solidFill>
                  <a:srgbClr val="234465"/>
                </a:solidFill>
                <a:latin typeface="Calibri"/>
              </a:rPr>
              <a:t>Отворено учебно съдържание по програмиране и ИТ</a:t>
            </a:r>
            <a:r>
              <a:rPr b="0" lang="bg-BG" sz="3200" spc="-1" strike="noStrike">
                <a:solidFill>
                  <a:srgbClr val="234465"/>
                </a:solidFill>
                <a:latin typeface="Calibri"/>
              </a:rPr>
              <a:t>" към Фондация "Софтуерен университет"</a:t>
            </a:r>
            <a:r>
              <a:rPr b="0" lang="en-US" sz="3200" spc="-1" strike="noStrike">
                <a:solidFill>
                  <a:srgbClr val="234465"/>
                </a:solidFill>
                <a:latin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17560" indent="-360360">
              <a:lnSpc>
                <a:spcPct val="120000"/>
              </a:lnSpc>
              <a:spcBef>
                <a:spcPts val="601"/>
              </a:spcBef>
              <a:spcAft>
                <a:spcPts val="601"/>
              </a:spcAft>
              <a:buClr>
                <a:srgbClr val="234465"/>
              </a:buClr>
              <a:buFont typeface="Wingdings" charset="2"/>
              <a:buChar char=""/>
            </a:pPr>
            <a:r>
              <a:rPr b="0" lang="en-US" sz="3200" spc="-1" strike="noStrike">
                <a:solidFill>
                  <a:srgbClr val="bf7800"/>
                </a:solidFill>
                <a:latin typeface="Calibri"/>
                <a:hlinkClick r:id="rId2"/>
              </a:rPr>
              <a:t>https://github.com/BG-IT-Edu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icture 6">
            <a:hlinkClick r:id="rId3"/>
          </p:cNvPr>
          <p:cNvSpPr/>
          <p:nvPr/>
        </p:nvSpPr>
        <p:spPr>
          <a:xfrm>
            <a:off x="9830880" y="2908440"/>
            <a:ext cx="1989000" cy="695520"/>
          </a:xfrm>
          <a:prstGeom prst="roundRect">
            <a:avLst>
              <a:gd name="adj" fmla="val 3940"/>
            </a:avLst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32"/>
          </p:nvPr>
        </p:nvSpPr>
        <p:spPr>
          <a:xfrm>
            <a:off x="11752920" y="6507000"/>
            <a:ext cx="367200" cy="2966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000" spc="-1" strike="noStrike">
                <a:solidFill>
                  <a:srgbClr val="234465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1C1935-CB27-43C5-B9A6-F4E044ECB491}" type="slidenum">
              <a:rPr b="0" lang="en-US" sz="1000" spc="-1" strike="noStrike">
                <a:solidFill>
                  <a:srgbClr val="234465"/>
                </a:solidFill>
                <a:latin typeface="Calibri"/>
              </a:rPr>
              <a:t>35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advTm="5000" p14:dur="2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4051</TotalTime>
  <Application>LibreOffice/7.4.7.2$Linux_X86_64 LibreOffice_project/40$Build-2</Application>
  <AppVersion>15.0000</AppVersion>
  <Words>1714</Words>
  <Paragraphs>409</Paragraphs>
  <Company>BG-IT-Edu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>computer programming;programming;software development;software engineering</cp:category>
  <dcterms:created xsi:type="dcterms:W3CDTF">2018-05-23T13:08:44Z</dcterms:created>
  <dc:creator>BG-IT-Edu</dc:creator>
  <dc:description>Open Programming and IT Courseware for IT Teachers (BG-IT-Edu): https://github.com/BG-IT-Edu
With the kind support of SoftUni: https://softuni.bg</dc:description>
  <cp:keywords>SoftUni Software University programming coding computer programming software development software engineering software technologies digital skills technical skills training course</cp:keywords>
  <dc:language>en-US</dc:language>
  <cp:lastModifiedBy/>
  <dcterms:modified xsi:type="dcterms:W3CDTF">2025-11-03T17:43:27Z</dcterms:modified>
  <cp:revision>144</cp:revision>
  <dc:subject>Software Development</dc:subject>
  <dc:title>Релации и E/R диаграми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35</vt:i4>
  </property>
</Properties>
</file>