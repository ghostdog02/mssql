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_rels/notesSlide12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0D799A1-7002-4330-96C8-5894F439DBA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3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3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3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3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3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3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3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3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3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3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3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3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3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Num" idx="2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421189-D32D-42BA-A1FD-998B917FCA1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ftr" idx="2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481EA73-7D94-4530-B4E9-73CA031DBA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ftr" idx="2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Num" idx="30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700D1A-1521-4F82-A586-8880154DC4F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 type="ftr" idx="3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subquery or nested query is a query within another SQL query and embedded within the WHERE clause. Its main purpose is to serve as a data filter for the main query. It can be used after any of the operators(&gt;,&lt;, =, !=, IN, BETWEEN). A subquery can return a single value or multiple values.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32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794CCF-BEA0-472C-A033-999B5693CC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 type="ftr" idx="33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2BAA63-ABC6-4AAB-A0AC-E54259713A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 type="ftr" idx="3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*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dt" idx="36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07/16/96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3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6DA468-1F23-47E8-BA6E-6042C2E7121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5"/>
          <p:cNvSpPr>
            <a:spLocks noGrp="1"/>
          </p:cNvSpPr>
          <p:nvPr>
            <p:ph type="body"/>
          </p:nvPr>
        </p:nvSpPr>
        <p:spPr>
          <a:xfrm>
            <a:off x="687960" y="4415400"/>
            <a:ext cx="5505840" cy="4182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6"/>
          <p:cNvSpPr>
            <a:spLocks noGrp="1"/>
          </p:cNvSpPr>
          <p:nvPr>
            <p:ph type="ftr" idx="3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39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47B176-49BB-4FCE-9908-C3BB7D34B9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 type="ftr" idx="40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41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D52021-EC6F-41E4-A816-50778B8BAF6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 type="ftr" idx="42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43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A0E2F2-4BC8-4E12-98CE-A2C2AE0B289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ftr" idx="44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45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E7C3C0-ED05-4A7F-BDAC-9D96F84DC5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ftr" idx="4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4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FC1F9A-D7E0-43DC-BD0E-772BB81C79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 type="ftr" idx="4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66C2BD6-5566-4C95-B64A-DFAC742BB6F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ftr" idx="4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7AA51E6-5592-408E-8ADB-1598487D9D3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ftr" idx="50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B5707E7-73B4-4C33-B58A-AEA8B3CA6B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ftr" idx="5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3D19E35-DBE6-4DF6-8E14-C3BDFA0D829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48A6698-81E7-423F-8B5F-F3FE54E6B654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66DF0D4-B1AD-46C9-A4AA-F7BF828DEAC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961CE8-60F2-4051-B90B-F85C64B4CEAE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F594288-706D-47EC-BADE-E7CBED7CDC8F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4CB3AE-ED61-45C1-8A6B-256086E4F58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210030-7AE0-4762-B238-6BD153DC0F25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5817DBA-8256-47F8-89B0-34DD8299F0B5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E0C9CD7-D815-492E-B3CD-5AFDDC4158F1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FAE7F38-8585-45A9-9566-7EB3FBFE2273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8BE7DF4-931B-4D70-BD3A-4B2BF46661CA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8ED4D3-C367-4D27-B4AE-E1AB71C837D5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B61904-C94E-4BF2-B5C0-8D602B35919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A63C8E-13EF-444D-A129-F8C6899D97A5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EACDE9-4814-497C-9916-DD9B2EEDC5A0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94DF3B-8F7C-4E63-B712-06F53C929AB4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6DBE51-8E33-41DD-95F0-4A650A744B4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1D9317-DF61-40E5-9C72-31C3D06C1C38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5884A3-8261-4064-AC52-CD21C43CB05B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B8E7BF-51F6-4531-8013-860107A7729E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51F5FC-9F4E-4B60-B5DF-D219D852AC8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E60B56-D965-47B6-BBB0-1A593D76860F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CA8641-6C97-4868-A527-83C49D1E148E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4E0719-C192-4B93-872E-D6822D094842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11385C-D159-4C07-8180-C240D7FB60FE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050C9-4BF4-4697-8017-07C7466D16CC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FC8022-2587-4AE9-A2A7-5A34744EBF67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25FF1D-CCC4-4521-935E-6E534E144959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713F15-E763-4097-99DD-1263CAAAA2BC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77B1A2-81C7-45F6-81C7-A1A1940C1FCE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08C2C2-E1BB-46DF-BE10-AA4AC5136AAB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C72DF5-BAC6-4D03-865B-1056F8E4F6D5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9DAC80-BCE7-41D5-94DB-9292C10DBBD4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83781-4ACD-4095-A778-1BB85F806D28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51EA44-3643-41F5-8F1F-62AEAB8E1BF6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6AC497-3DDA-45E0-B245-053D1FA934E8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Bottom"/>
          <p:cNvSpPr/>
          <p:nvPr/>
        </p:nvSpPr>
        <p:spPr>
          <a:xfrm>
            <a:off x="0" y="6702840"/>
            <a:ext cx="12194640" cy="15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6390000" y="3399840"/>
            <a:ext cx="5248080" cy="21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bf7800"/>
                </a:solidFill>
                <a:latin typeface="Calibri"/>
              </a:rPr>
              <a:t>Click icon to add picture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https://softuni.foundation  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SoftUni Foundation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a334c"/>
                </a:solidFill>
                <a:latin typeface="Calibri"/>
              </a:rPr>
              <a:t>URL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Authors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234465"/>
                </a:solidFill>
                <a:latin typeface="Calibri"/>
              </a:rPr>
              <a:t>Presentation Title</a:t>
            </a:r>
            <a:endParaRPr b="0" lang="en-US" sz="5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2"/>
          <a:stretch/>
        </p:blipFill>
        <p:spPr>
          <a:xfrm>
            <a:off x="536400" y="4326120"/>
            <a:ext cx="2537640" cy="632520"/>
          </a:xfrm>
          <a:prstGeom prst="rect">
            <a:avLst/>
          </a:prstGeom>
          <a:ln w="0">
            <a:noFill/>
          </a:ln>
        </p:spPr>
      </p:pic>
      <p:sp>
        <p:nvSpPr>
          <p:cNvPr id="8" name="Picture 4">
            <a:hlinkClick r:id="rId3"/>
          </p:cNvPr>
          <p:cNvSpPr/>
          <p:nvPr/>
        </p:nvSpPr>
        <p:spPr>
          <a:xfrm>
            <a:off x="3402720" y="4321440"/>
            <a:ext cx="1809000" cy="632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Num" idx="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BA96C7-5ED9-4A97-8644-70BA5DEB83CF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96920" y="1371600"/>
            <a:ext cx="1178136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Table of Contents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9" name="Picture 2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val Center Icon"/>
          <p:cNvSpPr/>
          <p:nvPr/>
        </p:nvSpPr>
        <p:spPr>
          <a:xfrm>
            <a:off x="4319640" y="867600"/>
            <a:ext cx="3552120" cy="35521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Click to Edit Section Title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455399-2CC1-438E-9B83-69EF2C3AF93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29" name="Picture 3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Num" idx="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B99BF3-A8C0-4D4F-BEC3-3A598DFDDC2F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Rectangle Left"/>
          <p:cNvSpPr/>
          <p:nvPr/>
        </p:nvSpPr>
        <p:spPr>
          <a:xfrm>
            <a:off x="0" y="0"/>
            <a:ext cx="11534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pic>
        <p:nvPicPr>
          <p:cNvPr id="168" name="Picture Bulb" descr="Bulb"/>
          <p:cNvPicPr/>
          <p:nvPr/>
        </p:nvPicPr>
        <p:blipFill>
          <a:blip r:embed="rId2"/>
          <a:stretch/>
        </p:blipFill>
        <p:spPr>
          <a:xfrm>
            <a:off x="235080" y="1792440"/>
            <a:ext cx="1829880" cy="406188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865880" y="11210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71" name="Picture 1" descr=""/>
          <p:cNvPicPr/>
          <p:nvPr/>
        </p:nvPicPr>
        <p:blipFill>
          <a:blip r:embed="rId3"/>
          <a:stretch/>
        </p:blipFill>
        <p:spPr>
          <a:xfrm>
            <a:off x="10551960" y="36216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Bottom"/>
          <p:cNvSpPr/>
          <p:nvPr/>
        </p:nvSpPr>
        <p:spPr>
          <a:xfrm>
            <a:off x="0" y="6371280"/>
            <a:ext cx="12194640" cy="486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about.softuni.bg/" TargetMode="Externa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https://github.com/BG-IT-Edu" TargetMode="External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https://github.com/BG-IT-Edu" TargetMode="External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7.xml"/><Relationship Id="rId6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1800" spc="-1" strike="noStrike">
                <a:solidFill>
                  <a:srgbClr val="234465"/>
                </a:solidFill>
                <a:latin typeface="Calibri"/>
              </a:rPr>
              <a:t>Софтуерни и хардуерни науки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bg-BG" sz="2000" spc="-1" strike="noStrike">
                <a:solidFill>
                  <a:srgbClr val="234465"/>
                </a:solidFill>
                <a:latin typeface="Calibri"/>
              </a:rPr>
              <a:t>Курс "Релационни бази данни"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8f5a00"/>
                </a:solidFill>
                <a:uFillTx/>
                <a:latin typeface="Calibri"/>
                <a:hlinkClick r:id="rId1"/>
              </a:rPr>
              <a:t>https://about.softuni.bg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Software University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subTitle"/>
          </p:nvPr>
        </p:nvSpPr>
        <p:spPr>
          <a:xfrm>
            <a:off x="554760" y="1402920"/>
            <a:ext cx="11083320" cy="13057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indent="0"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Изпълнение на по-сложни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JOIN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заявки. Подзаявки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1000"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4400" spc="-1" strike="noStrike">
                <a:solidFill>
                  <a:srgbClr val="234465"/>
                </a:solidFill>
                <a:latin typeface="Calibri"/>
              </a:rPr>
              <a:t>По-сложни</a:t>
            </a:r>
            <a:r>
              <a:rPr b="1" lang="ru-RU" sz="4400" spc="-1" strike="noStrike">
                <a:solidFill>
                  <a:srgbClr val="234465"/>
                </a:solidFill>
                <a:latin typeface="Calibri"/>
              </a:rPr>
              <a:t> съединения и вложени заявки</a:t>
            </a:r>
            <a:endParaRPr b="0" lang="en-US" sz="4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259" name="Picture 4" descr="https://o.remove.bg/downloads/4ebf8585-f996-4e25-a56f-8c855118d17e/image-removebg-preview.png"/>
          <p:cNvPicPr/>
          <p:nvPr/>
        </p:nvPicPr>
        <p:blipFill>
          <a:blip r:embed="rId2"/>
          <a:stretch/>
        </p:blipFill>
        <p:spPr>
          <a:xfrm>
            <a:off x="8625240" y="2112840"/>
            <a:ext cx="3500640" cy="3500640"/>
          </a:xfrm>
          <a:prstGeom prst="rect">
            <a:avLst/>
          </a:prstGeom>
          <a:ln w="0">
            <a:noFill/>
          </a:ln>
        </p:spPr>
      </p:pic>
      <p:pic>
        <p:nvPicPr>
          <p:cNvPr id="260" name="Picture 1" descr=""/>
          <p:cNvPicPr/>
          <p:nvPr/>
        </p:nvPicPr>
        <p:blipFill>
          <a:blip r:embed="rId3"/>
          <a:stretch/>
        </p:blipFill>
        <p:spPr>
          <a:xfrm>
            <a:off x="584280" y="3002400"/>
            <a:ext cx="1956240" cy="87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/>
          </p:nvPr>
        </p:nvSpPr>
        <p:spPr>
          <a:xfrm>
            <a:off x="304920" y="1219320"/>
            <a:ext cx="1067148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По-сложни съединения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͏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Вложени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 заявки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Операции за 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обединение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, 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сечение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, 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разлика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 и 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деление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152280" y="152280"/>
            <a:ext cx="96688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Съдържание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3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722D890-8DEB-4819-BCAE-85BA6F7831D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" descr="Craft Puzzle - Пъзел с ваша снимка - Craft Cases"/>
          <p:cNvPicPr/>
          <p:nvPr/>
        </p:nvPicPr>
        <p:blipFill>
          <a:blip r:embed="rId1"/>
          <a:stretch/>
        </p:blipFill>
        <p:spPr>
          <a:xfrm>
            <a:off x="4800600" y="1371600"/>
            <a:ext cx="2590560" cy="259056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subTitle"/>
          </p:nvPr>
        </p:nvSpPr>
        <p:spPr>
          <a:xfrm>
            <a:off x="615240" y="5585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bg-BG" sz="4000" spc="-1" strike="noStrike">
                <a:solidFill>
                  <a:srgbClr val="234465"/>
                </a:solidFill>
                <a:latin typeface="Calibri"/>
              </a:rPr>
              <a:t>Обединяване на няколко таблици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По-сложни съединения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6490080" cy="5661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Понякога се нуждаем да обединим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повече от две таблици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за анализ на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комплексни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зависимости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Пример: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Имаме таблиците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Users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Orders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Имаме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 таблица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OrderItems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По-сложни съединения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7D659A-0389-4C12-94ED-87FDDC44A2B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0" name="Picture 5" descr=""/>
          <p:cNvPicPr/>
          <p:nvPr/>
        </p:nvPicPr>
        <p:blipFill>
          <a:blip r:embed="rId1"/>
          <a:stretch/>
        </p:blipFill>
        <p:spPr>
          <a:xfrm>
            <a:off x="6730560" y="1196280"/>
            <a:ext cx="5461560" cy="4184640"/>
          </a:xfrm>
          <a:prstGeom prst="rect">
            <a:avLst/>
          </a:prstGeom>
          <a:ln w="0">
            <a:solidFill>
              <a:srgbClr val="ffffff">
                <a:lumMod val="75000"/>
              </a:srgbClr>
            </a:solidFill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Искаме да извлечем следната информация за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всяка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поръчка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Име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на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клиента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Дата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на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поръчката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Списък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на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поръчаните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продукти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Количеството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на поръчаните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продукти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По-сложни съединения 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8A221E-2A4A-4423-8FB3-0644CB4B598B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Заявката може да изглежда така: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Свързваме информацията от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трите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таблиците и извличаме желаните данни за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всяка поръчка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По-сложни съединения 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6" name="Rectangle 3"/>
          <p:cNvSpPr/>
          <p:nvPr/>
        </p:nvSpPr>
        <p:spPr>
          <a:xfrm>
            <a:off x="647640" y="2286000"/>
            <a:ext cx="10896120" cy="2069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u.Username, o.OrderDate, oi.ProductName, oi.Quantity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Orders AS 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JOIN 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Users AS u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 o.UserId = u.Id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JOIN 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OrderItems AS oi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 o.Id = oi.OrderId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AutoShape 5"/>
          <p:cNvSpPr/>
          <p:nvPr/>
        </p:nvSpPr>
        <p:spPr>
          <a:xfrm>
            <a:off x="7779600" y="2743200"/>
            <a:ext cx="3580920" cy="837720"/>
          </a:xfrm>
          <a:prstGeom prst="wedgeRoundRectCallout">
            <a:avLst>
              <a:gd name="adj1" fmla="val -74398"/>
              <a:gd name="adj2" fmla="val 2265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Свързваме потребители с поръчките им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AutoShape 5"/>
          <p:cNvSpPr/>
          <p:nvPr/>
        </p:nvSpPr>
        <p:spPr>
          <a:xfrm>
            <a:off x="2495880" y="4329000"/>
            <a:ext cx="3504960" cy="609120"/>
          </a:xfrm>
          <a:prstGeom prst="wedgeRoundRectCallout">
            <a:avLst>
              <a:gd name="adj1" fmla="val -27978"/>
              <a:gd name="adj2" fmla="val -12228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Добавяме и продуктите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7DDD65-CE50-4371-A17C-C9D0D6B16DC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Резултатът: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По-сложни съединения (4)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282" name="object 14"/>
          <p:cNvGraphicFramePr/>
          <p:nvPr/>
        </p:nvGraphicFramePr>
        <p:xfrm>
          <a:off x="1828800" y="2349000"/>
          <a:ext cx="8534160" cy="3742920"/>
        </p:xfrm>
        <a:graphic>
          <a:graphicData uri="http://schemas.openxmlformats.org/drawingml/2006/table">
            <a:tbl>
              <a:tblPr/>
              <a:tblGrid>
                <a:gridCol w="2008080"/>
                <a:gridCol w="2307960"/>
                <a:gridCol w="2511000"/>
                <a:gridCol w="1706760"/>
              </a:tblGrid>
              <a:tr h="685080">
                <a:tc>
                  <a:txBody>
                    <a:bodyPr lIns="0" rIns="0" tIns="58320" bIns="0" anchor="ctr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Username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6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OrderDate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93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6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ProductName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93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6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Quantity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685080">
                <a:tc>
                  <a:txBody>
                    <a:bodyPr lIns="0" rIns="0" tIns="58320" bIns="0" anchor="ctr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John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6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2023-01-10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936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6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TV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936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92920">
                <a:tc>
                  <a:txBody>
                    <a:bodyPr lIns="0" rIns="0" tIns="29520" bIns="0" anchor="ctr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Peter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2023-04-12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2" strike="noStrike">
                          <a:solidFill>
                            <a:srgbClr val="224464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2" strike="noStrike">
                          <a:solidFill>
                            <a:srgbClr val="224464"/>
                          </a:solidFill>
                          <a:latin typeface="Calibri"/>
                        </a:rPr>
                        <a:t>Smartphone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92920">
                <a:tc>
                  <a:txBody>
                    <a:bodyPr lIns="0" rIns="0" tIns="29520" bIns="0" anchor="ctr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Gosho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2023-10-12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Table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92920">
                <a:tc>
                  <a:txBody>
                    <a:bodyPr lIns="0" rIns="0" tIns="29520" bIns="0" anchor="ctr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Ivan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2023-07-06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Sofa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92920">
                <a:tc>
                  <a:txBody>
                    <a:bodyPr lIns="0" rIns="0" tIns="29520" bIns="0" anchor="ctr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Pesho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2023-02-11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Speakers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57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  </a:t>
                      </a:r>
                      <a:r>
                        <a:rPr b="0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3" name="PlaceHolder 3"/>
          <p:cNvSpPr>
            <a:spLocks noGrp="1"/>
          </p:cNvSpPr>
          <p:nvPr>
            <p:ph type="sldNum" idx="1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3FB5EA-8FD7-493F-918C-31AAC38DE52F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Вложени заявки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615240" y="5585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234465"/>
                </a:solidFill>
                <a:latin typeface="Calibri"/>
              </a:rPr>
              <a:t>Манипулиране на заявки на множество нива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icture 5"/>
          <p:cNvSpPr/>
          <p:nvPr/>
        </p:nvSpPr>
        <p:spPr>
          <a:xfrm>
            <a:off x="4721400" y="1314000"/>
            <a:ext cx="2748600" cy="26996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/>
          </p:nvPr>
        </p:nvSpPr>
        <p:spPr>
          <a:xfrm>
            <a:off x="1865880" y="1121040"/>
            <a:ext cx="1032552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Използваме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резултата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от заявка като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данни за друга заявка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234465"/>
                </a:solidFill>
                <a:latin typeface="Calibri"/>
              </a:rPr>
              <a:t>Подзаявки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3288960" y="2209680"/>
            <a:ext cx="2072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Employees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Up Arrow 9"/>
          <p:cNvSpPr/>
          <p:nvPr/>
        </p:nvSpPr>
        <p:spPr>
          <a:xfrm rot="10800000">
            <a:off x="4166640" y="4964040"/>
            <a:ext cx="328320" cy="439560"/>
          </a:xfrm>
          <a:prstGeom prst="upArrow">
            <a:avLst>
              <a:gd name="adj1" fmla="val 35351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rgbClr val="23446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Up Arrow 9"/>
          <p:cNvSpPr/>
          <p:nvPr/>
        </p:nvSpPr>
        <p:spPr>
          <a:xfrm rot="5400000">
            <a:off x="6759000" y="5625720"/>
            <a:ext cx="328320" cy="439560"/>
          </a:xfrm>
          <a:prstGeom prst="upArrow">
            <a:avLst>
              <a:gd name="adj1" fmla="val 35351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rgbClr val="23446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2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AutoShape 7"/>
          <p:cNvSpPr/>
          <p:nvPr/>
        </p:nvSpPr>
        <p:spPr>
          <a:xfrm>
            <a:off x="6172200" y="2057400"/>
            <a:ext cx="1726560" cy="547920"/>
          </a:xfrm>
          <a:prstGeom prst="wedgeRoundRectCallout">
            <a:avLst>
              <a:gd name="adj1" fmla="val -54956"/>
              <a:gd name="adj2" fmla="val 10413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Заявка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AutoShape 7"/>
          <p:cNvSpPr/>
          <p:nvPr/>
        </p:nvSpPr>
        <p:spPr>
          <a:xfrm>
            <a:off x="9581040" y="4495680"/>
            <a:ext cx="2071440" cy="647640"/>
          </a:xfrm>
          <a:prstGeom prst="wedgeRoundRectCallout">
            <a:avLst>
              <a:gd name="adj1" fmla="val -27237"/>
              <a:gd name="adj2" fmla="val 9052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Подзаявка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15"/>
          <p:cNvSpPr/>
          <p:nvPr/>
        </p:nvSpPr>
        <p:spPr>
          <a:xfrm>
            <a:off x="2235240" y="5547960"/>
            <a:ext cx="4293720" cy="61776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rgbClr val="234465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108000" bIns="108000" anchor="t">
            <a:spAutoFit/>
          </a:bodyPr>
          <a:p>
            <a:pPr>
              <a:lnSpc>
                <a:spcPct val="110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alibri"/>
              </a:rPr>
              <a:t>WHERE</a:t>
            </a:r>
            <a:r>
              <a:rPr b="0" lang="en-US" sz="2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234465"/>
                </a:solidFill>
                <a:latin typeface="Calibri"/>
              </a:rPr>
              <a:t>DepartmentID</a:t>
            </a:r>
            <a:r>
              <a:rPr b="0" lang="en-US" sz="2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bf7800"/>
                </a:solidFill>
                <a:latin typeface="Calibri"/>
              </a:rPr>
              <a:t>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5" name="Group 48"/>
          <p:cNvGraphicFramePr/>
          <p:nvPr/>
        </p:nvGraphicFramePr>
        <p:xfrm>
          <a:off x="7371360" y="5410080"/>
          <a:ext cx="4286880" cy="849240"/>
        </p:xfrm>
        <a:graphic>
          <a:graphicData uri="http://schemas.openxmlformats.org/drawingml/2006/table">
            <a:tbl>
              <a:tblPr/>
              <a:tblGrid>
                <a:gridCol w="2514600"/>
                <a:gridCol w="1772640"/>
              </a:tblGrid>
              <a:tr h="399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DepartmentId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2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Finance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6" name="Group 48"/>
          <p:cNvGraphicFramePr/>
          <p:nvPr/>
        </p:nvGraphicFramePr>
        <p:xfrm>
          <a:off x="2209680" y="2914920"/>
          <a:ext cx="4286880" cy="1811880"/>
        </p:xfrm>
        <a:graphic>
          <a:graphicData uri="http://schemas.openxmlformats.org/drawingml/2006/table">
            <a:tbl>
              <a:tblPr/>
              <a:tblGrid>
                <a:gridCol w="2514600"/>
                <a:gridCol w="1772640"/>
              </a:tblGrid>
              <a:tr h="399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Salary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2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59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19,000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72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71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43,300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72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...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...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7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F3B8ED1-F147-44C3-BD99-30B52FDEEF09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4"/>
          <p:cNvSpPr/>
          <p:nvPr/>
        </p:nvSpPr>
        <p:spPr>
          <a:xfrm>
            <a:off x="1227960" y="1936440"/>
            <a:ext cx="10125360" cy="36723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SELECT</a:t>
            </a:r>
            <a:r>
              <a:rPr b="1" lang="bg-BG" sz="28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e.FirstName, e.LastName FROM Employees AS 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WHERE e.DepartmentID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IN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(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 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 d.DepartmentID</a:t>
            </a:r>
            <a:br>
              <a:rPr sz="2800"/>
            </a:b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     FROM Departments AS 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   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WHERE d.Name = 'Finance'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Синтаксис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0" name="AutoShape 7"/>
          <p:cNvSpPr/>
          <p:nvPr/>
        </p:nvSpPr>
        <p:spPr>
          <a:xfrm>
            <a:off x="6781680" y="3505320"/>
            <a:ext cx="3543120" cy="558000"/>
          </a:xfrm>
          <a:prstGeom prst="wedgeRoundRectCallout">
            <a:avLst>
              <a:gd name="adj1" fmla="val -58460"/>
              <a:gd name="adj2" fmla="val 3773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Таблица </a:t>
            </a: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Departments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AutoShape 7"/>
          <p:cNvSpPr/>
          <p:nvPr/>
        </p:nvSpPr>
        <p:spPr>
          <a:xfrm>
            <a:off x="2495880" y="4959000"/>
            <a:ext cx="1923120" cy="584640"/>
          </a:xfrm>
          <a:prstGeom prst="wedgeRoundRectCallout">
            <a:avLst>
              <a:gd name="adj1" fmla="val -28669"/>
              <a:gd name="adj2" fmla="val -850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Подзаявка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ldNum" idx="1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A7F9B8-A761-4A8B-A5F0-EA6A59F45D1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7000"/>
          </a:bodyPr>
          <a:p>
            <a:pPr marL="313200" indent="-313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Имате база данни с </a:t>
            </a:r>
            <a:r>
              <a:rPr b="1" lang="bg-BG" sz="3800" spc="-1" strike="noStrike">
                <a:solidFill>
                  <a:srgbClr val="234465"/>
                </a:solidFill>
                <a:latin typeface="Calibri"/>
              </a:rPr>
              <a:t>две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 таблици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: </a:t>
            </a:r>
            <a:r>
              <a:rPr b="1" lang="en-US" sz="3800" spc="-1" strike="noStrike">
                <a:solidFill>
                  <a:srgbClr val="bf7800"/>
                </a:solidFill>
                <a:latin typeface="Calibri"/>
              </a:rPr>
              <a:t>Orders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800" spc="-1" strike="noStrike">
                <a:solidFill>
                  <a:srgbClr val="bf7800"/>
                </a:solidFill>
                <a:latin typeface="Calibri"/>
              </a:rPr>
              <a:t>Customers</a:t>
            </a:r>
            <a:endParaRPr b="0" lang="en-US" sz="3800" spc="-1" strike="noStrike">
              <a:solidFill>
                <a:srgbClr val="234465"/>
              </a:solidFill>
              <a:latin typeface="Calibri"/>
            </a:endParaRPr>
          </a:p>
          <a:p>
            <a:pPr marL="313200" indent="-313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Таблицата </a:t>
            </a:r>
            <a:r>
              <a:rPr b="1" lang="en-US" sz="3800" spc="-1" strike="noStrike">
                <a:solidFill>
                  <a:srgbClr val="bf7800"/>
                </a:solidFill>
                <a:latin typeface="Calibri"/>
              </a:rPr>
              <a:t>Orders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съдържа информация за </a:t>
            </a:r>
            <a:r>
              <a:rPr b="1" lang="bg-BG" sz="3800" spc="-1" strike="noStrike">
                <a:solidFill>
                  <a:srgbClr val="234465"/>
                </a:solidFill>
                <a:latin typeface="Calibri"/>
              </a:rPr>
              <a:t>поръчките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, включително </a:t>
            </a:r>
            <a:r>
              <a:rPr b="1" lang="en-US" sz="3800" spc="-1" strike="noStrike">
                <a:solidFill>
                  <a:srgbClr val="234465"/>
                </a:solidFill>
                <a:latin typeface="Calibri"/>
              </a:rPr>
              <a:t>OrderID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, </a:t>
            </a:r>
            <a:r>
              <a:rPr b="1" lang="en-US" sz="3800" spc="-1" strike="noStrike">
                <a:solidFill>
                  <a:srgbClr val="234465"/>
                </a:solidFill>
                <a:latin typeface="Calibri"/>
              </a:rPr>
              <a:t>CustomerID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800" spc="-1" strike="noStrike">
                <a:solidFill>
                  <a:srgbClr val="234465"/>
                </a:solidFill>
                <a:latin typeface="Calibri"/>
              </a:rPr>
              <a:t>OrderDate</a:t>
            </a:r>
            <a:endParaRPr b="0" lang="en-US" sz="3800" spc="-1" strike="noStrike">
              <a:solidFill>
                <a:srgbClr val="234465"/>
              </a:solidFill>
              <a:latin typeface="Calibri"/>
            </a:endParaRPr>
          </a:p>
          <a:p>
            <a:pPr marL="313200" indent="-313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Таблицата </a:t>
            </a:r>
            <a:r>
              <a:rPr b="1" lang="en-US" sz="3800" spc="-1" strike="noStrike">
                <a:solidFill>
                  <a:srgbClr val="bf7800"/>
                </a:solidFill>
                <a:latin typeface="Calibri"/>
              </a:rPr>
              <a:t>Customers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съдържа информация за </a:t>
            </a:r>
            <a:r>
              <a:rPr b="1" lang="bg-BG" sz="3800" spc="-1" strike="noStrike">
                <a:solidFill>
                  <a:srgbClr val="234465"/>
                </a:solidFill>
                <a:latin typeface="Calibri"/>
              </a:rPr>
              <a:t>клиентите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, включително </a:t>
            </a:r>
            <a:r>
              <a:rPr b="1" lang="en-US" sz="3800" spc="-1" strike="noStrike">
                <a:solidFill>
                  <a:srgbClr val="234465"/>
                </a:solidFill>
                <a:latin typeface="Calibri"/>
              </a:rPr>
              <a:t>CustomerID</a:t>
            </a:r>
            <a:r>
              <a:rPr b="0" lang="en-US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800" spc="-1" strike="noStrike">
                <a:solidFill>
                  <a:srgbClr val="234465"/>
                </a:solidFill>
                <a:latin typeface="Calibri"/>
              </a:rPr>
              <a:t>CustomerName</a:t>
            </a:r>
            <a:endParaRPr b="0" lang="en-US" sz="3800" spc="-1" strike="noStrike">
              <a:solidFill>
                <a:srgbClr val="234465"/>
              </a:solidFill>
              <a:latin typeface="Calibri"/>
            </a:endParaRPr>
          </a:p>
          <a:p>
            <a:pPr marL="313200" indent="-313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Задачата е да се намерят </a:t>
            </a:r>
            <a:r>
              <a:rPr b="1" lang="bg-BG" sz="3800" spc="-1" strike="noStrike">
                <a:solidFill>
                  <a:srgbClr val="bf7800"/>
                </a:solidFill>
                <a:latin typeface="Calibri"/>
              </a:rPr>
              <a:t>имената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 на </a:t>
            </a:r>
            <a:r>
              <a:rPr b="1" lang="bg-BG" sz="3800" spc="-1" strike="noStrike">
                <a:solidFill>
                  <a:srgbClr val="bf7800"/>
                </a:solidFill>
                <a:latin typeface="Calibri"/>
              </a:rPr>
              <a:t>клиентите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, които имат </a:t>
            </a:r>
            <a:r>
              <a:rPr b="1" lang="bg-BG" sz="3800" spc="-1" strike="noStrike">
                <a:solidFill>
                  <a:srgbClr val="bf7800"/>
                </a:solidFill>
                <a:latin typeface="Calibri"/>
              </a:rPr>
              <a:t>направени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800" spc="-1" strike="noStrike">
                <a:solidFill>
                  <a:srgbClr val="bf7800"/>
                </a:solidFill>
                <a:latin typeface="Calibri"/>
              </a:rPr>
              <a:t>поръчки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 през </a:t>
            </a:r>
            <a:r>
              <a:rPr b="1" lang="bg-BG" sz="3800" spc="-1" strike="noStrike">
                <a:solidFill>
                  <a:srgbClr val="bf7800"/>
                </a:solidFill>
                <a:latin typeface="Calibri"/>
              </a:rPr>
              <a:t>2023</a:t>
            </a:r>
            <a:r>
              <a:rPr b="0" lang="bg-BG" sz="38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800" spc="-1" strike="noStrike">
                <a:solidFill>
                  <a:srgbClr val="bf7800"/>
                </a:solidFill>
                <a:latin typeface="Calibri"/>
              </a:rPr>
              <a:t>година</a:t>
            </a:r>
            <a:endParaRPr b="0" lang="en-US" sz="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Задача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: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Поръчки през 2023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9D525D-BAA2-42AF-81DE-174FCDF7D3C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9"/>
          <p:cNvSpPr/>
          <p:nvPr/>
        </p:nvSpPr>
        <p:spPr>
          <a:xfrm>
            <a:off x="1147320" y="1494000"/>
            <a:ext cx="9896760" cy="481968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108000" bIns="108000" anchor="t">
            <a:spAutoFit/>
          </a:bodyPr>
          <a:p>
            <a:pPr>
              <a:lnSpc>
                <a:spcPct val="105000"/>
              </a:lnSpc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DISTINCT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c.CustomerName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Customers c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5000"/>
              </a:lnSpc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EXISTS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(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5000"/>
              </a:lnSpc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5000"/>
              </a:lnSpc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Orders o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5000"/>
              </a:lnSpc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o.CustomerID = c.CustomerID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AND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o.OrderDate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BETWEEN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'2023-01-01'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AND</a:t>
            </a: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 '2023-12-31’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3200" spc="-1" strike="noStrike">
                <a:solidFill>
                  <a:srgbClr val="234465"/>
                </a:solidFill>
                <a:latin typeface="Consolas"/>
              </a:rPr>
              <a:t>);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Решение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: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Поръчки през 2023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ldNum" idx="1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47D3EB-B638-4EF2-9478-A06D3D71C9F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AutoShape 7"/>
          <p:cNvSpPr/>
          <p:nvPr/>
        </p:nvSpPr>
        <p:spPr>
          <a:xfrm>
            <a:off x="4700880" y="3155040"/>
            <a:ext cx="1726560" cy="547920"/>
          </a:xfrm>
          <a:prstGeom prst="wedgeRoundRectCallout">
            <a:avLst>
              <a:gd name="adj1" fmla="val -90259"/>
              <a:gd name="adj2" fmla="val -184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True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2" descr="Venn diagram - Free education icons"/>
          <p:cNvPicPr/>
          <p:nvPr/>
        </p:nvPicPr>
        <p:blipFill>
          <a:blip r:embed="rId1"/>
          <a:stretch/>
        </p:blipFill>
        <p:spPr>
          <a:xfrm>
            <a:off x="4495680" y="1066680"/>
            <a:ext cx="3200040" cy="3200040"/>
          </a:xfrm>
          <a:prstGeom prst="rect">
            <a:avLst/>
          </a:prstGeom>
          <a:ln w="0">
            <a:noFill/>
          </a:ln>
        </p:spPr>
      </p:pic>
      <p:sp>
        <p:nvSpPr>
          <p:cNvPr id="311" name="PlaceHolder 1"/>
          <p:cNvSpPr>
            <a:spLocks noGrp="1"/>
          </p:cNvSpPr>
          <p:nvPr>
            <p:ph type="subTitle"/>
          </p:nvPr>
        </p:nvSpPr>
        <p:spPr>
          <a:xfrm>
            <a:off x="615240" y="5949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4000" spc="-1" strike="noStrike">
                <a:solidFill>
                  <a:srgbClr val="234465"/>
                </a:solidFill>
                <a:latin typeface="Calibri"/>
              </a:rPr>
              <a:t>UNION, INTERSECT, EXCEPT и DIVIDE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title"/>
          </p:nvPr>
        </p:nvSpPr>
        <p:spPr>
          <a:xfrm>
            <a:off x="615240" y="4820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Обединение, сечение, разлика, деление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/>
          </p:nvPr>
        </p:nvSpPr>
        <p:spPr>
          <a:xfrm>
            <a:off x="76320" y="1196280"/>
            <a:ext cx="1196316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92000"/>
          </a:bodyPr>
          <a:p>
            <a:pPr marL="33120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24464"/>
                </a:solidFill>
                <a:latin typeface="Calibri"/>
              </a:rPr>
              <a:t>Операцията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UNION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Обединение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на резултатите от две или повече заявки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Връща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уникални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редове, премахвайки дублиращите се записи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Броят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редът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на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колоните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във всички SELECT заявки трябва да съвпадат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Типовете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на съответните колони също трябва да бъдат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съвместими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24464"/>
                </a:solidFill>
                <a:latin typeface="Calibri"/>
              </a:rPr>
              <a:t>За да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запазим</a:t>
            </a:r>
            <a:r>
              <a:rPr b="0" lang="ru-RU" sz="3200" spc="-1" strike="noStrike">
                <a:solidFill>
                  <a:srgbClr val="224464"/>
                </a:solidFill>
                <a:latin typeface="Calibri"/>
              </a:rPr>
              <a:t> дублиращите се редове</a:t>
            </a:r>
            <a:r>
              <a:rPr b="0" lang="en-US" sz="3200" spc="-1" strike="noStrike">
                <a:solidFill>
                  <a:srgbClr val="224464"/>
                </a:solidFill>
                <a:latin typeface="Calibri"/>
              </a:rPr>
              <a:t>,</a:t>
            </a:r>
            <a:r>
              <a:rPr b="0" lang="ru-RU" sz="3200" spc="-1" strike="noStrike">
                <a:solidFill>
                  <a:srgbClr val="224464"/>
                </a:solidFill>
                <a:latin typeface="Calibri"/>
              </a:rPr>
              <a:t> използваме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UNION ALL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Обединение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4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4B2528-4114-4BCF-B385-51E1539DBC2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Обединение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7" name="TextBox 5"/>
          <p:cNvSpPr/>
          <p:nvPr/>
        </p:nvSpPr>
        <p:spPr>
          <a:xfrm>
            <a:off x="1983600" y="1143000"/>
            <a:ext cx="2275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Employees1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7012800" y="1143000"/>
            <a:ext cx="2275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Employees2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9" name="Group 5"/>
          <p:cNvGrpSpPr/>
          <p:nvPr/>
        </p:nvGrpSpPr>
        <p:grpSpPr>
          <a:xfrm>
            <a:off x="2057400" y="3657600"/>
            <a:ext cx="1600200" cy="990360"/>
            <a:chOff x="2057400" y="3657600"/>
            <a:chExt cx="1600200" cy="990360"/>
          </a:xfrm>
        </p:grpSpPr>
        <p:sp>
          <p:nvSpPr>
            <p:cNvPr id="320" name="Line 6"/>
            <p:cNvSpPr/>
            <p:nvPr/>
          </p:nvSpPr>
          <p:spPr>
            <a:xfrm>
              <a:off x="2057400" y="3657600"/>
              <a:ext cx="360" cy="990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321" name="Line 7"/>
            <p:cNvSpPr/>
            <p:nvPr/>
          </p:nvSpPr>
          <p:spPr>
            <a:xfrm>
              <a:off x="2057400" y="4638600"/>
              <a:ext cx="160020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pSp>
        <p:nvGrpSpPr>
          <p:cNvPr id="322" name="Group 2"/>
          <p:cNvGrpSpPr/>
          <p:nvPr/>
        </p:nvGrpSpPr>
        <p:grpSpPr>
          <a:xfrm>
            <a:off x="8153280" y="3581280"/>
            <a:ext cx="1219680" cy="1066680"/>
            <a:chOff x="8153280" y="3581280"/>
            <a:chExt cx="1219680" cy="1066680"/>
          </a:xfrm>
        </p:grpSpPr>
        <p:sp>
          <p:nvSpPr>
            <p:cNvPr id="323" name="Line 3"/>
            <p:cNvSpPr/>
            <p:nvPr/>
          </p:nvSpPr>
          <p:spPr>
            <a:xfrm>
              <a:off x="9372600" y="3581280"/>
              <a:ext cx="360" cy="106668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324" name="Line 4"/>
            <p:cNvSpPr/>
            <p:nvPr/>
          </p:nvSpPr>
          <p:spPr>
            <a:xfrm flipH="1">
              <a:off x="8153280" y="4637880"/>
              <a:ext cx="121932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aphicFrame>
        <p:nvGraphicFramePr>
          <p:cNvPr id="325" name="Group 48"/>
          <p:cNvGraphicFramePr/>
          <p:nvPr/>
        </p:nvGraphicFramePr>
        <p:xfrm>
          <a:off x="3733920" y="4038480"/>
          <a:ext cx="4286880" cy="2489400"/>
        </p:xfrm>
        <a:graphic>
          <a:graphicData uri="http://schemas.openxmlformats.org/drawingml/2006/table">
            <a:tbl>
              <a:tblPr/>
              <a:tblGrid>
                <a:gridCol w="1714680"/>
                <a:gridCol w="25722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John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Gosho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Bob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Kevin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Kate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6" name="AutoShape 7"/>
          <p:cNvSpPr/>
          <p:nvPr/>
        </p:nvSpPr>
        <p:spPr>
          <a:xfrm>
            <a:off x="8458200" y="5562720"/>
            <a:ext cx="2819160" cy="914040"/>
          </a:xfrm>
          <a:prstGeom prst="wedgeRoundRectCallout">
            <a:avLst>
              <a:gd name="adj1" fmla="val -64269"/>
              <a:gd name="adj2" fmla="val -5339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Резултатна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27" name="Group 48"/>
          <p:cNvGraphicFramePr/>
          <p:nvPr/>
        </p:nvGraphicFramePr>
        <p:xfrm>
          <a:off x="1676520" y="1752480"/>
          <a:ext cx="3047760" cy="1885320"/>
        </p:xfrm>
        <a:graphic>
          <a:graphicData uri="http://schemas.openxmlformats.org/drawingml/2006/table">
            <a:tbl>
              <a:tblPr/>
              <a:tblGrid>
                <a:gridCol w="1218960"/>
                <a:gridCol w="18288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John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Gosho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Bob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8" name="Group 48"/>
          <p:cNvGraphicFramePr/>
          <p:nvPr/>
        </p:nvGraphicFramePr>
        <p:xfrm>
          <a:off x="6781680" y="1695600"/>
          <a:ext cx="3047760" cy="1885320"/>
        </p:xfrm>
        <a:graphic>
          <a:graphicData uri="http://schemas.openxmlformats.org/drawingml/2006/table">
            <a:tbl>
              <a:tblPr/>
              <a:tblGrid>
                <a:gridCol w="1218960"/>
                <a:gridCol w="18288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Bob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Kevin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Kate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9" name="PlaceHolder 2"/>
          <p:cNvSpPr>
            <a:spLocks noGrp="1"/>
          </p:cNvSpPr>
          <p:nvPr>
            <p:ph type="sldNum" idx="15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52D219-C98A-474F-9AAC-B989B229BDC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Обединение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1" name="Rectangle 4"/>
          <p:cNvSpPr/>
          <p:nvPr/>
        </p:nvSpPr>
        <p:spPr>
          <a:xfrm>
            <a:off x="2666880" y="2819520"/>
            <a:ext cx="7314840" cy="14331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Id, Name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Employees1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UNION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Id, Name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Employees2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AutoShape 7"/>
          <p:cNvSpPr/>
          <p:nvPr/>
        </p:nvSpPr>
        <p:spPr>
          <a:xfrm>
            <a:off x="7391520" y="1828800"/>
            <a:ext cx="2819160" cy="685440"/>
          </a:xfrm>
          <a:prstGeom prst="wedgeRoundRectCallout">
            <a:avLst>
              <a:gd name="adj1" fmla="val -30823"/>
              <a:gd name="adj2" fmla="val 10668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Първа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AutoShape 7"/>
          <p:cNvSpPr/>
          <p:nvPr/>
        </p:nvSpPr>
        <p:spPr>
          <a:xfrm>
            <a:off x="5029200" y="4572000"/>
            <a:ext cx="2819160" cy="685440"/>
          </a:xfrm>
          <a:prstGeom prst="wedgeRoundRectCallout">
            <a:avLst>
              <a:gd name="adj1" fmla="val 31339"/>
              <a:gd name="adj2" fmla="val -1044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Втора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AutoShape 7"/>
          <p:cNvSpPr/>
          <p:nvPr/>
        </p:nvSpPr>
        <p:spPr>
          <a:xfrm>
            <a:off x="152280" y="2362320"/>
            <a:ext cx="2437920" cy="685440"/>
          </a:xfrm>
          <a:prstGeom prst="wedgeRoundRectCallout">
            <a:avLst>
              <a:gd name="adj1" fmla="val 51906"/>
              <a:gd name="adj2" fmla="val 1122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Обединение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ldNum" idx="1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D33F11-76D4-46D5-98D2-5906158DEA4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600" spc="-1" strike="noStrike">
                <a:solidFill>
                  <a:srgbClr val="224464"/>
                </a:solidFill>
                <a:latin typeface="Calibri"/>
              </a:rPr>
              <a:t>Операцията </a:t>
            </a: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INTERSECT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Връща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общите редове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между резултатите от две или повече заявки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Използва се, когато искаме да вземем само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съвпадащите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редове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в две или повече таблици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Например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общите интереси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между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потребителите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в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социална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мрежа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Типовете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,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броят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 и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редът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 на колоните трябва да съвпада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Сечение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E15C01-9FAA-4D83-93F7-E3C4F574E1E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Сечение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0" name="TextBox 5"/>
          <p:cNvSpPr/>
          <p:nvPr/>
        </p:nvSpPr>
        <p:spPr>
          <a:xfrm>
            <a:off x="2059560" y="1143000"/>
            <a:ext cx="2275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Employees1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7"/>
          <p:cNvSpPr/>
          <p:nvPr/>
        </p:nvSpPr>
        <p:spPr>
          <a:xfrm>
            <a:off x="7170840" y="1143000"/>
            <a:ext cx="2275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Employees2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" name="Group 5"/>
          <p:cNvGrpSpPr/>
          <p:nvPr/>
        </p:nvGrpSpPr>
        <p:grpSpPr>
          <a:xfrm>
            <a:off x="2057400" y="3657600"/>
            <a:ext cx="1600200" cy="1295280"/>
            <a:chOff x="2057400" y="3657600"/>
            <a:chExt cx="1600200" cy="1295280"/>
          </a:xfrm>
        </p:grpSpPr>
        <p:sp>
          <p:nvSpPr>
            <p:cNvPr id="343" name="Line 6"/>
            <p:cNvSpPr/>
            <p:nvPr/>
          </p:nvSpPr>
          <p:spPr>
            <a:xfrm>
              <a:off x="2057400" y="3657600"/>
              <a:ext cx="360" cy="129528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344" name="Line 7"/>
            <p:cNvSpPr/>
            <p:nvPr/>
          </p:nvSpPr>
          <p:spPr>
            <a:xfrm>
              <a:off x="2057400" y="4940640"/>
              <a:ext cx="160020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pSp>
        <p:nvGrpSpPr>
          <p:cNvPr id="345" name="Group 2"/>
          <p:cNvGrpSpPr/>
          <p:nvPr/>
        </p:nvGrpSpPr>
        <p:grpSpPr>
          <a:xfrm>
            <a:off x="8153280" y="3581280"/>
            <a:ext cx="1219680" cy="1371600"/>
            <a:chOff x="8153280" y="3581280"/>
            <a:chExt cx="1219680" cy="1371600"/>
          </a:xfrm>
        </p:grpSpPr>
        <p:sp>
          <p:nvSpPr>
            <p:cNvPr id="346" name="Line 3"/>
            <p:cNvSpPr/>
            <p:nvPr/>
          </p:nvSpPr>
          <p:spPr>
            <a:xfrm>
              <a:off x="9372600" y="3581280"/>
              <a:ext cx="360" cy="137160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347" name="Line 4"/>
            <p:cNvSpPr/>
            <p:nvPr/>
          </p:nvSpPr>
          <p:spPr>
            <a:xfrm flipH="1">
              <a:off x="8153280" y="4939920"/>
              <a:ext cx="121932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aphicFrame>
        <p:nvGraphicFramePr>
          <p:cNvPr id="348" name="Group 48"/>
          <p:cNvGraphicFramePr/>
          <p:nvPr/>
        </p:nvGraphicFramePr>
        <p:xfrm>
          <a:off x="3733920" y="4343400"/>
          <a:ext cx="4286880" cy="849240"/>
        </p:xfrm>
        <a:graphic>
          <a:graphicData uri="http://schemas.openxmlformats.org/drawingml/2006/table">
            <a:tbl>
              <a:tblPr/>
              <a:tblGrid>
                <a:gridCol w="1714680"/>
                <a:gridCol w="25722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Bob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9" name="AutoShape 7"/>
          <p:cNvSpPr/>
          <p:nvPr/>
        </p:nvSpPr>
        <p:spPr>
          <a:xfrm>
            <a:off x="2438280" y="5638680"/>
            <a:ext cx="2819160" cy="914040"/>
          </a:xfrm>
          <a:prstGeom prst="wedgeRoundRectCallout">
            <a:avLst>
              <a:gd name="adj1" fmla="val 38772"/>
              <a:gd name="adj2" fmla="val -8984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Резултатната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50" name="Group 48"/>
          <p:cNvGraphicFramePr/>
          <p:nvPr/>
        </p:nvGraphicFramePr>
        <p:xfrm>
          <a:off x="1676520" y="1752480"/>
          <a:ext cx="3047760" cy="1885320"/>
        </p:xfrm>
        <a:graphic>
          <a:graphicData uri="http://schemas.openxmlformats.org/drawingml/2006/table">
            <a:tbl>
              <a:tblPr/>
              <a:tblGrid>
                <a:gridCol w="1218960"/>
                <a:gridCol w="18288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John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Gosho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Bob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1" name="Group 48"/>
          <p:cNvGraphicFramePr/>
          <p:nvPr/>
        </p:nvGraphicFramePr>
        <p:xfrm>
          <a:off x="6781680" y="1695600"/>
          <a:ext cx="3047760" cy="1885320"/>
        </p:xfrm>
        <a:graphic>
          <a:graphicData uri="http://schemas.openxmlformats.org/drawingml/2006/table">
            <a:tbl>
              <a:tblPr/>
              <a:tblGrid>
                <a:gridCol w="1218960"/>
                <a:gridCol w="18288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Bob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Kevin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Kate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2" name="PlaceHolder 2"/>
          <p:cNvSpPr>
            <a:spLocks noGrp="1"/>
          </p:cNvSpPr>
          <p:nvPr>
            <p:ph type="sldNum" idx="1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A62E44-1865-4A2D-9FB3-BF4F2E9F4EE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Сечение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4" name="Rectangle 4"/>
          <p:cNvSpPr/>
          <p:nvPr/>
        </p:nvSpPr>
        <p:spPr>
          <a:xfrm>
            <a:off x="2743200" y="2819520"/>
            <a:ext cx="7314840" cy="14331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Id, Name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Employees1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INTERSECT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Id, Name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Employees2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AutoShape 7"/>
          <p:cNvSpPr/>
          <p:nvPr/>
        </p:nvSpPr>
        <p:spPr>
          <a:xfrm>
            <a:off x="7467480" y="1828800"/>
            <a:ext cx="2819160" cy="685440"/>
          </a:xfrm>
          <a:prstGeom prst="wedgeRoundRectCallout">
            <a:avLst>
              <a:gd name="adj1" fmla="val -30823"/>
              <a:gd name="adj2" fmla="val 10668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Първа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AutoShape 7"/>
          <p:cNvSpPr/>
          <p:nvPr/>
        </p:nvSpPr>
        <p:spPr>
          <a:xfrm>
            <a:off x="5105520" y="4572000"/>
            <a:ext cx="2819160" cy="685440"/>
          </a:xfrm>
          <a:prstGeom prst="wedgeRoundRectCallout">
            <a:avLst>
              <a:gd name="adj1" fmla="val 31339"/>
              <a:gd name="adj2" fmla="val -1044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Втора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AutoShape 7"/>
          <p:cNvSpPr/>
          <p:nvPr/>
        </p:nvSpPr>
        <p:spPr>
          <a:xfrm>
            <a:off x="533520" y="2971800"/>
            <a:ext cx="1828440" cy="685440"/>
          </a:xfrm>
          <a:prstGeom prst="wedgeRoundRectCallout">
            <a:avLst>
              <a:gd name="adj1" fmla="val 66750"/>
              <a:gd name="adj2" fmla="val 3445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Сечение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ldNum" idx="1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0ADC42-CAB7-4AED-9924-074A69C2498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600" spc="-1" strike="noStrike">
                <a:solidFill>
                  <a:srgbClr val="224464"/>
                </a:solidFill>
                <a:latin typeface="Calibri"/>
              </a:rPr>
              <a:t>Операцията </a:t>
            </a:r>
            <a:r>
              <a:rPr b="1" lang="en-US" sz="3600" spc="-1" strike="noStrike">
                <a:solidFill>
                  <a:srgbClr val="bf7800"/>
                </a:solidFill>
                <a:latin typeface="Calibri"/>
              </a:rPr>
              <a:t>EXCEPT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Връща редовете от първата заявка, които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не се срещат 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във втората заявка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Например, за да намерим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продукти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които са налични в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онлайн магазин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но не и в магазина на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физически адрес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Типовете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,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броят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 и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редът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 на колоните трябва да съвпада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Разлика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45A504-13EC-4AA8-8A35-47E0129ECCD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Разлика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3" name="TextBox 5"/>
          <p:cNvSpPr/>
          <p:nvPr/>
        </p:nvSpPr>
        <p:spPr>
          <a:xfrm>
            <a:off x="1978560" y="1143000"/>
            <a:ext cx="2226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OnlineShop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7"/>
          <p:cNvSpPr/>
          <p:nvPr/>
        </p:nvSpPr>
        <p:spPr>
          <a:xfrm>
            <a:off x="7157160" y="1066680"/>
            <a:ext cx="19778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LocalShop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5" name="Group 5"/>
          <p:cNvGrpSpPr/>
          <p:nvPr/>
        </p:nvGrpSpPr>
        <p:grpSpPr>
          <a:xfrm>
            <a:off x="2057400" y="3657600"/>
            <a:ext cx="1600200" cy="1295280"/>
            <a:chOff x="2057400" y="3657600"/>
            <a:chExt cx="1600200" cy="1295280"/>
          </a:xfrm>
        </p:grpSpPr>
        <p:sp>
          <p:nvSpPr>
            <p:cNvPr id="366" name="Line 6"/>
            <p:cNvSpPr/>
            <p:nvPr/>
          </p:nvSpPr>
          <p:spPr>
            <a:xfrm>
              <a:off x="2057400" y="3657600"/>
              <a:ext cx="360" cy="129528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367" name="Line 7"/>
            <p:cNvSpPr/>
            <p:nvPr/>
          </p:nvSpPr>
          <p:spPr>
            <a:xfrm>
              <a:off x="2057400" y="4940640"/>
              <a:ext cx="160020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pSp>
        <p:nvGrpSpPr>
          <p:cNvPr id="368" name="Group 2"/>
          <p:cNvGrpSpPr/>
          <p:nvPr/>
        </p:nvGrpSpPr>
        <p:grpSpPr>
          <a:xfrm>
            <a:off x="8076960" y="3581280"/>
            <a:ext cx="1143360" cy="1371600"/>
            <a:chOff x="8076960" y="3581280"/>
            <a:chExt cx="1143360" cy="1371600"/>
          </a:xfrm>
        </p:grpSpPr>
        <p:sp>
          <p:nvSpPr>
            <p:cNvPr id="369" name="Line 3"/>
            <p:cNvSpPr/>
            <p:nvPr/>
          </p:nvSpPr>
          <p:spPr>
            <a:xfrm>
              <a:off x="9219960" y="3581280"/>
              <a:ext cx="360" cy="137160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  <p:sp>
          <p:nvSpPr>
            <p:cNvPr id="370" name="Line 4"/>
            <p:cNvSpPr/>
            <p:nvPr/>
          </p:nvSpPr>
          <p:spPr>
            <a:xfrm flipH="1">
              <a:off x="8076960" y="4939920"/>
              <a:ext cx="1143000" cy="360"/>
            </a:xfrm>
            <a:prstGeom prst="line">
              <a:avLst/>
            </a:prstGeom>
            <a:ln w="31750">
              <a:solidFill>
                <a:srgbClr val="67748e">
                  <a:lumMod val="20000"/>
                  <a:lumOff val="80000"/>
                </a:srgbClr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bg-BG" sz="18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graphicFrame>
        <p:nvGraphicFramePr>
          <p:cNvPr id="371" name="Group 48"/>
          <p:cNvGraphicFramePr/>
          <p:nvPr/>
        </p:nvGraphicFramePr>
        <p:xfrm>
          <a:off x="3733920" y="4343400"/>
          <a:ext cx="4286880" cy="1259280"/>
        </p:xfrm>
        <a:graphic>
          <a:graphicData uri="http://schemas.openxmlformats.org/drawingml/2006/table">
            <a:tbl>
              <a:tblPr/>
              <a:tblGrid>
                <a:gridCol w="1714680"/>
                <a:gridCol w="25722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Smartwatch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Microphone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2" name="AutoShape 7"/>
          <p:cNvSpPr/>
          <p:nvPr/>
        </p:nvSpPr>
        <p:spPr>
          <a:xfrm>
            <a:off x="685800" y="5715000"/>
            <a:ext cx="2819160" cy="914040"/>
          </a:xfrm>
          <a:prstGeom prst="wedgeRoundRectCallout">
            <a:avLst>
              <a:gd name="adj1" fmla="val 53975"/>
              <a:gd name="adj2" fmla="val -8255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Резултатната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73" name="Group 48"/>
          <p:cNvGraphicFramePr/>
          <p:nvPr/>
        </p:nvGraphicFramePr>
        <p:xfrm>
          <a:off x="1676520" y="1771920"/>
          <a:ext cx="2819160" cy="2282760"/>
        </p:xfrm>
        <a:graphic>
          <a:graphicData uri="http://schemas.openxmlformats.org/drawingml/2006/table">
            <a:tbl>
              <a:tblPr/>
              <a:tblGrid>
                <a:gridCol w="916200"/>
                <a:gridCol w="19029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Smartwatch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Speakers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Microphone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4" name="Group 48"/>
          <p:cNvGraphicFramePr/>
          <p:nvPr/>
        </p:nvGraphicFramePr>
        <p:xfrm>
          <a:off x="6705720" y="1676520"/>
          <a:ext cx="2666520" cy="1885320"/>
        </p:xfrm>
        <a:graphic>
          <a:graphicData uri="http://schemas.openxmlformats.org/drawingml/2006/table">
            <a:tbl>
              <a:tblPr/>
              <a:tblGrid>
                <a:gridCol w="799920"/>
                <a:gridCol w="18666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Speakers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TV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475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Camera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5" name="PlaceHolder 2"/>
          <p:cNvSpPr>
            <a:spLocks noGrp="1"/>
          </p:cNvSpPr>
          <p:nvPr>
            <p:ph type="sldNum" idx="2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834436-2D31-48F1-AC54-FB0B485D53F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09" dur="indefinite" restart="never" nodeType="tmRoot">
          <p:childTnLst>
            <p:seq>
              <p:cTn id="210" dur="indefinite" nodeType="mainSeq">
                <p:childTnLst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Разлика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7" name="Rectangle 4"/>
          <p:cNvSpPr/>
          <p:nvPr/>
        </p:nvSpPr>
        <p:spPr>
          <a:xfrm>
            <a:off x="2743200" y="2819520"/>
            <a:ext cx="7314840" cy="14331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Id, Name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</a:t>
            </a: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OnlineShop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EXCEPT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Id, Name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 LocalShop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AutoShape 7"/>
          <p:cNvSpPr/>
          <p:nvPr/>
        </p:nvSpPr>
        <p:spPr>
          <a:xfrm>
            <a:off x="7238880" y="1828800"/>
            <a:ext cx="2819160" cy="685440"/>
          </a:xfrm>
          <a:prstGeom prst="wedgeRoundRectCallout">
            <a:avLst>
              <a:gd name="adj1" fmla="val -30823"/>
              <a:gd name="adj2" fmla="val 10668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Първа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AutoShape 7"/>
          <p:cNvSpPr/>
          <p:nvPr/>
        </p:nvSpPr>
        <p:spPr>
          <a:xfrm>
            <a:off x="4876920" y="4572000"/>
            <a:ext cx="2819160" cy="685440"/>
          </a:xfrm>
          <a:prstGeom prst="wedgeRoundRectCallout">
            <a:avLst>
              <a:gd name="adj1" fmla="val 31339"/>
              <a:gd name="adj2" fmla="val -1044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Втора таблица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AutoShape 7"/>
          <p:cNvSpPr/>
          <p:nvPr/>
        </p:nvSpPr>
        <p:spPr>
          <a:xfrm>
            <a:off x="533520" y="2895480"/>
            <a:ext cx="1828440" cy="685440"/>
          </a:xfrm>
          <a:prstGeom prst="wedgeRoundRectCallout">
            <a:avLst>
              <a:gd name="adj1" fmla="val 70396"/>
              <a:gd name="adj2" fmla="val 4834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Разлика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sldNum" idx="2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8DD181-1A9B-44EA-9491-C9EFC71B75D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23" dur="indefinite" restart="never" nodeType="tmRoot">
          <p:childTnLst>
            <p:seq>
              <p:cTn id="224" dur="indefinite" nodeType="mainSeq">
                <p:childTnLst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600" spc="-1" strike="noStrike">
                <a:solidFill>
                  <a:srgbClr val="224464"/>
                </a:solidFill>
                <a:latin typeface="Calibri"/>
              </a:rPr>
              <a:t>Операцията </a:t>
            </a: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DIVIDE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П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оказва какви стойности от първата таблица </a:t>
            </a:r>
            <a:r>
              <a:rPr b="1" lang="ru-RU" sz="3600" spc="-1" strike="noStrike">
                <a:solidFill>
                  <a:srgbClr val="bf7800"/>
                </a:solidFill>
                <a:latin typeface="Calibri"/>
              </a:rPr>
              <a:t>съответстват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 на всички стойности от втората таблица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24464"/>
                </a:solidFill>
                <a:latin typeface="Calibri"/>
              </a:rPr>
              <a:t>Използва се по-рядко и е по-сложна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24464"/>
                </a:solidFill>
                <a:latin typeface="Calibri"/>
              </a:rPr>
              <a:t>Например за намиране на </a:t>
            </a: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студентите</a:t>
            </a:r>
            <a:r>
              <a:rPr b="0" lang="bg-BG" sz="3200" spc="-1" strike="noStrike">
                <a:solidFill>
                  <a:srgbClr val="224464"/>
                </a:solidFill>
                <a:latin typeface="Calibri"/>
              </a:rPr>
              <a:t>, които са </a:t>
            </a: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записани</a:t>
            </a:r>
            <a:r>
              <a:rPr b="0" lang="bg-BG" sz="3200" spc="-1" strike="noStrike">
                <a:solidFill>
                  <a:srgbClr val="224464"/>
                </a:solidFill>
                <a:latin typeface="Calibri"/>
              </a:rPr>
              <a:t> на всички </a:t>
            </a: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задължителни курсове </a:t>
            </a:r>
            <a:r>
              <a:rPr b="0" lang="bg-BG" sz="3200" spc="-1" strike="noStrike">
                <a:solidFill>
                  <a:srgbClr val="224464"/>
                </a:solidFill>
                <a:latin typeface="Calibri"/>
              </a:rPr>
              <a:t>в университета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Деление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597ACF-1699-4F90-B183-C299142C3111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96000"/>
          </a:bodyPr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45600" indent="-3456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Вътрешните подзаявки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сравняват записите между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двете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таблиц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и намират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студентите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, които са записани на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всички задължителни курсове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Деление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7" name="Rectangle 9"/>
          <p:cNvSpPr/>
          <p:nvPr/>
        </p:nvSpPr>
        <p:spPr>
          <a:xfrm>
            <a:off x="685800" y="1295280"/>
            <a:ext cx="10743840" cy="39272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 StudentId FROM EnrolledCourses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WHERE NOT EXISTS 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(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bg-BG" sz="2400" spc="-1" strike="noStrike">
                <a:solidFill>
                  <a:srgbClr val="bf7800"/>
                </a:solidFill>
                <a:latin typeface="Consolas"/>
              </a:rPr>
              <a:t>	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 CourseId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 MandatoryCourses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WHERE NOT EXISTS 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(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bg-BG" sz="2400" spc="-1" strike="noStrike">
                <a:solidFill>
                  <a:srgbClr val="bf7800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bf7800"/>
                </a:solidFill>
                <a:latin typeface="Consolas"/>
              </a:rPr>
              <a:t>	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 * 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EnrolledCourses AS ec 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4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 ec.StudentId = EnrolledCourses.StudentId 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400" spc="-1" strike="noStrike">
                <a:solidFill>
                  <a:srgbClr val="234465"/>
                </a:solidFill>
                <a:latin typeface="Consolas"/>
              </a:rPr>
              <a:t>AND ec.CourseId = MandatoryCourses.CourseId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bg-BG" sz="24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4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D0217C-BB4A-4026-B102-E31B1C06FF1C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43" dur="indefinite" restart="never" nodeType="tmRoot">
          <p:childTnLst>
            <p:seq>
              <p:cTn id="244" dur="indefinite" nodeType="mainSeq">
                <p:childTnLst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Summary Box Group"/>
          <p:cNvGrpSpPr/>
          <p:nvPr/>
        </p:nvGrpSpPr>
        <p:grpSpPr>
          <a:xfrm>
            <a:off x="207000" y="1294200"/>
            <a:ext cx="9470160" cy="5393880"/>
            <a:chOff x="207000" y="1294200"/>
            <a:chExt cx="9470160" cy="5393880"/>
          </a:xfrm>
        </p:grpSpPr>
        <p:sp>
          <p:nvSpPr>
            <p:cNvPr id="390" name="Rounded Rectangle Blue"/>
            <p:cNvSpPr/>
            <p:nvPr/>
          </p:nvSpPr>
          <p:spPr>
            <a:xfrm>
              <a:off x="207000" y="1294200"/>
              <a:ext cx="9470160" cy="5393880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91" name="Rounded Rectangle Left"/>
            <p:cNvSpPr/>
            <p:nvPr/>
          </p:nvSpPr>
          <p:spPr>
            <a:xfrm>
              <a:off x="393480" y="1502640"/>
              <a:ext cx="203040" cy="49773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bf7800"/>
                </a:solidFill>
                <a:latin typeface="Calibri"/>
              </a:endParaRPr>
            </a:p>
          </p:txBody>
        </p:sp>
      </p:grpSp>
      <p:sp>
        <p:nvSpPr>
          <p:cNvPr id="392" name="PlaceHolder 1"/>
          <p:cNvSpPr>
            <a:spLocks noGrp="1"/>
          </p:cNvSpPr>
          <p:nvPr>
            <p:ph/>
          </p:nvPr>
        </p:nvSpPr>
        <p:spPr>
          <a:xfrm>
            <a:off x="749160" y="228600"/>
            <a:ext cx="8775360" cy="62280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bg-BG" sz="2700" spc="-1" strike="noStrike">
                <a:solidFill>
                  <a:srgbClr val="ffb840"/>
                </a:solidFill>
                <a:latin typeface="Calibri"/>
              </a:rPr>
              <a:t>По-сложни </a:t>
            </a:r>
            <a:r>
              <a:rPr b="1" lang="en-US" sz="2700" spc="-1" strike="noStrike">
                <a:solidFill>
                  <a:srgbClr val="ffb840"/>
                </a:solidFill>
                <a:latin typeface="Consolas"/>
              </a:rPr>
              <a:t>JOIN</a:t>
            </a:r>
            <a:r>
              <a:rPr b="1" lang="en-US" sz="27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bg-BG" sz="2700" spc="-1" strike="noStrike">
                <a:solidFill>
                  <a:srgbClr val="ffffff"/>
                </a:solidFill>
                <a:latin typeface="Calibri"/>
              </a:rPr>
              <a:t>заявки</a:t>
            </a:r>
            <a:r>
              <a:rPr b="0" lang="en-US" sz="2700" spc="-1" strike="noStrike">
                <a:solidFill>
                  <a:srgbClr val="ffffff"/>
                </a:solidFill>
                <a:latin typeface="Calibri"/>
              </a:rPr>
              <a:t> – </a:t>
            </a:r>
            <a:r>
              <a:rPr b="0" lang="bg-BG" sz="2700" spc="-1" strike="noStrike">
                <a:solidFill>
                  <a:srgbClr val="ffffff"/>
                </a:solidFill>
                <a:latin typeface="Calibri"/>
              </a:rPr>
              <a:t>данни от повече от 2 таблици</a:t>
            </a:r>
            <a:endParaRPr b="0" lang="en-US" sz="27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bg-BG" sz="2700" spc="-1" strike="noStrike">
                <a:solidFill>
                  <a:srgbClr val="ffb840"/>
                </a:solidFill>
                <a:latin typeface="Calibri"/>
              </a:rPr>
              <a:t>Подзаявки</a:t>
            </a:r>
            <a:endParaRPr b="0" lang="en-US" sz="27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ru-RU" sz="2500" spc="-1" strike="noStrike">
                <a:solidFill>
                  <a:srgbClr val="ffffff"/>
                </a:solidFill>
                <a:latin typeface="Calibri"/>
              </a:rPr>
              <a:t>Използват</a:t>
            </a:r>
            <a:r>
              <a:rPr b="0" lang="en-US" sz="25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bg-BG" sz="2500" spc="-1" strike="noStrike">
                <a:solidFill>
                  <a:srgbClr val="ffffff"/>
                </a:solidFill>
                <a:latin typeface="Calibri"/>
              </a:rPr>
              <a:t>се</a:t>
            </a:r>
            <a:r>
              <a:rPr b="0" lang="ru-RU" sz="2500" spc="-1" strike="noStrike">
                <a:solidFill>
                  <a:srgbClr val="ffffff"/>
                </a:solidFill>
                <a:latin typeface="Calibri"/>
              </a:rPr>
              <a:t> за влагане на заявки</a:t>
            </a:r>
            <a:endParaRPr b="0" lang="en-US" sz="25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ru-RU" sz="2500" spc="-1" strike="noStrike">
                <a:solidFill>
                  <a:srgbClr val="ffffff"/>
                </a:solidFill>
                <a:latin typeface="Calibri"/>
              </a:rPr>
              <a:t>Използваме резултата от заявка като данни за друга</a:t>
            </a:r>
            <a:endParaRPr b="0" lang="en-US" sz="25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700" spc="-1" strike="noStrike">
                <a:solidFill>
                  <a:srgbClr val="ffb840"/>
                </a:solidFill>
                <a:latin typeface="Consolas"/>
              </a:rPr>
              <a:t>UNION</a:t>
            </a:r>
            <a:r>
              <a:rPr b="0" lang="en-US" sz="2700" spc="-1" strike="noStrike">
                <a:solidFill>
                  <a:srgbClr val="ffffff"/>
                </a:solidFill>
                <a:latin typeface="Calibri"/>
              </a:rPr>
              <a:t> == </a:t>
            </a:r>
            <a:r>
              <a:rPr b="0" lang="ru-RU" sz="2700" spc="-1" strike="noStrike">
                <a:solidFill>
                  <a:srgbClr val="ffffff"/>
                </a:solidFill>
                <a:latin typeface="Calibri"/>
              </a:rPr>
              <a:t>уникални редове от две или повече заявки</a:t>
            </a:r>
            <a:endParaRPr b="0" lang="en-US" sz="27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700" spc="-1" strike="noStrike">
                <a:solidFill>
                  <a:srgbClr val="ffb840"/>
                </a:solidFill>
                <a:latin typeface="Consolas"/>
              </a:rPr>
              <a:t>INTERSECT</a:t>
            </a:r>
            <a:r>
              <a:rPr b="1" lang="en-US" sz="27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en-US" sz="2700" spc="-1" strike="noStrike">
                <a:solidFill>
                  <a:srgbClr val="ffffff"/>
                </a:solidFill>
                <a:latin typeface="Calibri"/>
              </a:rPr>
              <a:t>== </a:t>
            </a:r>
            <a:r>
              <a:rPr b="0" lang="ru-RU" sz="2700" spc="-1" strike="noStrike">
                <a:solidFill>
                  <a:srgbClr val="ffffff"/>
                </a:solidFill>
                <a:latin typeface="Calibri"/>
              </a:rPr>
              <a:t>общи</a:t>
            </a:r>
            <a:r>
              <a:rPr b="0" lang="bg-BG" sz="2700" spc="-1" strike="noStrike">
                <a:solidFill>
                  <a:srgbClr val="ffffff"/>
                </a:solidFill>
                <a:latin typeface="Calibri"/>
              </a:rPr>
              <a:t>те</a:t>
            </a:r>
            <a:r>
              <a:rPr b="0" lang="ru-RU" sz="2700" spc="-1" strike="noStrike">
                <a:solidFill>
                  <a:srgbClr val="ffffff"/>
                </a:solidFill>
                <a:latin typeface="Calibri"/>
              </a:rPr>
              <a:t> редове между резултатите на две или повече заявки</a:t>
            </a:r>
            <a:endParaRPr b="0" lang="en-US" sz="27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700" spc="-1" strike="noStrike">
                <a:solidFill>
                  <a:srgbClr val="ffb840"/>
                </a:solidFill>
                <a:latin typeface="Consolas"/>
              </a:rPr>
              <a:t>EXCEPT</a:t>
            </a:r>
            <a:r>
              <a:rPr b="1" lang="en-US" sz="27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en-US" sz="2700" spc="-1" strike="noStrike">
                <a:solidFill>
                  <a:srgbClr val="ffffff"/>
                </a:solidFill>
                <a:latin typeface="Calibri"/>
              </a:rPr>
              <a:t>==</a:t>
            </a:r>
            <a:r>
              <a:rPr b="1" lang="en-US" sz="27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ru-RU" sz="2700" spc="-1" strike="noStrike">
                <a:solidFill>
                  <a:srgbClr val="ffffff"/>
                </a:solidFill>
                <a:latin typeface="Calibri"/>
              </a:rPr>
              <a:t>редове от първата заявка, които не се срещат във втората заявка</a:t>
            </a:r>
            <a:endParaRPr b="0" lang="en-US" sz="27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700" spc="-1" strike="noStrike">
                <a:solidFill>
                  <a:srgbClr val="ffb840"/>
                </a:solidFill>
                <a:latin typeface="Consolas"/>
              </a:rPr>
              <a:t>DIVIDE</a:t>
            </a:r>
            <a:r>
              <a:rPr b="0" lang="bg-BG" sz="2700" spc="-1" strike="noStrike">
                <a:solidFill>
                  <a:srgbClr val="ffffff"/>
                </a:solidFill>
                <a:latin typeface="Calibri"/>
              </a:rPr>
              <a:t> == </a:t>
            </a:r>
            <a:r>
              <a:rPr b="0" lang="ru-RU" sz="2700" spc="-1" strike="noStrike">
                <a:solidFill>
                  <a:srgbClr val="ffffff"/>
                </a:solidFill>
                <a:latin typeface="Calibri"/>
              </a:rPr>
              <a:t>стойности от първата таблица, съответстващи на всички стойности от втората таблица</a:t>
            </a:r>
            <a:r>
              <a:rPr b="0" lang="bg-BG" sz="27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27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93" name="Picture SoftUni Mascot" descr=""/>
          <p:cNvPicPr/>
          <p:nvPr/>
        </p:nvPicPr>
        <p:blipFill>
          <a:blip r:embed="rId1"/>
          <a:stretch/>
        </p:blipFill>
        <p:spPr>
          <a:xfrm flipH="1">
            <a:off x="9811080" y="4204080"/>
            <a:ext cx="2055600" cy="2224800"/>
          </a:xfrm>
          <a:prstGeom prst="rect">
            <a:avLst/>
          </a:prstGeom>
          <a:ln w="0">
            <a:noFill/>
          </a:ln>
        </p:spPr>
      </p:pic>
      <p:sp>
        <p:nvSpPr>
          <p:cNvPr id="394" name="PlaceHolder 2"/>
          <p:cNvSpPr>
            <a:spLocks noGrp="1"/>
          </p:cNvSpPr>
          <p:nvPr>
            <p:ph type="title"/>
          </p:nvPr>
        </p:nvSpPr>
        <p:spPr>
          <a:xfrm>
            <a:off x="16920" y="-2286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Обобщение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5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128381-EACC-4235-BD3F-43E9C2C11B71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</a:t>
            </a:r>
            <a:r>
              <a:rPr b="1" lang="en-US" sz="13800" spc="-1" strike="noStrike">
                <a:solidFill>
                  <a:srgbClr val="234465"/>
                </a:solidFill>
                <a:latin typeface="Calibri"/>
              </a:rPr>
              <a:t>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7" name="Rectangle Bottom Copyright"/>
          <p:cNvSpPr/>
          <p:nvPr/>
        </p:nvSpPr>
        <p:spPr>
          <a:xfrm>
            <a:off x="110880" y="6454800"/>
            <a:ext cx="11969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Проект "</a:t>
            </a:r>
            <a:r>
              <a:rPr b="0" lang="bg-BG" sz="1600" spc="-1" strike="noStrike" u="sng">
                <a:solidFill>
                  <a:srgbClr val="ffe7bf"/>
                </a:solidFill>
                <a:uFillTx/>
                <a:latin typeface="Calibri"/>
                <a:ea typeface="Calibri"/>
                <a:hlinkClick r:id="rId1"/>
              </a:rPr>
              <a:t>Отворено учебно съдържание по програмиране и ИТ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", СофтУни Фондация (лиценз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CC-BY-NC-SA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/>
          </p:nvPr>
        </p:nvSpPr>
        <p:spPr>
          <a:xfrm>
            <a:off x="190440" y="1269000"/>
            <a:ext cx="9865080" cy="24746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7000"/>
          </a:bodyPr>
          <a:p>
            <a:pPr marL="313200" indent="-31320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Този курс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(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презентации, примери, демонстрационен код, упражнения, домашни, видео и други активи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)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представлява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свободно учебно съдържание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 се разпространява под свободен лиценз </a:t>
            </a:r>
            <a:r>
              <a:rPr b="1" lang="en-US" sz="3200" spc="-1" strike="noStrike">
                <a:solidFill>
                  <a:srgbClr val="234465"/>
                </a:solidFill>
                <a:latin typeface="Calibri"/>
              </a:rPr>
              <a:t>CC-BY-NC-SA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99" name="Picture License" descr="License"/>
          <p:cNvPicPr/>
          <p:nvPr/>
        </p:nvPicPr>
        <p:blipFill>
          <a:blip r:embed="rId1"/>
          <a:stretch/>
        </p:blipFill>
        <p:spPr>
          <a:xfrm>
            <a:off x="10226160" y="1440000"/>
            <a:ext cx="1198800" cy="1268640"/>
          </a:xfrm>
          <a:prstGeom prst="rect">
            <a:avLst/>
          </a:prstGeom>
          <a:ln w="0">
            <a:noFill/>
          </a:ln>
        </p:spPr>
      </p:pic>
      <p:sp>
        <p:nvSpPr>
          <p:cNvPr id="40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Лиценз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1" name="TextBox 10"/>
          <p:cNvSpPr/>
          <p:nvPr/>
        </p:nvSpPr>
        <p:spPr>
          <a:xfrm>
            <a:off x="190440" y="3927600"/>
            <a:ext cx="11710080" cy="2660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3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Проект "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Отворено учебно съдържание по програмиране и ИТ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" към Фондация "Софтуерен университет"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175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bf7800"/>
                </a:solidFill>
                <a:latin typeface="Calibri"/>
                <a:hlinkClick r:id="rId2"/>
              </a:rPr>
              <a:t>https://github.com/BG-IT-Edu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icture 6">
            <a:hlinkClick r:id="rId3"/>
          </p:cNvPr>
          <p:cNvSpPr/>
          <p:nvPr/>
        </p:nvSpPr>
        <p:spPr>
          <a:xfrm>
            <a:off x="9830880" y="2908440"/>
            <a:ext cx="1989000" cy="695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89CB10-048E-4634-9455-CF67B9A6BAE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3909</TotalTime>
  <Application>LibreOffice/7.4.7.2$Linux_X86_64 LibreOffice_project/40$Build-2</Application>
  <AppVersion>15.0000</AppVersion>
  <Words>1283</Words>
  <Paragraphs>317</Paragraphs>
  <Company>BG-IT-Edu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computer programming;programming;software development;software engineering</cp:category>
  <dcterms:created xsi:type="dcterms:W3CDTF">2018-05-23T13:08:44Z</dcterms:created>
  <dc:creator>BG-IT-Edu</dc:creator>
  <dc:description>Open Programming and IT Courseware for IT Teachers (BG-IT-Edu): https://github.com/BG-IT-Edu
With the kind support of SoftUni: https://softuni.bg</dc:description>
  <cp:keywords>SoftUni Software University programming coding computer programming software development software engineering software technologies digital skills technical skills training course</cp:keywords>
  <dc:language>en-US</dc:language>
  <cp:lastModifiedBy/>
  <dcterms:modified xsi:type="dcterms:W3CDTF">2025-11-04T09:48:10Z</dcterms:modified>
  <cp:revision>110</cp:revision>
  <dc:subject>Модул 3: Релационни бази данни</dc:subject>
  <dc:title>По-сложни съединения и вложени заявки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14</vt:i4>
  </property>
  <property fmtid="{D5CDD505-2E9C-101B-9397-08002B2CF9AE}" pid="4" name="PresentationFormat">
    <vt:lpwstr>Widescreen</vt:lpwstr>
  </property>
  <property fmtid="{D5CDD505-2E9C-101B-9397-08002B2CF9AE}" pid="5" name="Slides">
    <vt:i4>27</vt:i4>
  </property>
</Properties>
</file>