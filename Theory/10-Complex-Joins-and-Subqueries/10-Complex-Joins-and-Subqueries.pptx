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_rels/notesSlide12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3.png" ContentType="image/png"/>
  <Override PartName="/ppt/media/image9.png" ContentType="image/png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4.xml.rels" ContentType="application/vnd.openxmlformats-package.relationships+xml"/>
  <Override PartName="/ppt/slideLayouts/slideLayout56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3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dt" idx="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ftr" idx="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6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D1A4560-62B7-44AA-BBEC-2CE22CAAA22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3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3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3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9.xml"/><Relationship Id="rId3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3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11.xml"/><Relationship Id="rId3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12.xml"/><Relationship Id="rId3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14.xml"/><Relationship Id="rId3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3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3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3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3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3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27.xml"/><Relationship Id="rId3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Num" idx="27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AA946B-26EF-4D9C-81D3-C8B07EA5EFD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27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3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 type="ftr" idx="28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lide Number Placeholder 5"/>
          <p:cNvSpPr/>
          <p:nvPr/>
        </p:nvSpPr>
        <p:spPr>
          <a:xfrm>
            <a:off x="6489000" y="8847000"/>
            <a:ext cx="36684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3C71B2CA-13EE-4A51-AFE7-9061C9B9114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ftr" idx="29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Num" idx="30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DD1F72-1F92-444B-848F-0FF1AB3CD4B7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##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3"/>
          <p:cNvSpPr>
            <a:spLocks noGrp="1"/>
          </p:cNvSpPr>
          <p:nvPr>
            <p:ph type="body"/>
          </p:nvPr>
        </p:nvSpPr>
        <p:spPr>
          <a:xfrm>
            <a:off x="688320" y="4416120"/>
            <a:ext cx="5504040" cy="418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4"/>
          <p:cNvSpPr>
            <a:spLocks noGrp="1"/>
          </p:cNvSpPr>
          <p:nvPr>
            <p:ph type="ftr" idx="31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 subquery or nested query is a query within another SQL query and embedded within the WHERE clause. Its main purpose is to serve as a data filter for the main query. It can be used after any of the operators(&gt;,&lt;, =, !=, IN, BETWEEN). A subquery can return a single value or multiple values.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32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3EC8F8-7839-4ADB-B060-0F16663BDCD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PlaceHolder 4"/>
          <p:cNvSpPr>
            <a:spLocks noGrp="1"/>
          </p:cNvSpPr>
          <p:nvPr>
            <p:ph type="ftr" idx="33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34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99025F-EA40-4317-8B87-94F17402014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PlaceHolder 4"/>
          <p:cNvSpPr>
            <a:spLocks noGrp="1"/>
          </p:cNvSpPr>
          <p:nvPr>
            <p:ph type="ftr" idx="35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*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PlaceHolder 2"/>
          <p:cNvSpPr>
            <a:spLocks noGrp="1"/>
          </p:cNvSpPr>
          <p:nvPr>
            <p:ph type="dt" idx="36"/>
          </p:nvPr>
        </p:nvSpPr>
        <p:spPr>
          <a:xfrm>
            <a:off x="3884760" y="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07/16/96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37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C4DA02-91CD-401B-9414-8EA060DD430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##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PlaceHolder 4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5"/>
          <p:cNvSpPr>
            <a:spLocks noGrp="1"/>
          </p:cNvSpPr>
          <p:nvPr>
            <p:ph type="body"/>
          </p:nvPr>
        </p:nvSpPr>
        <p:spPr>
          <a:xfrm>
            <a:off x="687960" y="4415400"/>
            <a:ext cx="5505480" cy="41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6"/>
          <p:cNvSpPr>
            <a:spLocks noGrp="1"/>
          </p:cNvSpPr>
          <p:nvPr>
            <p:ph type="ftr" idx="38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39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87FA7F-A3E0-4622-92F1-2EE5B5E13DB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 type="ftr" idx="40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41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23F6AA-954A-4B13-BC0F-36BF1EF8322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 type="ftr" idx="42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43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4DC84E-1F20-4271-A20C-2A4D4CDCD59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 type="ftr" idx="44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45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3B123E-B72C-46B2-8B0D-46B3E555FB0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PlaceHolder 4"/>
          <p:cNvSpPr>
            <a:spLocks noGrp="1"/>
          </p:cNvSpPr>
          <p:nvPr>
            <p:ph type="ftr" idx="46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47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B53FE2-9AFB-4041-ABFB-B27C886AC1B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PlaceHolder 4"/>
          <p:cNvSpPr>
            <a:spLocks noGrp="1"/>
          </p:cNvSpPr>
          <p:nvPr>
            <p:ph type="ftr" idx="48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lide Number Placeholder 5"/>
          <p:cNvSpPr/>
          <p:nvPr/>
        </p:nvSpPr>
        <p:spPr>
          <a:xfrm>
            <a:off x="6489000" y="8847000"/>
            <a:ext cx="36684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87B55FF1-A3DF-414B-91E9-9D781B8A00E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ftr" idx="49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lide Number Placeholder 5"/>
          <p:cNvSpPr/>
          <p:nvPr/>
        </p:nvSpPr>
        <p:spPr>
          <a:xfrm>
            <a:off x="6489000" y="8847000"/>
            <a:ext cx="36684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CC21061D-CD05-4C81-A145-FDDF7972B4C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ftr" idx="50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lide Number Placeholder 5"/>
          <p:cNvSpPr/>
          <p:nvPr/>
        </p:nvSpPr>
        <p:spPr>
          <a:xfrm>
            <a:off x="6489000" y="8847000"/>
            <a:ext cx="36684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BA1290EA-7D56-4F8C-836D-DD2275CEDFE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ftr" idx="51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AA700A9-7871-4C44-B161-8522897F7E58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7590449-EAB1-4F37-93EF-CB1D9F117CAE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28BA7A3-1B45-44BB-A9C2-4FCC46B1777A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23A9EC2-CFEE-4E3E-B3CE-53869E2DA61A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8A2F02E-E1E1-4025-A77C-D696876506B1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0446DE5-4224-4028-915A-8B4FD3D49DEE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B97B890-5E74-440A-A140-8BF23488A312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8633E11-DAE1-42A4-B5C7-048A02D7778B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934BBF1-8FA1-4CD3-97DA-2D18B5FA8BEF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2DAD0E7-6D7D-4E00-9F14-80A35EABF965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BC8B9E4-F626-421C-828F-9196A0632198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59DBC46-CA01-4E37-B2E9-0562D8C055AF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1CCC0E-5B2D-4884-8E82-5DF1DCE55425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3621B53-8EE9-4B22-A2DA-E5E1DAB895EF}" type="slidenum">
              <a:t>&lt;#&gt;</a:t>
            </a:fld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E263693-3DBC-4A3A-BCEA-EBC51A9D8349}" type="slidenum">
              <a:t>&lt;#&gt;</a:t>
            </a:fld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9EC208-86A4-4AB6-A3D9-0FCDB716401F}" type="slidenum">
              <a:t>&lt;#&gt;</a:t>
            </a:fld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7319D2-B43F-4619-9975-7F12083E2662}" type="slidenum">
              <a:t>&lt;#&gt;</a:t>
            </a:fld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3D5563-F964-45AD-9232-28B10DA8A94C}" type="slidenum">
              <a:t>&lt;#&gt;</a:t>
            </a:fld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FF3436-1BC8-4FD8-804D-9C930FB41213}" type="slidenum">
              <a:t>&lt;#&gt;</a:t>
            </a:fld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7F4800-164A-4814-BCE2-41513C29077A}" type="slidenum">
              <a:t>&lt;#&gt;</a:t>
            </a:fld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F594F1-200E-456E-8B82-F3015D6E4517}" type="slidenum">
              <a:t>&lt;#&gt;</a:t>
            </a:fld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5E3BF8-FE01-4386-B725-9212856697FA}" type="slidenum">
              <a:t>&lt;#&gt;</a:t>
            </a:fld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CE33AB-D8C1-4B0E-AB67-C4B8FCD0FBBB}" type="slidenum">
              <a:t>&lt;#&gt;</a:t>
            </a:fld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9A2731-0876-426B-8345-D35A9335A58E}" type="slidenum">
              <a:t>&lt;#&gt;</a:t>
            </a:fld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848BA14-A53D-48CF-BFAB-524E871C2687}" type="slidenum">
              <a:t>&lt;#&gt;</a:t>
            </a:fld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793F3FE-178A-4C29-A1FD-C2521450668C}" type="slidenum">
              <a:t>&lt;#&gt;</a:t>
            </a:fld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92AFE33-34DB-407B-9623-6B5F2735A823}" type="slidenum">
              <a:t>&lt;#&gt;</a:t>
            </a:fld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099994F-5CE5-429B-9836-217EA63D267D}" type="slidenum">
              <a:t>&lt;#&gt;</a:t>
            </a:fld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B8E6E12-85DF-413B-9025-0EC08ED8F068}" type="slidenum">
              <a:t>&lt;#&gt;</a:t>
            </a:fld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16D3358-1574-4321-9757-BCE616F3FEFB}" type="slidenum">
              <a:t>&lt;#&gt;</a:t>
            </a:fld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D0853F1-8CE2-42AC-894C-09EDDBFF4639}" type="slidenum">
              <a:t>&lt;#&gt;</a:t>
            </a:fld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A62F370-037B-472D-A1BD-15104CF95DA9}" type="slidenum">
              <a:t>&lt;#&gt;</a:t>
            </a:fld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0BF6140-F9D5-495C-8A67-9C35D68717D0}" type="slidenum">
              <a:t>&lt;#&gt;</a:t>
            </a:fld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D5DF309-9DB9-4072-A8F1-C560F52414A0}" type="slidenum">
              <a:t>&lt;#&gt;</a:t>
            </a:fld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C264D9A-1CBA-44FF-A057-71A960C9F2D9}" type="slidenum">
              <a:t>&lt;#&gt;</a:t>
            </a:fld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95C9D8F-54E9-49DD-96CD-9C89874469AA}" type="slidenum">
              <a:t>&lt;#&gt;</a:t>
            </a:fld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hyperlink" Target="http://creativecommons.org/licenses/by-nc-sa/4.0/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Relationship Id="rId10" Type="http://schemas.openxmlformats.org/officeDocument/2006/relationships/slideLayout" Target="../slideLayouts/slideLayout6.xml"/><Relationship Id="rId11" Type="http://schemas.openxmlformats.org/officeDocument/2006/relationships/slideLayout" Target="../slideLayouts/slideLayout7.xml"/><Relationship Id="rId12" Type="http://schemas.openxmlformats.org/officeDocument/2006/relationships/slideLayout" Target="../slideLayouts/slideLayout8.xml"/><Relationship Id="rId13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Bottom"/>
          <p:cNvSpPr/>
          <p:nvPr/>
        </p:nvSpPr>
        <p:spPr>
          <a:xfrm>
            <a:off x="0" y="6702840"/>
            <a:ext cx="12194280" cy="154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2400" spc="-1" strike="noStrike">
              <a:solidFill>
                <a:srgbClr val="f7c86d"/>
              </a:solidFill>
              <a:latin typeface="Calibri"/>
              <a:ea typeface="맑은 고딕"/>
            </a:endParaRPr>
          </a:p>
        </p:txBody>
      </p:sp>
      <p:pic>
        <p:nvPicPr>
          <p:cNvPr id="1" name="Picture 3" descr=""/>
          <p:cNvPicPr/>
          <p:nvPr/>
        </p:nvPicPr>
        <p:blipFill>
          <a:blip r:embed="rId2"/>
          <a:stretch/>
        </p:blipFill>
        <p:spPr>
          <a:xfrm>
            <a:off x="536400" y="4326120"/>
            <a:ext cx="2537280" cy="632160"/>
          </a:xfrm>
          <a:prstGeom prst="rect">
            <a:avLst/>
          </a:prstGeom>
          <a:ln w="0">
            <a:noFill/>
          </a:ln>
        </p:spPr>
      </p:pic>
      <p:sp>
        <p:nvSpPr>
          <p:cNvPr id="2" name="Picture 4">
            <a:hlinkClick r:id="rId3"/>
          </p:cNvPr>
          <p:cNvSpPr/>
          <p:nvPr/>
        </p:nvSpPr>
        <p:spPr>
          <a:xfrm>
            <a:off x="3402720" y="4321440"/>
            <a:ext cx="1808640" cy="632160"/>
          </a:xfrm>
          <a:prstGeom prst="roundRect">
            <a:avLst>
              <a:gd name="adj" fmla="val 3940"/>
            </a:avLst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  <p:sldLayoutId id="2147483660" r:id="rId1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Top"/>
          <p:cNvSpPr/>
          <p:nvPr/>
        </p:nvSpPr>
        <p:spPr>
          <a:xfrm>
            <a:off x="0" y="0"/>
            <a:ext cx="12196080" cy="1094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2400" spc="-1" strike="noStrike">
              <a:solidFill>
                <a:srgbClr val="f7c86d"/>
              </a:solidFill>
              <a:latin typeface="Calibri"/>
              <a:ea typeface="맑은 고딕"/>
            </a:endParaRPr>
          </a:p>
        </p:txBody>
      </p:sp>
      <p:pic>
        <p:nvPicPr>
          <p:cNvPr id="42" name="Picture 2" descr=""/>
          <p:cNvPicPr/>
          <p:nvPr/>
        </p:nvPicPr>
        <p:blipFill>
          <a:blip r:embed="rId2"/>
          <a:stretch/>
        </p:blipFill>
        <p:spPr>
          <a:xfrm>
            <a:off x="10553400" y="369000"/>
            <a:ext cx="1442520" cy="359280"/>
          </a:xfrm>
          <a:prstGeom prst="rect">
            <a:avLst/>
          </a:prstGeom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sldNum" idx="1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E27DB9-6272-493D-81E9-9C0101FB6AED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Oval Center Icon"/>
          <p:cNvSpPr/>
          <p:nvPr/>
        </p:nvSpPr>
        <p:spPr>
          <a:xfrm>
            <a:off x="4319640" y="867600"/>
            <a:ext cx="3551760" cy="355176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2400" spc="-1" strike="noStrike">
              <a:solidFill>
                <a:srgbClr val="f7c86d"/>
              </a:solidFill>
              <a:latin typeface="Calibri"/>
              <a:ea typeface="맑은 고딕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Top"/>
          <p:cNvSpPr/>
          <p:nvPr/>
        </p:nvSpPr>
        <p:spPr>
          <a:xfrm>
            <a:off x="0" y="0"/>
            <a:ext cx="12196080" cy="1094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2400" spc="-1" strike="noStrike">
              <a:solidFill>
                <a:srgbClr val="f7c86d"/>
              </a:solidFill>
              <a:latin typeface="Calibri"/>
              <a:ea typeface="맑은 고딕"/>
            </a:endParaRPr>
          </a:p>
        </p:txBody>
      </p:sp>
      <p:pic>
        <p:nvPicPr>
          <p:cNvPr id="122" name="Picture 3" descr=""/>
          <p:cNvPicPr/>
          <p:nvPr/>
        </p:nvPicPr>
        <p:blipFill>
          <a:blip r:embed="rId2"/>
          <a:stretch/>
        </p:blipFill>
        <p:spPr>
          <a:xfrm>
            <a:off x="10553400" y="369000"/>
            <a:ext cx="1442520" cy="359280"/>
          </a:xfrm>
          <a:prstGeom prst="rect">
            <a:avLst/>
          </a:prstGeom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sldNum" idx="2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E345D2-F383-42C6-BF9A-697859003123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Left"/>
          <p:cNvSpPr/>
          <p:nvPr/>
        </p:nvSpPr>
        <p:spPr>
          <a:xfrm>
            <a:off x="0" y="0"/>
            <a:ext cx="11530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2400" spc="-1" strike="noStrike">
              <a:solidFill>
                <a:srgbClr val="f7c86d"/>
              </a:solidFill>
              <a:latin typeface="Calibri"/>
              <a:ea typeface="맑은 고딕"/>
            </a:endParaRPr>
          </a:p>
        </p:txBody>
      </p:sp>
      <p:pic>
        <p:nvPicPr>
          <p:cNvPr id="163" name="Picture Bulb" descr="Bulb"/>
          <p:cNvPicPr/>
          <p:nvPr/>
        </p:nvPicPr>
        <p:blipFill>
          <a:blip r:embed="rId2"/>
          <a:stretch/>
        </p:blipFill>
        <p:spPr>
          <a:xfrm>
            <a:off x="235080" y="1792440"/>
            <a:ext cx="1829520" cy="4061520"/>
          </a:xfrm>
          <a:prstGeom prst="rect">
            <a:avLst/>
          </a:prstGeom>
          <a:ln w="0">
            <a:noFill/>
          </a:ln>
        </p:spPr>
      </p:pic>
      <p:pic>
        <p:nvPicPr>
          <p:cNvPr id="164" name="Picture 1" descr=""/>
          <p:cNvPicPr/>
          <p:nvPr/>
        </p:nvPicPr>
        <p:blipFill>
          <a:blip r:embed="rId3"/>
          <a:stretch/>
        </p:blipFill>
        <p:spPr>
          <a:xfrm>
            <a:off x="10551960" y="362160"/>
            <a:ext cx="1442520" cy="359280"/>
          </a:xfrm>
          <a:prstGeom prst="rect">
            <a:avLst/>
          </a:prstGeom>
          <a:ln w="0">
            <a:noFill/>
          </a:ln>
        </p:spPr>
      </p:pic>
      <p:sp>
        <p:nvSpPr>
          <p:cNvPr id="165" name="PlaceHolder 1"/>
          <p:cNvSpPr>
            <a:spLocks noGrp="1"/>
          </p:cNvSpPr>
          <p:nvPr>
            <p:ph type="sldNum" idx="3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6668C8-482A-4C39-9268-EE587EADAEB6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ectangle Bottom"/>
          <p:cNvSpPr/>
          <p:nvPr/>
        </p:nvSpPr>
        <p:spPr>
          <a:xfrm>
            <a:off x="0" y="6371280"/>
            <a:ext cx="12194280" cy="4863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2400" spc="-1" strike="noStrike">
              <a:solidFill>
                <a:srgbClr val="f7c86d"/>
              </a:solidFill>
              <a:latin typeface="Calibri"/>
              <a:ea typeface="맑은 고딕"/>
            </a:endParaRPr>
          </a:p>
        </p:txBody>
      </p:sp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about.softuni.bg/" TargetMode="Externa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37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hyperlink" Target="https://github.com/BG-IT-Edu" TargetMode="External"/><Relationship Id="rId2" Type="http://schemas.openxmlformats.org/officeDocument/2006/relationships/slideLayout" Target="../slideLayouts/slideLayout6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https://github.com/BG-IT-Edu" TargetMode="External"/><Relationship Id="rId3" Type="http://schemas.openxmlformats.org/officeDocument/2006/relationships/hyperlink" Target="http://creativecommons.org/licenses/by-nc-sa/4.0/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37.xml"/><Relationship Id="rId6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/>
          </p:nvPr>
        </p:nvSpPr>
        <p:spPr>
          <a:xfrm>
            <a:off x="6390000" y="6086160"/>
            <a:ext cx="5247720" cy="340560"/>
          </a:xfrm>
          <a:prstGeom prst="rect">
            <a:avLst/>
          </a:prstGeom>
          <a:noFill/>
          <a:ln w="0">
            <a:noFill/>
          </a:ln>
        </p:spPr>
        <p:txBody>
          <a:bodyPr lIns="36000" rIns="36000" tIns="36000" bIns="36000" anchor="ctr">
            <a:noAutofit/>
          </a:bodyPr>
          <a:p>
            <a:pPr indent="0" algn="r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bg-BG" sz="1800" spc="-1" strike="noStrike">
                <a:solidFill>
                  <a:srgbClr val="234465"/>
                </a:solidFill>
                <a:latin typeface="Calibri"/>
              </a:rPr>
              <a:t>Софтуерни и хардуерни науки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6390000" y="5698080"/>
            <a:ext cx="5247720" cy="373680"/>
          </a:xfrm>
          <a:prstGeom prst="rect">
            <a:avLst/>
          </a:prstGeom>
          <a:noFill/>
          <a:ln w="0">
            <a:noFill/>
          </a:ln>
        </p:spPr>
        <p:txBody>
          <a:bodyPr lIns="36000" rIns="36000" tIns="36000" bIns="36000" anchor="ctr">
            <a:normAutofit fontScale="94000"/>
          </a:bodyPr>
          <a:p>
            <a:pPr indent="0" algn="r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bg-BG" sz="2000" spc="-1" strike="noStrike">
                <a:solidFill>
                  <a:srgbClr val="234465"/>
                </a:solidFill>
                <a:latin typeface="Calibri"/>
              </a:rPr>
              <a:t>Курс "Релационни бази данни"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533880" y="6085800"/>
            <a:ext cx="4751280" cy="340920"/>
          </a:xfrm>
          <a:prstGeom prst="rect">
            <a:avLst/>
          </a:prstGeom>
          <a:noFill/>
          <a:ln w="0">
            <a:noFill/>
          </a:ln>
        </p:spPr>
        <p:txBody>
          <a:bodyPr lIns="36000" rIns="36000" tIns="36000" bIns="36000" anchor="ctr">
            <a:noAutofit/>
          </a:bodyPr>
          <a:p>
            <a:pPr indent="0">
              <a:lnSpc>
                <a:spcPct val="105000"/>
              </a:lnSpc>
              <a:buNone/>
              <a:tabLst>
                <a:tab algn="l" pos="0"/>
              </a:tabLst>
            </a:pPr>
            <a:r>
              <a:rPr b="0" lang="en-US" sz="1800" spc="-1" strike="noStrike" u="sng">
                <a:solidFill>
                  <a:srgbClr val="bf7800"/>
                </a:solidFill>
                <a:uFillTx/>
                <a:latin typeface="Calibri"/>
                <a:hlinkClick r:id="rId1"/>
              </a:rPr>
              <a:t>https://about.softuni.bg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533880" y="5250960"/>
            <a:ext cx="4751280" cy="724320"/>
          </a:xfrm>
          <a:prstGeom prst="rect">
            <a:avLst/>
          </a:prstGeom>
          <a:noFill/>
          <a:ln w="0">
            <a:noFill/>
          </a:ln>
        </p:spPr>
        <p:txBody>
          <a:bodyPr lIns="36000" rIns="36000" tIns="36000" bIns="36000" anchor="ctr">
            <a:noAutofit/>
          </a:bodyPr>
          <a:p>
            <a:pPr indent="0"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1a334c"/>
                </a:solidFill>
                <a:latin typeface="Calibri"/>
              </a:rPr>
              <a:t>Software University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5"/>
          <p:cNvSpPr>
            <a:spLocks noGrp="1"/>
          </p:cNvSpPr>
          <p:nvPr>
            <p:ph type="subTitle"/>
          </p:nvPr>
        </p:nvSpPr>
        <p:spPr>
          <a:xfrm>
            <a:off x="554760" y="1402920"/>
            <a:ext cx="11082960" cy="13053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/>
          </a:bodyPr>
          <a:p>
            <a:pPr indent="0" algn="ctr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Изпълнение на по-сложни </a:t>
            </a:r>
            <a:r>
              <a:rPr b="0" lang="en-US" sz="3600" spc="-1" strike="noStrike">
                <a:solidFill>
                  <a:srgbClr val="234465"/>
                </a:solidFill>
                <a:latin typeface="Calibri"/>
              </a:rPr>
              <a:t>JOIN </a:t>
            </a: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заявки. Подзаявки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6"/>
          <p:cNvSpPr>
            <a:spLocks noGrp="1"/>
          </p:cNvSpPr>
          <p:nvPr>
            <p:ph type="title"/>
          </p:nvPr>
        </p:nvSpPr>
        <p:spPr>
          <a:xfrm>
            <a:off x="554760" y="321480"/>
            <a:ext cx="11082960" cy="9709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rmAutofit fontScale="8100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400" spc="-1" strike="noStrike">
                <a:solidFill>
                  <a:srgbClr val="234465"/>
                </a:solidFill>
                <a:latin typeface="Calibri"/>
              </a:rPr>
              <a:t>По-сложни</a:t>
            </a:r>
            <a:r>
              <a:rPr b="1" lang="ru-RU" sz="4400" spc="-1" strike="noStrike">
                <a:solidFill>
                  <a:srgbClr val="234465"/>
                </a:solidFill>
                <a:latin typeface="Calibri"/>
              </a:rPr>
              <a:t> съединения и вложени заявки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5" name="Picture 4" descr="https://o.remove.bg/downloads/4ebf8585-f996-4e25-a56f-8c855118d17e/image-removebg-preview.png"/>
          <p:cNvPicPr/>
          <p:nvPr/>
        </p:nvPicPr>
        <p:blipFill>
          <a:blip r:embed="rId2"/>
          <a:stretch/>
        </p:blipFill>
        <p:spPr>
          <a:xfrm>
            <a:off x="8625240" y="2112840"/>
            <a:ext cx="3500280" cy="3500280"/>
          </a:xfrm>
          <a:prstGeom prst="rect">
            <a:avLst/>
          </a:prstGeom>
          <a:ln w="0">
            <a:noFill/>
          </a:ln>
        </p:spPr>
      </p:pic>
      <p:pic>
        <p:nvPicPr>
          <p:cNvPr id="256" name="Picture 1" descr=""/>
          <p:cNvPicPr/>
          <p:nvPr/>
        </p:nvPicPr>
        <p:blipFill>
          <a:blip r:embed="rId3"/>
          <a:stretch/>
        </p:blipFill>
        <p:spPr>
          <a:xfrm>
            <a:off x="584280" y="3002400"/>
            <a:ext cx="1955880" cy="874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/>
          </p:nvPr>
        </p:nvSpPr>
        <p:spPr>
          <a:xfrm>
            <a:off x="304920" y="1219320"/>
            <a:ext cx="10671120" cy="520668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514080" indent="-51408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Calibri"/>
              <a:buAutoNum type="arabicPeriod"/>
            </a:pP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По-сложни съединения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514080" indent="-51408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Calibri"/>
              <a:buAutoNum type="arabicPeriod"/>
            </a:pPr>
            <a:r>
              <a:rPr b="0" lang="en-US" sz="3600" spc="-1" strike="noStrike">
                <a:solidFill>
                  <a:srgbClr val="234465"/>
                </a:solidFill>
                <a:latin typeface="Calibri"/>
              </a:rPr>
              <a:t>͏</a:t>
            </a:r>
            <a:r>
              <a:rPr b="1" lang="bg-BG" sz="3600" spc="-1" strike="noStrike">
                <a:solidFill>
                  <a:srgbClr val="bf7800"/>
                </a:solidFill>
                <a:latin typeface="Calibri"/>
              </a:rPr>
              <a:t>Вложени</a:t>
            </a: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 заявки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514080" indent="-51408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Calibri"/>
              <a:buAutoNum type="arabicPeriod"/>
            </a:pP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Операции за </a:t>
            </a:r>
            <a:r>
              <a:rPr b="1" lang="bg-BG" sz="3600" spc="-1" strike="noStrike">
                <a:solidFill>
                  <a:srgbClr val="bf7800"/>
                </a:solidFill>
                <a:latin typeface="Calibri"/>
              </a:rPr>
              <a:t>обединение</a:t>
            </a: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, </a:t>
            </a:r>
            <a:r>
              <a:rPr b="1" lang="bg-BG" sz="3600" spc="-1" strike="noStrike">
                <a:solidFill>
                  <a:srgbClr val="bf7800"/>
                </a:solidFill>
                <a:latin typeface="Calibri"/>
              </a:rPr>
              <a:t>сечение</a:t>
            </a: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, </a:t>
            </a:r>
            <a:r>
              <a:rPr b="1" lang="bg-BG" sz="3600" spc="-1" strike="noStrike">
                <a:solidFill>
                  <a:srgbClr val="bf7800"/>
                </a:solidFill>
                <a:latin typeface="Calibri"/>
              </a:rPr>
              <a:t>разлика</a:t>
            </a: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 и </a:t>
            </a:r>
            <a:r>
              <a:rPr b="1" lang="bg-BG" sz="3600" spc="-1" strike="noStrike">
                <a:solidFill>
                  <a:srgbClr val="bf7800"/>
                </a:solidFill>
                <a:latin typeface="Calibri"/>
              </a:rPr>
              <a:t>деление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 type="title"/>
          </p:nvPr>
        </p:nvSpPr>
        <p:spPr>
          <a:xfrm>
            <a:off x="152280" y="152280"/>
            <a:ext cx="96685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Съдържание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lide Number"/>
          <p:cNvSpPr/>
          <p:nvPr/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CCCE2939-CA91-4DB6-A939-DA73C836FCDD}" type="slidenum">
              <a:rPr b="0" lang="en-US" sz="1000" spc="-1" strike="noStrike">
                <a:solidFill>
                  <a:srgbClr val="234465"/>
                </a:solidFill>
                <a:latin typeface="Calibri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Picture 2" descr="Craft Puzzle - Пъзел с ваша снимка - Craft Cases"/>
          <p:cNvPicPr/>
          <p:nvPr/>
        </p:nvPicPr>
        <p:blipFill>
          <a:blip r:embed="rId1"/>
          <a:stretch/>
        </p:blipFill>
        <p:spPr>
          <a:xfrm>
            <a:off x="4800600" y="1371600"/>
            <a:ext cx="2590200" cy="2590200"/>
          </a:xfrm>
          <a:prstGeom prst="rect">
            <a:avLst/>
          </a:prstGeom>
          <a:ln w="0">
            <a:noFill/>
          </a:ln>
        </p:spPr>
      </p:pic>
      <p:sp>
        <p:nvSpPr>
          <p:cNvPr id="261" name="PlaceHolder 1"/>
          <p:cNvSpPr>
            <a:spLocks noGrp="1"/>
          </p:cNvSpPr>
          <p:nvPr>
            <p:ph type="subTitle"/>
          </p:nvPr>
        </p:nvSpPr>
        <p:spPr>
          <a:xfrm>
            <a:off x="615240" y="5585760"/>
            <a:ext cx="10960920" cy="7675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algn="ctr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bg-BG" sz="4000" spc="-1" strike="noStrike">
                <a:solidFill>
                  <a:srgbClr val="234465"/>
                </a:solidFill>
                <a:latin typeface="Calibri"/>
              </a:rPr>
              <a:t>Обединяване на няколко таблици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title"/>
          </p:nvPr>
        </p:nvSpPr>
        <p:spPr>
          <a:xfrm>
            <a:off x="615240" y="4704840"/>
            <a:ext cx="10960920" cy="7675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5390" spc="-1" strike="noStrike">
                <a:solidFill>
                  <a:srgbClr val="234465"/>
                </a:solidFill>
                <a:latin typeface="Calibri"/>
              </a:rPr>
              <a:t>По-сложни съединения</a:t>
            </a:r>
            <a:endParaRPr b="0" lang="en-US" sz="539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6489720" cy="5661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Понякога се нуждаем да обединим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повече от две таблици</a:t>
            </a: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 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за анализ на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комплексни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зависимости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Пример: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Имаме таблиците </a:t>
            </a:r>
            <a:r>
              <a:rPr b="1" lang="en-US" sz="3200" spc="-1" strike="noStrike">
                <a:solidFill>
                  <a:srgbClr val="bf7800"/>
                </a:solidFill>
                <a:latin typeface="Consolas"/>
              </a:rPr>
              <a:t>Users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и </a:t>
            </a:r>
            <a:r>
              <a:rPr b="1" lang="en-US" sz="3200" spc="-1" strike="noStrike">
                <a:solidFill>
                  <a:srgbClr val="bf7800"/>
                </a:solidFill>
                <a:latin typeface="Consolas"/>
              </a:rPr>
              <a:t>Orders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Имаме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и таблица </a:t>
            </a:r>
            <a:r>
              <a:rPr b="1" lang="en-US" sz="3200" spc="-1" strike="noStrike">
                <a:solidFill>
                  <a:srgbClr val="bf7800"/>
                </a:solidFill>
                <a:latin typeface="Consolas"/>
              </a:rPr>
              <a:t>OrderItems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По-сложни съединения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7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BA170D-9EC8-4BAA-A222-E23D47E1D065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66" name="Picture 5" descr=""/>
          <p:cNvPicPr/>
          <p:nvPr/>
        </p:nvPicPr>
        <p:blipFill>
          <a:blip r:embed="rId1"/>
          <a:stretch/>
        </p:blipFill>
        <p:spPr>
          <a:xfrm>
            <a:off x="6730560" y="1196280"/>
            <a:ext cx="5461200" cy="418428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1" dur="indefinite" restart="never" nodeType="tmRoot">
          <p:childTnLst>
            <p:seq>
              <p:cTn id="1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Искаме да извлечем следната информация за </a:t>
            </a:r>
            <a:r>
              <a:rPr b="1" lang="ru-RU" sz="3600" spc="-1" strike="noStrike">
                <a:solidFill>
                  <a:srgbClr val="bf7800"/>
                </a:solidFill>
                <a:latin typeface="Calibri"/>
              </a:rPr>
              <a:t>всяка</a:t>
            </a: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ru-RU" sz="3600" spc="-1" strike="noStrike">
                <a:solidFill>
                  <a:srgbClr val="bf7800"/>
                </a:solidFill>
                <a:latin typeface="Calibri"/>
              </a:rPr>
              <a:t>поръчка</a:t>
            </a: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: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Име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на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клиента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Дата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на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поръчката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Списък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на 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поръчаните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продукти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Количеството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 на поръчаните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продукти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По-сложни съединения (2)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8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82F859-C932-42BA-9C59-C9555D02CB7A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5" dur="indefinite" restart="never" nodeType="tmRoot">
          <p:childTnLst>
            <p:seq>
              <p:cTn id="26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Заявката може да изглежда така: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Свързваме информацията от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трите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 таблиците и извличаме желаните данни за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всяка поръчка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По-сложни съединения (3)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ectangle 3"/>
          <p:cNvSpPr/>
          <p:nvPr/>
        </p:nvSpPr>
        <p:spPr>
          <a:xfrm>
            <a:off x="647640" y="2286000"/>
            <a:ext cx="10895760" cy="206964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bf7800"/>
                </a:solidFill>
                <a:latin typeface="Consolas"/>
                <a:ea typeface="DejaVu Sans"/>
              </a:rPr>
              <a:t>SELECT </a:t>
            </a:r>
            <a:r>
              <a:rPr b="1" lang="en-US" sz="2600" spc="-1" strike="noStrike">
                <a:solidFill>
                  <a:srgbClr val="234465"/>
                </a:solidFill>
                <a:latin typeface="Consolas"/>
                <a:ea typeface="DejaVu Sans"/>
              </a:rPr>
              <a:t>u.Username, o.OrderDate, oi.ProductName, oi.Quantity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bf7800"/>
                </a:solidFill>
                <a:latin typeface="Consolas"/>
                <a:ea typeface="DejaVu Sans"/>
              </a:rPr>
              <a:t>FROM </a:t>
            </a:r>
            <a:r>
              <a:rPr b="1" lang="en-US" sz="2600" spc="-1" strike="noStrike">
                <a:solidFill>
                  <a:srgbClr val="234465"/>
                </a:solidFill>
                <a:latin typeface="Consolas"/>
                <a:ea typeface="DejaVu Sans"/>
              </a:rPr>
              <a:t>Orders AS o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bf7800"/>
                </a:solidFill>
                <a:latin typeface="Consolas"/>
                <a:ea typeface="DejaVu Sans"/>
              </a:rPr>
              <a:t>JOIN </a:t>
            </a:r>
            <a:r>
              <a:rPr b="1" lang="en-US" sz="2600" spc="-1" strike="noStrike">
                <a:solidFill>
                  <a:srgbClr val="234465"/>
                </a:solidFill>
                <a:latin typeface="Consolas"/>
                <a:ea typeface="DejaVu Sans"/>
              </a:rPr>
              <a:t>Users AS u </a:t>
            </a:r>
            <a:r>
              <a:rPr b="1" lang="en-US" sz="2600" spc="-1" strike="noStrike">
                <a:solidFill>
                  <a:srgbClr val="bf7800"/>
                </a:solidFill>
                <a:latin typeface="Consolas"/>
                <a:ea typeface="DejaVu Sans"/>
              </a:rPr>
              <a:t>ON</a:t>
            </a:r>
            <a:r>
              <a:rPr b="1" lang="en-US" sz="2600" spc="-1" strike="noStrike">
                <a:solidFill>
                  <a:srgbClr val="234465"/>
                </a:solidFill>
                <a:latin typeface="Consolas"/>
                <a:ea typeface="DejaVu Sans"/>
              </a:rPr>
              <a:t> o.UserId = u.Id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bf7800"/>
                </a:solidFill>
                <a:latin typeface="Consolas"/>
                <a:ea typeface="DejaVu Sans"/>
              </a:rPr>
              <a:t>JOIN </a:t>
            </a:r>
            <a:r>
              <a:rPr b="1" lang="en-US" sz="2600" spc="-1" strike="noStrike">
                <a:solidFill>
                  <a:srgbClr val="234465"/>
                </a:solidFill>
                <a:latin typeface="Consolas"/>
                <a:ea typeface="DejaVu Sans"/>
              </a:rPr>
              <a:t>OrderItems AS oi </a:t>
            </a:r>
            <a:r>
              <a:rPr b="1" lang="en-US" sz="2600" spc="-1" strike="noStrike">
                <a:solidFill>
                  <a:srgbClr val="bf7800"/>
                </a:solidFill>
                <a:latin typeface="Consolas"/>
                <a:ea typeface="DejaVu Sans"/>
              </a:rPr>
              <a:t>ON</a:t>
            </a:r>
            <a:r>
              <a:rPr b="1" lang="en-US" sz="2600" spc="-1" strike="noStrike">
                <a:solidFill>
                  <a:srgbClr val="234465"/>
                </a:solidFill>
                <a:latin typeface="Consolas"/>
                <a:ea typeface="DejaVu Sans"/>
              </a:rPr>
              <a:t> o.Id = oi.OrderId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AutoShape 5"/>
          <p:cNvSpPr/>
          <p:nvPr/>
        </p:nvSpPr>
        <p:spPr>
          <a:xfrm>
            <a:off x="7779600" y="2743200"/>
            <a:ext cx="3580560" cy="837360"/>
          </a:xfrm>
          <a:prstGeom prst="wedgeRoundRectCallout">
            <a:avLst>
              <a:gd name="adj1" fmla="val -74398"/>
              <a:gd name="adj2" fmla="val 22655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400" spc="-1" strike="noStrike">
                <a:solidFill>
                  <a:srgbClr val="ffffff"/>
                </a:solidFill>
                <a:latin typeface="Calibri"/>
                <a:ea typeface="DejaVu Sans"/>
              </a:rPr>
              <a:t>Свързваме потребители с поръчките им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AutoShape 5"/>
          <p:cNvSpPr/>
          <p:nvPr/>
        </p:nvSpPr>
        <p:spPr>
          <a:xfrm>
            <a:off x="2495880" y="4329000"/>
            <a:ext cx="3504600" cy="608760"/>
          </a:xfrm>
          <a:prstGeom prst="wedgeRoundRectCallout">
            <a:avLst>
              <a:gd name="adj1" fmla="val -27978"/>
              <a:gd name="adj2" fmla="val -122281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400" spc="-1" strike="noStrike">
                <a:solidFill>
                  <a:srgbClr val="ffffff"/>
                </a:solidFill>
                <a:latin typeface="Calibri"/>
                <a:ea typeface="DejaVu Sans"/>
              </a:rPr>
              <a:t>Добавяме и продуктите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9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7790B5-E03D-438D-90EC-6D3183E3B915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6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43" dur="indefinite" restart="never" nodeType="tmRoot">
          <p:childTnLst>
            <p:seq>
              <p:cTn id="44" dur="indefinite" nodeType="mainSeq">
                <p:childTnLst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Резултатът: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По-сложни съединения (4)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78" name="object 14"/>
          <p:cNvGraphicFramePr/>
          <p:nvPr/>
        </p:nvGraphicFramePr>
        <p:xfrm>
          <a:off x="1828800" y="2349000"/>
          <a:ext cx="8533440" cy="3741840"/>
        </p:xfrm>
        <a:graphic>
          <a:graphicData uri="http://schemas.openxmlformats.org/drawingml/2006/table">
            <a:tbl>
              <a:tblPr/>
              <a:tblGrid>
                <a:gridCol w="2008080"/>
                <a:gridCol w="2307960"/>
                <a:gridCol w="2511000"/>
                <a:gridCol w="1706760"/>
              </a:tblGrid>
              <a:tr h="685080">
                <a:tc>
                  <a:txBody>
                    <a:bodyPr anchor="ctr">
                      <a:noAutofit/>
                    </a:bodyPr>
                    <a:p>
                      <a:pPr marL="4320"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1" lang="en-US" sz="2600" spc="-1" strike="noStrike">
                          <a:solidFill>
                            <a:srgbClr val="224464"/>
                          </a:solidFill>
                          <a:latin typeface="Calibri"/>
                        </a:rPr>
                        <a:t>Username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2808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solidFill>
                      <a:srgbClr val="d0d4d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272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1" lang="en-US" sz="2600" spc="-7" strike="noStrike">
                          <a:solidFill>
                            <a:srgbClr val="224464"/>
                          </a:solidFill>
                          <a:latin typeface="Calibri"/>
                        </a:rPr>
                        <a:t>OrderDate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2808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solidFill>
                      <a:srgbClr val="d0d4d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9360"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1" lang="en-US" sz="2600" spc="-7" strike="noStrike">
                          <a:solidFill>
                            <a:srgbClr val="224464"/>
                          </a:solidFill>
                          <a:latin typeface="Calibri"/>
                        </a:rPr>
                        <a:t>ProductName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2808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solidFill>
                      <a:srgbClr val="d0d4d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9360"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1" lang="en-US" sz="2600" spc="-7" strike="noStrike">
                          <a:solidFill>
                            <a:srgbClr val="224464"/>
                          </a:solidFill>
                          <a:latin typeface="Calibri"/>
                        </a:rPr>
                        <a:t>Quantity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2808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solidFill>
                      <a:srgbClr val="d0d4dc"/>
                    </a:solidFill>
                  </a:tcPr>
                </a:tc>
              </a:tr>
              <a:tr h="685080">
                <a:tc>
                  <a:txBody>
                    <a:bodyPr anchor="ctr">
                      <a:noAutofit/>
                    </a:bodyPr>
                    <a:p>
                      <a:pPr marL="432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0" lang="en-US" sz="2600" spc="-1" strike="noStrike">
                          <a:solidFill>
                            <a:srgbClr val="224464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24464"/>
                          </a:solidFill>
                          <a:latin typeface="Calibri"/>
                        </a:rPr>
                        <a:t>John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272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0" lang="en-US" sz="2600" spc="-21" strike="noStrike">
                          <a:solidFill>
                            <a:srgbClr val="224464"/>
                          </a:solidFill>
                          <a:latin typeface="Calibri"/>
                        </a:rPr>
                        <a:t>2023-01-10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93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0" lang="en-US" sz="2600" spc="-7" strike="noStrike">
                          <a:solidFill>
                            <a:srgbClr val="224464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7" strike="noStrike">
                          <a:solidFill>
                            <a:srgbClr val="224464"/>
                          </a:solidFill>
                          <a:latin typeface="Calibri"/>
                        </a:rPr>
                        <a:t>TV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93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  <a:tr h="592920">
                <a:tc>
                  <a:txBody>
                    <a:bodyPr anchor="ctr">
                      <a:noAutofit/>
                    </a:bodyPr>
                    <a:p>
                      <a:pPr marL="432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" strike="noStrike">
                          <a:solidFill>
                            <a:srgbClr val="224464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24464"/>
                          </a:solidFill>
                          <a:latin typeface="Calibri"/>
                        </a:rPr>
                        <a:t>Peter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26100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21" strike="noStrike">
                          <a:solidFill>
                            <a:srgbClr val="224464"/>
                          </a:solidFill>
                          <a:latin typeface="Calibri"/>
                        </a:rPr>
                        <a:t>2023-04-12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76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2" strike="noStrike">
                          <a:solidFill>
                            <a:srgbClr val="224464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2" strike="noStrike">
                          <a:solidFill>
                            <a:srgbClr val="224464"/>
                          </a:solidFill>
                          <a:latin typeface="Calibri"/>
                        </a:rPr>
                        <a:t>Smartphone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76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2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  <a:tr h="592920">
                <a:tc>
                  <a:txBody>
                    <a:bodyPr anchor="ctr">
                      <a:noAutofit/>
                    </a:bodyPr>
                    <a:p>
                      <a:pPr marL="432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Gosho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26100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21" strike="noStrike">
                          <a:solidFill>
                            <a:srgbClr val="224464"/>
                          </a:solidFill>
                          <a:latin typeface="Calibri"/>
                        </a:rPr>
                        <a:t>2023-10-12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76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Table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76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  <a:tr h="592920">
                <a:tc>
                  <a:txBody>
                    <a:bodyPr anchor="ctr">
                      <a:noAutofit/>
                    </a:bodyPr>
                    <a:p>
                      <a:pPr marL="432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Ivan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26100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21" strike="noStrike">
                          <a:solidFill>
                            <a:srgbClr val="224464"/>
                          </a:solidFill>
                          <a:latin typeface="Calibri"/>
                        </a:rPr>
                        <a:t>2023-07-06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76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Sofa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76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4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  <a:tr h="592920">
                <a:tc>
                  <a:txBody>
                    <a:bodyPr anchor="ctr">
                      <a:noAutofit/>
                    </a:bodyPr>
                    <a:p>
                      <a:pPr marL="432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Pesho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26100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21" strike="noStrike">
                          <a:solidFill>
                            <a:srgbClr val="224464"/>
                          </a:solidFill>
                          <a:latin typeface="Calibri"/>
                        </a:rPr>
                        <a:t>2023-02-11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76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Speakers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76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  </a:t>
                      </a:r>
                      <a:r>
                        <a:rPr b="0" lang="en-US" sz="26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9" name="PlaceHolder 3"/>
          <p:cNvSpPr>
            <a:spLocks noGrp="1"/>
          </p:cNvSpPr>
          <p:nvPr>
            <p:ph type="sldNum" idx="10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C9E99B-A27B-4172-ACB2-3DBA765F94DE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6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615240" y="4704840"/>
            <a:ext cx="10960920" cy="7675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5390" spc="-1" strike="noStrike">
                <a:solidFill>
                  <a:srgbClr val="234465"/>
                </a:solidFill>
                <a:latin typeface="Calibri"/>
              </a:rPr>
              <a:t>Вложени заявки</a:t>
            </a:r>
            <a:endParaRPr b="0" lang="en-US" sz="5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subTitle"/>
          </p:nvPr>
        </p:nvSpPr>
        <p:spPr>
          <a:xfrm>
            <a:off x="615240" y="5585760"/>
            <a:ext cx="10960920" cy="7675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 algn="ctr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4000" spc="-1" strike="noStrike">
                <a:solidFill>
                  <a:srgbClr val="234465"/>
                </a:solidFill>
                <a:latin typeface="Calibri"/>
              </a:rPr>
              <a:t>Манипулиране на заявки на множество нива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icture 5"/>
          <p:cNvSpPr/>
          <p:nvPr/>
        </p:nvSpPr>
        <p:spPr>
          <a:xfrm>
            <a:off x="4721400" y="1314000"/>
            <a:ext cx="2748240" cy="269928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/>
          </p:nvPr>
        </p:nvSpPr>
        <p:spPr>
          <a:xfrm>
            <a:off x="1865880" y="1121040"/>
            <a:ext cx="10325160" cy="55458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Използваме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резултата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 от заявка като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данни за друга заявка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 type="title"/>
          </p:nvPr>
        </p:nvSpPr>
        <p:spPr>
          <a:xfrm>
            <a:off x="1297080" y="100800"/>
            <a:ext cx="916344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234465"/>
                </a:solidFill>
                <a:latin typeface="Calibri"/>
              </a:rPr>
              <a:t>Подзаявки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Box 5"/>
          <p:cNvSpPr/>
          <p:nvPr/>
        </p:nvSpPr>
        <p:spPr>
          <a:xfrm>
            <a:off x="3288960" y="2209680"/>
            <a:ext cx="20725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alibri"/>
                <a:ea typeface="DejaVu Sans"/>
              </a:rPr>
              <a:t>Employees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Up Arrow 9"/>
          <p:cNvSpPr/>
          <p:nvPr/>
        </p:nvSpPr>
        <p:spPr>
          <a:xfrm rot="10800000">
            <a:off x="4167000" y="4964400"/>
            <a:ext cx="327960" cy="439200"/>
          </a:xfrm>
          <a:prstGeom prst="upArrow">
            <a:avLst>
              <a:gd name="adj1" fmla="val 35351"/>
              <a:gd name="adj2" fmla="val 50000"/>
            </a:avLst>
          </a:prstGeom>
          <a:solidFill>
            <a:schemeClr val="tx2">
              <a:lumMod val="75000"/>
            </a:schemeClr>
          </a:solidFill>
          <a:ln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Up Arrow 9"/>
          <p:cNvSpPr/>
          <p:nvPr/>
        </p:nvSpPr>
        <p:spPr>
          <a:xfrm rot="5400000">
            <a:off x="6759360" y="5625720"/>
            <a:ext cx="327960" cy="439200"/>
          </a:xfrm>
          <a:prstGeom prst="upArrow">
            <a:avLst>
              <a:gd name="adj1" fmla="val 35351"/>
              <a:gd name="adj2" fmla="val 50000"/>
            </a:avLst>
          </a:prstGeom>
          <a:solidFill>
            <a:schemeClr val="tx2">
              <a:lumMod val="75000"/>
            </a:schemeClr>
          </a:solidFill>
          <a:ln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AutoShape 7"/>
          <p:cNvSpPr/>
          <p:nvPr/>
        </p:nvSpPr>
        <p:spPr>
          <a:xfrm>
            <a:off x="6172200" y="2057400"/>
            <a:ext cx="1726200" cy="547560"/>
          </a:xfrm>
          <a:prstGeom prst="wedgeRoundRectCallout">
            <a:avLst>
              <a:gd name="adj1" fmla="val -54956"/>
              <a:gd name="adj2" fmla="val 104132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Заявка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AutoShape 7"/>
          <p:cNvSpPr/>
          <p:nvPr/>
        </p:nvSpPr>
        <p:spPr>
          <a:xfrm>
            <a:off x="9581040" y="4495680"/>
            <a:ext cx="2071080" cy="647280"/>
          </a:xfrm>
          <a:prstGeom prst="wedgeRoundRectCallout">
            <a:avLst>
              <a:gd name="adj1" fmla="val -27237"/>
              <a:gd name="adj2" fmla="val 90523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Подзаявка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Box 15"/>
          <p:cNvSpPr/>
          <p:nvPr/>
        </p:nvSpPr>
        <p:spPr>
          <a:xfrm>
            <a:off x="2235240" y="5547960"/>
            <a:ext cx="4293360" cy="617760"/>
          </a:xfrm>
          <a:prstGeom prst="rect">
            <a:avLst/>
          </a:prstGeom>
          <a:solidFill>
            <a:schemeClr val="accent6">
              <a:lumMod val="75000"/>
              <a:alpha val="15000"/>
            </a:schemeClr>
          </a:solidFill>
          <a:ln w="12700">
            <a:solidFill>
              <a:srgbClr val="1a334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44000" rIns="144000" tIns="108000" bIns="108000" anchor="t">
            <a:spAutoFit/>
          </a:bodyPr>
          <a:p>
            <a:pPr>
              <a:lnSpc>
                <a:spcPct val="110000"/>
              </a:lnSpc>
            </a:pPr>
            <a:r>
              <a:rPr b="1" lang="en-US" sz="2400" spc="-1" strike="noStrike">
                <a:solidFill>
                  <a:srgbClr val="bf7800"/>
                </a:solidFill>
                <a:latin typeface="Calibri"/>
                <a:ea typeface="DejaVu Sans"/>
              </a:rPr>
              <a:t>WHERE</a:t>
            </a:r>
            <a:r>
              <a:rPr b="0" lang="en-US" sz="2400" spc="-1" strike="noStrike">
                <a:solidFill>
                  <a:srgbClr val="234465"/>
                </a:solidFill>
                <a:latin typeface="Calibri"/>
                <a:ea typeface="DejaVu Sans"/>
              </a:rPr>
              <a:t> </a:t>
            </a:r>
            <a:r>
              <a:rPr b="1" lang="en-US" sz="2400" spc="-1" strike="noStrike">
                <a:solidFill>
                  <a:srgbClr val="234465"/>
                </a:solidFill>
                <a:latin typeface="Calibri"/>
                <a:ea typeface="DejaVu Sans"/>
              </a:rPr>
              <a:t>DepartmentID</a:t>
            </a:r>
            <a:r>
              <a:rPr b="0" lang="en-US" sz="2400" spc="-1" strike="noStrike">
                <a:solidFill>
                  <a:srgbClr val="234465"/>
                </a:solidFill>
                <a:latin typeface="Calibri"/>
                <a:ea typeface="DejaVu Sans"/>
              </a:rPr>
              <a:t> </a:t>
            </a:r>
            <a:r>
              <a:rPr b="1" lang="en-US" sz="2400" spc="-1" strike="noStrike">
                <a:solidFill>
                  <a:srgbClr val="bf7800"/>
                </a:solidFill>
                <a:latin typeface="Calibri"/>
                <a:ea typeface="DejaVu Sans"/>
              </a:rPr>
              <a:t>IN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91" name="Group 48"/>
          <p:cNvGraphicFramePr/>
          <p:nvPr/>
        </p:nvGraphicFramePr>
        <p:xfrm>
          <a:off x="7371360" y="5410080"/>
          <a:ext cx="4286880" cy="849240"/>
        </p:xfrm>
        <a:graphic>
          <a:graphicData uri="http://schemas.openxmlformats.org/drawingml/2006/table">
            <a:tbl>
              <a:tblPr/>
              <a:tblGrid>
                <a:gridCol w="2514600"/>
                <a:gridCol w="1772640"/>
              </a:tblGrid>
              <a:tr h="39924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DepartmentId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Name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3729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879"/>
                        </a:spcBef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10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799"/>
                        </a:spcBef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Finance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92" name="Group 48"/>
          <p:cNvGraphicFramePr/>
          <p:nvPr/>
        </p:nvGraphicFramePr>
        <p:xfrm>
          <a:off x="2209680" y="2914920"/>
          <a:ext cx="4286880" cy="1811880"/>
        </p:xfrm>
        <a:graphic>
          <a:graphicData uri="http://schemas.openxmlformats.org/drawingml/2006/table">
            <a:tbl>
              <a:tblPr/>
              <a:tblGrid>
                <a:gridCol w="2514600"/>
                <a:gridCol w="1772640"/>
              </a:tblGrid>
              <a:tr h="39924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Id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Salary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3729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59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19,000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3729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71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43,300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3729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bg-BG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...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bg-BG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...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93" name="Slide Number"/>
          <p:cNvSpPr/>
          <p:nvPr/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7814C89A-444B-4944-A038-8B6DD81C16F2}" type="slidenum">
              <a:rPr b="0" lang="en-US" sz="1000" spc="-1" strike="noStrike">
                <a:solidFill>
                  <a:srgbClr val="234465"/>
                </a:solidFill>
                <a:latin typeface="Calibri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57" dur="indefinite" restart="never" nodeType="tmRoot">
          <p:childTnLst>
            <p:seq>
              <p:cTn id="58" dur="indefinite" nodeType="mainSeq">
                <p:childTnLst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Rectangle 4"/>
          <p:cNvSpPr/>
          <p:nvPr/>
        </p:nvSpPr>
        <p:spPr>
          <a:xfrm>
            <a:off x="1227960" y="1936440"/>
            <a:ext cx="10125000" cy="367236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SELECT</a:t>
            </a:r>
            <a:r>
              <a:rPr b="1" lang="bg-BG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e.FirstName, e.LastName FROM Employees AS 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WHERE e.DepartmentID </a:t>
            </a: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IN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 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(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  </a:t>
            </a: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SELECT d.DepartmentID</a:t>
            </a:r>
            <a:br>
              <a:rPr sz="2800"/>
            </a:b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     FROM Departments AS d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    </a:t>
            </a: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WHERE d.Name = 'Finance'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 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Синтаксис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AutoShape 7"/>
          <p:cNvSpPr/>
          <p:nvPr/>
        </p:nvSpPr>
        <p:spPr>
          <a:xfrm>
            <a:off x="6781680" y="3505320"/>
            <a:ext cx="3542760" cy="557640"/>
          </a:xfrm>
          <a:prstGeom prst="wedgeRoundRectCallout">
            <a:avLst>
              <a:gd name="adj1" fmla="val -58460"/>
              <a:gd name="adj2" fmla="val 37734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Таблица </a:t>
            </a:r>
            <a:r>
              <a:rPr b="1" lang="en-US" sz="2800" spc="-1" strike="noStrike">
                <a:solidFill>
                  <a:srgbClr val="ffb840"/>
                </a:solidFill>
                <a:latin typeface="Calibri"/>
                <a:ea typeface="DejaVu Sans"/>
              </a:rPr>
              <a:t>Departments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AutoShape 7"/>
          <p:cNvSpPr/>
          <p:nvPr/>
        </p:nvSpPr>
        <p:spPr>
          <a:xfrm>
            <a:off x="2495880" y="4959000"/>
            <a:ext cx="1922760" cy="584280"/>
          </a:xfrm>
          <a:prstGeom prst="wedgeRoundRectCallout">
            <a:avLst>
              <a:gd name="adj1" fmla="val -28669"/>
              <a:gd name="adj2" fmla="val -85031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Подзаявка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 type="sldNum" idx="11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22A8C3-6C37-4A03-8DC8-A15124895AE6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6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77" dur="indefinite" restart="never" nodeType="tmRoot">
          <p:childTnLst>
            <p:seq>
              <p:cTn id="78" dur="indefinite" nodeType="mainSeq">
                <p:childTnLst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 fontScale="87000"/>
          </a:bodyPr>
          <a:p>
            <a:pPr marL="313200" indent="-3132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Имате база данни с </a:t>
            </a:r>
            <a:r>
              <a:rPr b="1" lang="bg-BG" sz="3800" spc="-1" strike="noStrike">
                <a:solidFill>
                  <a:srgbClr val="234465"/>
                </a:solidFill>
                <a:latin typeface="Calibri"/>
              </a:rPr>
              <a:t>две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 таблици</a:t>
            </a:r>
            <a:r>
              <a:rPr b="0" lang="en-US" sz="3800" spc="-1" strike="noStrike">
                <a:solidFill>
                  <a:srgbClr val="234465"/>
                </a:solidFill>
                <a:latin typeface="Calibri"/>
              </a:rPr>
              <a:t>: </a:t>
            </a:r>
            <a:r>
              <a:rPr b="1" lang="en-US" sz="3800" spc="-1" strike="noStrike">
                <a:solidFill>
                  <a:srgbClr val="bf7800"/>
                </a:solidFill>
                <a:latin typeface="Calibri"/>
              </a:rPr>
              <a:t>Orders</a:t>
            </a:r>
            <a:r>
              <a:rPr b="0" lang="en-US" sz="38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и </a:t>
            </a:r>
            <a:r>
              <a:rPr b="1" lang="en-US" sz="3800" spc="-1" strike="noStrike">
                <a:solidFill>
                  <a:srgbClr val="bf7800"/>
                </a:solidFill>
                <a:latin typeface="Calibri"/>
              </a:rPr>
              <a:t>Customers</a:t>
            </a:r>
            <a:endParaRPr b="0" lang="en-US" sz="3800" spc="-1" strike="noStrike">
              <a:solidFill>
                <a:srgbClr val="000000"/>
              </a:solidFill>
              <a:latin typeface="Arial"/>
            </a:endParaRPr>
          </a:p>
          <a:p>
            <a:pPr marL="313200" indent="-3132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Таблицата </a:t>
            </a:r>
            <a:r>
              <a:rPr b="1" lang="en-US" sz="3800" spc="-1" strike="noStrike">
                <a:solidFill>
                  <a:srgbClr val="bf7800"/>
                </a:solidFill>
                <a:latin typeface="Calibri"/>
              </a:rPr>
              <a:t>Orders</a:t>
            </a:r>
            <a:r>
              <a:rPr b="0" lang="en-US" sz="38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съдържа информация за </a:t>
            </a:r>
            <a:r>
              <a:rPr b="1" lang="bg-BG" sz="3800" spc="-1" strike="noStrike">
                <a:solidFill>
                  <a:srgbClr val="234465"/>
                </a:solidFill>
                <a:latin typeface="Calibri"/>
              </a:rPr>
              <a:t>поръчките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, включително </a:t>
            </a:r>
            <a:r>
              <a:rPr b="1" lang="en-US" sz="3800" spc="-1" strike="noStrike">
                <a:solidFill>
                  <a:srgbClr val="234465"/>
                </a:solidFill>
                <a:latin typeface="Calibri"/>
              </a:rPr>
              <a:t>OrderID</a:t>
            </a:r>
            <a:r>
              <a:rPr b="0" lang="en-US" sz="3800" spc="-1" strike="noStrike">
                <a:solidFill>
                  <a:srgbClr val="234465"/>
                </a:solidFill>
                <a:latin typeface="Calibri"/>
              </a:rPr>
              <a:t>, </a:t>
            </a:r>
            <a:r>
              <a:rPr b="1" lang="en-US" sz="3800" spc="-1" strike="noStrike">
                <a:solidFill>
                  <a:srgbClr val="234465"/>
                </a:solidFill>
                <a:latin typeface="Calibri"/>
              </a:rPr>
              <a:t>CustomerID</a:t>
            </a:r>
            <a:r>
              <a:rPr b="0" lang="en-US" sz="38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и </a:t>
            </a:r>
            <a:r>
              <a:rPr b="1" lang="en-US" sz="3800" spc="-1" strike="noStrike">
                <a:solidFill>
                  <a:srgbClr val="234465"/>
                </a:solidFill>
                <a:latin typeface="Calibri"/>
              </a:rPr>
              <a:t>OrderDate</a:t>
            </a:r>
            <a:endParaRPr b="0" lang="en-US" sz="3800" spc="-1" strike="noStrike">
              <a:solidFill>
                <a:srgbClr val="000000"/>
              </a:solidFill>
              <a:latin typeface="Arial"/>
            </a:endParaRPr>
          </a:p>
          <a:p>
            <a:pPr marL="313200" indent="-3132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Таблицата </a:t>
            </a:r>
            <a:r>
              <a:rPr b="1" lang="en-US" sz="3800" spc="-1" strike="noStrike">
                <a:solidFill>
                  <a:srgbClr val="bf7800"/>
                </a:solidFill>
                <a:latin typeface="Calibri"/>
              </a:rPr>
              <a:t>Customers</a:t>
            </a:r>
            <a:r>
              <a:rPr b="0" lang="en-US" sz="38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съдържа информация за </a:t>
            </a:r>
            <a:r>
              <a:rPr b="1" lang="bg-BG" sz="3800" spc="-1" strike="noStrike">
                <a:solidFill>
                  <a:srgbClr val="234465"/>
                </a:solidFill>
                <a:latin typeface="Calibri"/>
              </a:rPr>
              <a:t>клиентите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, включително </a:t>
            </a:r>
            <a:r>
              <a:rPr b="1" lang="en-US" sz="3800" spc="-1" strike="noStrike">
                <a:solidFill>
                  <a:srgbClr val="234465"/>
                </a:solidFill>
                <a:latin typeface="Calibri"/>
              </a:rPr>
              <a:t>CustomerID</a:t>
            </a:r>
            <a:r>
              <a:rPr b="0" lang="en-US" sz="38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и </a:t>
            </a:r>
            <a:r>
              <a:rPr b="1" lang="en-US" sz="3800" spc="-1" strike="noStrike">
                <a:solidFill>
                  <a:srgbClr val="234465"/>
                </a:solidFill>
                <a:latin typeface="Calibri"/>
              </a:rPr>
              <a:t>CustomerName</a:t>
            </a:r>
            <a:endParaRPr b="0" lang="en-US" sz="3800" spc="-1" strike="noStrike">
              <a:solidFill>
                <a:srgbClr val="000000"/>
              </a:solidFill>
              <a:latin typeface="Arial"/>
            </a:endParaRPr>
          </a:p>
          <a:p>
            <a:pPr marL="313200" indent="-3132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Задачата е да се намерят </a:t>
            </a:r>
            <a:r>
              <a:rPr b="1" lang="bg-BG" sz="3800" spc="-1" strike="noStrike">
                <a:solidFill>
                  <a:srgbClr val="bf7800"/>
                </a:solidFill>
                <a:latin typeface="Calibri"/>
              </a:rPr>
              <a:t>имената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 на </a:t>
            </a:r>
            <a:r>
              <a:rPr b="1" lang="bg-BG" sz="3800" spc="-1" strike="noStrike">
                <a:solidFill>
                  <a:srgbClr val="bf7800"/>
                </a:solidFill>
                <a:latin typeface="Calibri"/>
              </a:rPr>
              <a:t>клиентите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, които имат </a:t>
            </a:r>
            <a:r>
              <a:rPr b="1" lang="bg-BG" sz="3800" spc="-1" strike="noStrike">
                <a:solidFill>
                  <a:srgbClr val="bf7800"/>
                </a:solidFill>
                <a:latin typeface="Calibri"/>
              </a:rPr>
              <a:t>направени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bg-BG" sz="3800" spc="-1" strike="noStrike">
                <a:solidFill>
                  <a:srgbClr val="bf7800"/>
                </a:solidFill>
                <a:latin typeface="Calibri"/>
              </a:rPr>
              <a:t>поръчки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 през </a:t>
            </a:r>
            <a:r>
              <a:rPr b="1" lang="bg-BG" sz="3800" spc="-1" strike="noStrike">
                <a:solidFill>
                  <a:srgbClr val="bf7800"/>
                </a:solidFill>
                <a:latin typeface="Calibri"/>
              </a:rPr>
              <a:t>2023</a:t>
            </a:r>
            <a:r>
              <a:rPr b="0" lang="bg-BG" sz="38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bg-BG" sz="3800" spc="-1" strike="noStrike">
                <a:solidFill>
                  <a:srgbClr val="bf7800"/>
                </a:solidFill>
                <a:latin typeface="Calibri"/>
              </a:rPr>
              <a:t>година</a:t>
            </a:r>
            <a:endParaRPr b="0" lang="en-US" sz="3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Задача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: </a:t>
            </a: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Поръчки през 2023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2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5ABA6F-6A59-4FB5-866D-1869BE731196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11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99" dur="indefinite" restart="never" nodeType="tmRoot">
          <p:childTnLst>
            <p:seq>
              <p:cTn id="100" dur="indefinite" nodeType="mainSeq">
                <p:childTnLst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Rectangle 9"/>
          <p:cNvSpPr/>
          <p:nvPr/>
        </p:nvSpPr>
        <p:spPr>
          <a:xfrm>
            <a:off x="1147320" y="1494000"/>
            <a:ext cx="9896400" cy="4819680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44000" rIns="144000" tIns="108000" bIns="108000" anchor="t">
            <a:spAutoFit/>
          </a:bodyPr>
          <a:p>
            <a:pPr>
              <a:lnSpc>
                <a:spcPct val="105000"/>
              </a:lnSpc>
            </a:pP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SELECT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</a:t>
            </a: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DISTINCT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c.CustomerName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FROM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Customers c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5000"/>
              </a:lnSpc>
            </a:pP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WHERE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</a:t>
            </a: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EXISTS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(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5000"/>
              </a:lnSpc>
            </a:pP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SELECT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1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5000"/>
              </a:lnSpc>
            </a:pP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FROM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Orders o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5000"/>
              </a:lnSpc>
            </a:pP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WHERE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o.CustomerID = c.CustomerID </a:t>
            </a: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AND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o.OrderDate </a:t>
            </a: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BETWEEN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'2023-01-01' </a:t>
            </a: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AND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'2023-12-31’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5000"/>
              </a:lnSpc>
            </a:pP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);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Решение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: </a:t>
            </a: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Поръчки през 2023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 type="sldNum" idx="13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2C4417-0279-4BA3-B301-D8D355189553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12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AutoShape 7"/>
          <p:cNvSpPr/>
          <p:nvPr/>
        </p:nvSpPr>
        <p:spPr>
          <a:xfrm>
            <a:off x="4700880" y="3155040"/>
            <a:ext cx="1726200" cy="547560"/>
          </a:xfrm>
          <a:prstGeom prst="wedgeRoundRectCallout">
            <a:avLst>
              <a:gd name="adj1" fmla="val -90259"/>
              <a:gd name="adj2" fmla="val -1848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True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13" dur="indefinite" restart="never" nodeType="tmRoot">
          <p:childTnLst>
            <p:seq>
              <p:cTn id="114" dur="indefinite" nodeType="mainSeq">
                <p:childTnLst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Picture 2" descr="Venn diagram - Free education icons"/>
          <p:cNvPicPr/>
          <p:nvPr/>
        </p:nvPicPr>
        <p:blipFill>
          <a:blip r:embed="rId1"/>
          <a:stretch/>
        </p:blipFill>
        <p:spPr>
          <a:xfrm>
            <a:off x="4495680" y="1066680"/>
            <a:ext cx="3199680" cy="3199680"/>
          </a:xfrm>
          <a:prstGeom prst="rect">
            <a:avLst/>
          </a:prstGeom>
          <a:ln w="0">
            <a:noFill/>
          </a:ln>
        </p:spPr>
      </p:pic>
      <p:sp>
        <p:nvSpPr>
          <p:cNvPr id="307" name="PlaceHolder 1"/>
          <p:cNvSpPr>
            <a:spLocks noGrp="1"/>
          </p:cNvSpPr>
          <p:nvPr>
            <p:ph type="subTitle"/>
          </p:nvPr>
        </p:nvSpPr>
        <p:spPr>
          <a:xfrm>
            <a:off x="615240" y="5949000"/>
            <a:ext cx="10960920" cy="7675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algn="ctr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en-US" sz="4000" spc="-1" strike="noStrike">
                <a:solidFill>
                  <a:srgbClr val="234465"/>
                </a:solidFill>
                <a:latin typeface="Calibri"/>
              </a:rPr>
              <a:t>UNION, INTERSECT, EXCEPT и DIVIDE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title"/>
          </p:nvPr>
        </p:nvSpPr>
        <p:spPr>
          <a:xfrm>
            <a:off x="615240" y="4820760"/>
            <a:ext cx="10960920" cy="7675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5390" spc="-1" strike="noStrike">
                <a:solidFill>
                  <a:srgbClr val="234465"/>
                </a:solidFill>
                <a:latin typeface="Calibri"/>
              </a:rPr>
              <a:t>Обединение, сечение, разлика, деление</a:t>
            </a:r>
            <a:endParaRPr b="0" lang="en-US" sz="539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/>
          </p:nvPr>
        </p:nvSpPr>
        <p:spPr>
          <a:xfrm>
            <a:off x="76320" y="1196280"/>
            <a:ext cx="1196280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 fontScale="92000"/>
          </a:bodyPr>
          <a:p>
            <a:pPr marL="331200" indent="-3312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24464"/>
                </a:solidFill>
                <a:latin typeface="Calibri"/>
              </a:rPr>
              <a:t>Операцията </a:t>
            </a:r>
            <a:r>
              <a:rPr b="1" lang="en-US" sz="3400" spc="-1" strike="noStrike">
                <a:solidFill>
                  <a:srgbClr val="bf7800"/>
                </a:solidFill>
                <a:latin typeface="Consolas"/>
              </a:rPr>
              <a:t>UNION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738360" indent="-3312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Обединение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 на резултатите от две или повече заявки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38360" indent="-3312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Връща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уникални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 редове, премахвайки дублиращите се записи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38360" indent="-3312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24464"/>
              </a:buClr>
              <a:buFont typeface="Wingdings" charset="2"/>
              <a:buChar char=""/>
            </a:pP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Броят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 и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редът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 на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колоните 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във всички SELECT заявки трябва да съвпадат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38360" indent="-3312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24464"/>
              </a:buClr>
              <a:buFont typeface="Wingdings" charset="2"/>
              <a:buChar char=""/>
            </a:pP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Типовете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 на съответните колони също трябва да бъдат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съвместими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38360" indent="-3312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24464"/>
              </a:buClr>
              <a:buFont typeface="Wingdings" charset="2"/>
              <a:buChar char=""/>
            </a:pPr>
            <a:r>
              <a:rPr b="0" lang="ru-RU" sz="3200" spc="-1" strike="noStrike">
                <a:solidFill>
                  <a:srgbClr val="224464"/>
                </a:solidFill>
                <a:latin typeface="Calibri"/>
              </a:rPr>
              <a:t>За да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запазим</a:t>
            </a:r>
            <a:r>
              <a:rPr b="0" lang="ru-RU" sz="3200" spc="-1" strike="noStrike">
                <a:solidFill>
                  <a:srgbClr val="224464"/>
                </a:solidFill>
                <a:latin typeface="Calibri"/>
              </a:rPr>
              <a:t> дублиращите се редове</a:t>
            </a:r>
            <a:r>
              <a:rPr b="0" lang="en-US" sz="3200" spc="-1" strike="noStrike">
                <a:solidFill>
                  <a:srgbClr val="224464"/>
                </a:solidFill>
                <a:latin typeface="Calibri"/>
              </a:rPr>
              <a:t>,</a:t>
            </a:r>
            <a:r>
              <a:rPr b="0" lang="ru-RU" sz="3200" spc="-1" strike="noStrike">
                <a:solidFill>
                  <a:srgbClr val="224464"/>
                </a:solidFill>
                <a:latin typeface="Calibri"/>
              </a:rPr>
              <a:t> използваме </a:t>
            </a:r>
            <a:r>
              <a:rPr b="1" lang="en-US" sz="3200" spc="-1" strike="noStrike">
                <a:solidFill>
                  <a:srgbClr val="bf7800"/>
                </a:solidFill>
                <a:latin typeface="Consolas"/>
              </a:rPr>
              <a:t>UNION ALL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Обединение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4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A54F83-70A9-4690-8D9D-8B5C71B70FA5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19" dur="indefinite" restart="never" nodeType="tmRoot">
          <p:childTnLst>
            <p:seq>
              <p:cTn id="120" dur="indefinite" nodeType="mainSeq">
                <p:childTnLst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Обединение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(2)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5"/>
          <p:cNvSpPr/>
          <p:nvPr/>
        </p:nvSpPr>
        <p:spPr>
          <a:xfrm>
            <a:off x="1983600" y="1143000"/>
            <a:ext cx="22752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alibri"/>
                <a:ea typeface="DejaVu Sans"/>
              </a:rPr>
              <a:t>Employees1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Box 7"/>
          <p:cNvSpPr/>
          <p:nvPr/>
        </p:nvSpPr>
        <p:spPr>
          <a:xfrm>
            <a:off x="7012800" y="1143000"/>
            <a:ext cx="22752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alibri"/>
                <a:ea typeface="DejaVu Sans"/>
              </a:rPr>
              <a:t>Employees2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15" name="Group 5"/>
          <p:cNvGrpSpPr/>
          <p:nvPr/>
        </p:nvGrpSpPr>
        <p:grpSpPr>
          <a:xfrm>
            <a:off x="2057400" y="3657600"/>
            <a:ext cx="1600200" cy="990360"/>
            <a:chOff x="2057400" y="3657600"/>
            <a:chExt cx="1600200" cy="990360"/>
          </a:xfrm>
        </p:grpSpPr>
        <p:sp>
          <p:nvSpPr>
            <p:cNvPr id="316" name="Line 6"/>
            <p:cNvSpPr/>
            <p:nvPr/>
          </p:nvSpPr>
          <p:spPr>
            <a:xfrm>
              <a:off x="2057400" y="3657600"/>
              <a:ext cx="360" cy="99036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  <p:sp>
          <p:nvSpPr>
            <p:cNvPr id="317" name="Line 7"/>
            <p:cNvSpPr/>
            <p:nvPr/>
          </p:nvSpPr>
          <p:spPr>
            <a:xfrm>
              <a:off x="2057400" y="4638600"/>
              <a:ext cx="1600200" cy="36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</p:grpSp>
      <p:grpSp>
        <p:nvGrpSpPr>
          <p:cNvPr id="318" name="Group 2"/>
          <p:cNvGrpSpPr/>
          <p:nvPr/>
        </p:nvGrpSpPr>
        <p:grpSpPr>
          <a:xfrm>
            <a:off x="8153280" y="3581280"/>
            <a:ext cx="1219680" cy="1066680"/>
            <a:chOff x="8153280" y="3581280"/>
            <a:chExt cx="1219680" cy="1066680"/>
          </a:xfrm>
        </p:grpSpPr>
        <p:sp>
          <p:nvSpPr>
            <p:cNvPr id="319" name="Line 3"/>
            <p:cNvSpPr/>
            <p:nvPr/>
          </p:nvSpPr>
          <p:spPr>
            <a:xfrm>
              <a:off x="9372600" y="3581280"/>
              <a:ext cx="360" cy="106668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  <p:sp>
          <p:nvSpPr>
            <p:cNvPr id="320" name="Line 4"/>
            <p:cNvSpPr/>
            <p:nvPr/>
          </p:nvSpPr>
          <p:spPr>
            <a:xfrm flipH="1">
              <a:off x="8153280" y="4637880"/>
              <a:ext cx="1219320" cy="36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</p:grpSp>
      <p:graphicFrame>
        <p:nvGraphicFramePr>
          <p:cNvPr id="321" name="Group 48"/>
          <p:cNvGraphicFramePr/>
          <p:nvPr/>
        </p:nvGraphicFramePr>
        <p:xfrm>
          <a:off x="3733920" y="4038480"/>
          <a:ext cx="4286520" cy="2489400"/>
        </p:xfrm>
        <a:graphic>
          <a:graphicData uri="http://schemas.openxmlformats.org/drawingml/2006/table">
            <a:tbl>
              <a:tblPr/>
              <a:tblGrid>
                <a:gridCol w="1714680"/>
                <a:gridCol w="2572200"/>
              </a:tblGrid>
              <a:tr h="342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Id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Name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3427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879"/>
                        </a:spcBef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799"/>
                        </a:spcBef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John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3427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879"/>
                        </a:spcBef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2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799"/>
                        </a:spcBef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Gosho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3427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879"/>
                        </a:spcBef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799"/>
                        </a:spcBef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Bob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3427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879"/>
                        </a:spcBef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4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799"/>
                        </a:spcBef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Kevin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3427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879"/>
                        </a:spcBef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5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799"/>
                        </a:spcBef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Kate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22" name="AutoShape 7"/>
          <p:cNvSpPr/>
          <p:nvPr/>
        </p:nvSpPr>
        <p:spPr>
          <a:xfrm>
            <a:off x="8458200" y="5562720"/>
            <a:ext cx="2818800" cy="913680"/>
          </a:xfrm>
          <a:prstGeom prst="wedgeRoundRectCallout">
            <a:avLst>
              <a:gd name="adj1" fmla="val -64269"/>
              <a:gd name="adj2" fmla="val -53390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Резултатна</a:t>
            </a: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 </a:t>
            </a: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таблица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323" name="Group 48"/>
          <p:cNvGraphicFramePr/>
          <p:nvPr/>
        </p:nvGraphicFramePr>
        <p:xfrm>
          <a:off x="1676520" y="1752480"/>
          <a:ext cx="3047400" cy="1884960"/>
        </p:xfrm>
        <a:graphic>
          <a:graphicData uri="http://schemas.openxmlformats.org/drawingml/2006/table">
            <a:tbl>
              <a:tblPr/>
              <a:tblGrid>
                <a:gridCol w="1218960"/>
                <a:gridCol w="182880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Id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Name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John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Gosho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Bob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24" name="Group 48"/>
          <p:cNvGraphicFramePr/>
          <p:nvPr/>
        </p:nvGraphicFramePr>
        <p:xfrm>
          <a:off x="6781680" y="1695600"/>
          <a:ext cx="3047400" cy="1884960"/>
        </p:xfrm>
        <a:graphic>
          <a:graphicData uri="http://schemas.openxmlformats.org/drawingml/2006/table">
            <a:tbl>
              <a:tblPr/>
              <a:tblGrid>
                <a:gridCol w="1218960"/>
                <a:gridCol w="182880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Id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Name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Bob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Kevin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5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Kate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25" name="PlaceHolder 2"/>
          <p:cNvSpPr>
            <a:spLocks noGrp="1"/>
          </p:cNvSpPr>
          <p:nvPr>
            <p:ph type="sldNum" idx="15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E2E334-2D4A-4FCD-AC98-C1B303834A88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37" dur="indefinite" restart="never" nodeType="tmRoot">
          <p:childTnLst>
            <p:seq>
              <p:cTn id="138" dur="indefinite" nodeType="mainSeq">
                <p:childTnLst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Обединение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(3)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Rectangle 4"/>
          <p:cNvSpPr/>
          <p:nvPr/>
        </p:nvSpPr>
        <p:spPr>
          <a:xfrm>
            <a:off x="2666880" y="2819520"/>
            <a:ext cx="7314480" cy="143316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SELECT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Id, Name </a:t>
            </a: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FROM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Employees1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UNION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SELECT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Id, Name </a:t>
            </a: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FROM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Employees2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AutoShape 7"/>
          <p:cNvSpPr/>
          <p:nvPr/>
        </p:nvSpPr>
        <p:spPr>
          <a:xfrm>
            <a:off x="7391520" y="1828800"/>
            <a:ext cx="2818800" cy="685080"/>
          </a:xfrm>
          <a:prstGeom prst="wedgeRoundRectCallout">
            <a:avLst>
              <a:gd name="adj1" fmla="val -30823"/>
              <a:gd name="adj2" fmla="val 106680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Първа таблица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AutoShape 7"/>
          <p:cNvSpPr/>
          <p:nvPr/>
        </p:nvSpPr>
        <p:spPr>
          <a:xfrm>
            <a:off x="5029200" y="4572000"/>
            <a:ext cx="2818800" cy="685080"/>
          </a:xfrm>
          <a:prstGeom prst="wedgeRoundRectCallout">
            <a:avLst>
              <a:gd name="adj1" fmla="val 31339"/>
              <a:gd name="adj2" fmla="val -104431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Втора таблица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AutoShape 7"/>
          <p:cNvSpPr/>
          <p:nvPr/>
        </p:nvSpPr>
        <p:spPr>
          <a:xfrm>
            <a:off x="152280" y="2362320"/>
            <a:ext cx="2437560" cy="685080"/>
          </a:xfrm>
          <a:prstGeom prst="wedgeRoundRectCallout">
            <a:avLst>
              <a:gd name="adj1" fmla="val 51906"/>
              <a:gd name="adj2" fmla="val 112236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Обединение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ldNum" idx="16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99C59D-2F15-462B-B6C7-B0442DFE7201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51" dur="indefinite" restart="never" nodeType="tmRoot">
          <p:childTnLst>
            <p:seq>
              <p:cTn id="152" dur="indefinite" nodeType="mainSeq">
                <p:childTnLst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600" spc="-1" strike="noStrike">
                <a:solidFill>
                  <a:srgbClr val="224464"/>
                </a:solidFill>
                <a:latin typeface="Calibri"/>
              </a:rPr>
              <a:t>Операцията </a:t>
            </a:r>
            <a:r>
              <a:rPr b="1" lang="en-US" sz="3600" spc="-1" strike="noStrike">
                <a:solidFill>
                  <a:srgbClr val="bf7800"/>
                </a:solidFill>
                <a:latin typeface="Consolas"/>
              </a:rPr>
              <a:t>INTERSECT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Връща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общите редове 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между резултатите от две или повече заявки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Използва се, когато искаме да вземем само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съвпадащите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редове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в две или повече таблици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2" marL="125568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Например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общите интереси 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между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потребителите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 в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социална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мрежа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Типовете</a:t>
            </a:r>
            <a:r>
              <a:rPr b="0" lang="ru-RU" sz="3400" spc="-1" strike="noStrike">
                <a:solidFill>
                  <a:srgbClr val="224464"/>
                </a:solidFill>
                <a:latin typeface="Calibri"/>
              </a:rPr>
              <a:t>,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броят</a:t>
            </a:r>
            <a:r>
              <a:rPr b="0" lang="ru-RU" sz="3400" spc="-1" strike="noStrike">
                <a:solidFill>
                  <a:srgbClr val="224464"/>
                </a:solidFill>
                <a:latin typeface="Calibri"/>
              </a:rPr>
              <a:t> и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редът</a:t>
            </a:r>
            <a:r>
              <a:rPr b="0" lang="ru-RU" sz="3400" spc="-1" strike="noStrike">
                <a:solidFill>
                  <a:srgbClr val="224464"/>
                </a:solidFill>
                <a:latin typeface="Calibri"/>
              </a:rPr>
              <a:t> на колоните трябва да съвпада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Сечение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17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C91F97-C0D1-4CA8-9BF9-36CD048B56F7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61" dur="indefinite" restart="never" nodeType="tmRoot">
          <p:childTnLst>
            <p:seq>
              <p:cTn id="162" dur="indefinite" nodeType="mainSeq">
                <p:childTnLst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Сечение 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(2)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Box 5"/>
          <p:cNvSpPr/>
          <p:nvPr/>
        </p:nvSpPr>
        <p:spPr>
          <a:xfrm>
            <a:off x="2059560" y="1143000"/>
            <a:ext cx="22752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alibri"/>
                <a:ea typeface="DejaVu Sans"/>
              </a:rPr>
              <a:t>Employees1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Box 7"/>
          <p:cNvSpPr/>
          <p:nvPr/>
        </p:nvSpPr>
        <p:spPr>
          <a:xfrm>
            <a:off x="7170840" y="1143000"/>
            <a:ext cx="22752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alibri"/>
                <a:ea typeface="DejaVu Sans"/>
              </a:rPr>
              <a:t>Employees2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38" name="Group 5"/>
          <p:cNvGrpSpPr/>
          <p:nvPr/>
        </p:nvGrpSpPr>
        <p:grpSpPr>
          <a:xfrm>
            <a:off x="2057400" y="3657600"/>
            <a:ext cx="1600200" cy="1295280"/>
            <a:chOff x="2057400" y="3657600"/>
            <a:chExt cx="1600200" cy="1295280"/>
          </a:xfrm>
        </p:grpSpPr>
        <p:sp>
          <p:nvSpPr>
            <p:cNvPr id="339" name="Line 6"/>
            <p:cNvSpPr/>
            <p:nvPr/>
          </p:nvSpPr>
          <p:spPr>
            <a:xfrm>
              <a:off x="2057400" y="3657600"/>
              <a:ext cx="360" cy="129528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  <p:sp>
          <p:nvSpPr>
            <p:cNvPr id="340" name="Line 7"/>
            <p:cNvSpPr/>
            <p:nvPr/>
          </p:nvSpPr>
          <p:spPr>
            <a:xfrm>
              <a:off x="2057400" y="4940640"/>
              <a:ext cx="1600200" cy="36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</p:grpSp>
      <p:grpSp>
        <p:nvGrpSpPr>
          <p:cNvPr id="341" name="Group 2"/>
          <p:cNvGrpSpPr/>
          <p:nvPr/>
        </p:nvGrpSpPr>
        <p:grpSpPr>
          <a:xfrm>
            <a:off x="8153280" y="3581280"/>
            <a:ext cx="1219680" cy="1371600"/>
            <a:chOff x="8153280" y="3581280"/>
            <a:chExt cx="1219680" cy="1371600"/>
          </a:xfrm>
        </p:grpSpPr>
        <p:sp>
          <p:nvSpPr>
            <p:cNvPr id="342" name="Line 3"/>
            <p:cNvSpPr/>
            <p:nvPr/>
          </p:nvSpPr>
          <p:spPr>
            <a:xfrm>
              <a:off x="9372600" y="3581280"/>
              <a:ext cx="360" cy="137160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  <p:sp>
          <p:nvSpPr>
            <p:cNvPr id="343" name="Line 4"/>
            <p:cNvSpPr/>
            <p:nvPr/>
          </p:nvSpPr>
          <p:spPr>
            <a:xfrm flipH="1">
              <a:off x="8153280" y="4939920"/>
              <a:ext cx="1219320" cy="36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</p:grpSp>
      <p:graphicFrame>
        <p:nvGraphicFramePr>
          <p:cNvPr id="344" name="Group 48"/>
          <p:cNvGraphicFramePr/>
          <p:nvPr/>
        </p:nvGraphicFramePr>
        <p:xfrm>
          <a:off x="3733920" y="4343400"/>
          <a:ext cx="4286520" cy="849240"/>
        </p:xfrm>
        <a:graphic>
          <a:graphicData uri="http://schemas.openxmlformats.org/drawingml/2006/table">
            <a:tbl>
              <a:tblPr/>
              <a:tblGrid>
                <a:gridCol w="1714680"/>
                <a:gridCol w="2572200"/>
              </a:tblGrid>
              <a:tr h="342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Id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Name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3427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879"/>
                        </a:spcBef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799"/>
                        </a:spcBef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Bob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45" name="AutoShape 7"/>
          <p:cNvSpPr/>
          <p:nvPr/>
        </p:nvSpPr>
        <p:spPr>
          <a:xfrm>
            <a:off x="2438280" y="5638680"/>
            <a:ext cx="2818800" cy="913680"/>
          </a:xfrm>
          <a:prstGeom prst="wedgeRoundRectCallout">
            <a:avLst>
              <a:gd name="adj1" fmla="val 38772"/>
              <a:gd name="adj2" fmla="val -89848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Резултатната таблица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346" name="Group 48"/>
          <p:cNvGraphicFramePr/>
          <p:nvPr/>
        </p:nvGraphicFramePr>
        <p:xfrm>
          <a:off x="1676520" y="1752480"/>
          <a:ext cx="3047400" cy="1884960"/>
        </p:xfrm>
        <a:graphic>
          <a:graphicData uri="http://schemas.openxmlformats.org/drawingml/2006/table">
            <a:tbl>
              <a:tblPr/>
              <a:tblGrid>
                <a:gridCol w="1218960"/>
                <a:gridCol w="182880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Id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Name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John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Gosho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Bob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47" name="Group 48"/>
          <p:cNvGraphicFramePr/>
          <p:nvPr/>
        </p:nvGraphicFramePr>
        <p:xfrm>
          <a:off x="6781680" y="1695600"/>
          <a:ext cx="3047400" cy="1884960"/>
        </p:xfrm>
        <a:graphic>
          <a:graphicData uri="http://schemas.openxmlformats.org/drawingml/2006/table">
            <a:tbl>
              <a:tblPr/>
              <a:tblGrid>
                <a:gridCol w="1218960"/>
                <a:gridCol w="182880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Id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Name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Bob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Kevin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5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Kate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48" name="PlaceHolder 2"/>
          <p:cNvSpPr>
            <a:spLocks noGrp="1"/>
          </p:cNvSpPr>
          <p:nvPr>
            <p:ph type="sldNum" idx="18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404BE7-7768-4D72-AC80-37C90B6921FC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75" dur="indefinite" restart="never" nodeType="tmRoot">
          <p:childTnLst>
            <p:seq>
              <p:cTn id="176" dur="indefinite" nodeType="mainSeq">
                <p:childTnLst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Сечение 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(3)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Rectangle 4"/>
          <p:cNvSpPr/>
          <p:nvPr/>
        </p:nvSpPr>
        <p:spPr>
          <a:xfrm>
            <a:off x="2743200" y="2819520"/>
            <a:ext cx="7314480" cy="143316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SELECT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Id, Name </a:t>
            </a: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FROM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Employees1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INTERSECT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SELECT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Id, Name </a:t>
            </a: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FROM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Employees2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AutoShape 7"/>
          <p:cNvSpPr/>
          <p:nvPr/>
        </p:nvSpPr>
        <p:spPr>
          <a:xfrm>
            <a:off x="7467480" y="1828800"/>
            <a:ext cx="2818800" cy="685080"/>
          </a:xfrm>
          <a:prstGeom prst="wedgeRoundRectCallout">
            <a:avLst>
              <a:gd name="adj1" fmla="val -30823"/>
              <a:gd name="adj2" fmla="val 106680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Първа таблица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AutoShape 7"/>
          <p:cNvSpPr/>
          <p:nvPr/>
        </p:nvSpPr>
        <p:spPr>
          <a:xfrm>
            <a:off x="5105520" y="4572000"/>
            <a:ext cx="2818800" cy="685080"/>
          </a:xfrm>
          <a:prstGeom prst="wedgeRoundRectCallout">
            <a:avLst>
              <a:gd name="adj1" fmla="val 31339"/>
              <a:gd name="adj2" fmla="val -104431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Втора таблица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AutoShape 7"/>
          <p:cNvSpPr/>
          <p:nvPr/>
        </p:nvSpPr>
        <p:spPr>
          <a:xfrm>
            <a:off x="533520" y="2971800"/>
            <a:ext cx="1828080" cy="685080"/>
          </a:xfrm>
          <a:prstGeom prst="wedgeRoundRectCallout">
            <a:avLst>
              <a:gd name="adj1" fmla="val 66750"/>
              <a:gd name="adj2" fmla="val 34459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Сечение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 type="sldNum" idx="19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127569-40CE-42DC-BA64-E43C5F4CBAA0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89" dur="indefinite" restart="never" nodeType="tmRoot">
          <p:childTnLst>
            <p:seq>
              <p:cTn id="190" dur="indefinite" nodeType="mainSeq">
                <p:childTnLst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600" spc="-1" strike="noStrike">
                <a:solidFill>
                  <a:srgbClr val="224464"/>
                </a:solidFill>
                <a:latin typeface="Calibri"/>
              </a:rPr>
              <a:t>Операцията </a:t>
            </a:r>
            <a:r>
              <a:rPr b="1" lang="en-US" sz="3600" spc="-1" strike="noStrike">
                <a:solidFill>
                  <a:srgbClr val="bf7800"/>
                </a:solidFill>
                <a:latin typeface="Calibri"/>
              </a:rPr>
              <a:t>EXCEPT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Връща редовете от първата заявка, които </a:t>
            </a:r>
            <a:r>
              <a:rPr b="1" lang="ru-RU" sz="3600" spc="-1" strike="noStrike">
                <a:solidFill>
                  <a:srgbClr val="bf7800"/>
                </a:solidFill>
                <a:latin typeface="Calibri"/>
              </a:rPr>
              <a:t>не се срещат </a:t>
            </a: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във втората заявка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lvl="2" marL="125568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Например, за да намерим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продукти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, които са налични в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онлайн магазин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, но не и в магазина на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физически адрес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Типовете</a:t>
            </a:r>
            <a:r>
              <a:rPr b="0" lang="ru-RU" sz="3400" spc="-1" strike="noStrike">
                <a:solidFill>
                  <a:srgbClr val="224464"/>
                </a:solidFill>
                <a:latin typeface="Calibri"/>
              </a:rPr>
              <a:t>,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броят</a:t>
            </a:r>
            <a:r>
              <a:rPr b="0" lang="ru-RU" sz="3400" spc="-1" strike="noStrike">
                <a:solidFill>
                  <a:srgbClr val="224464"/>
                </a:solidFill>
                <a:latin typeface="Calibri"/>
              </a:rPr>
              <a:t> и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редът</a:t>
            </a:r>
            <a:r>
              <a:rPr b="0" lang="ru-RU" sz="3400" spc="-1" strike="noStrike">
                <a:solidFill>
                  <a:srgbClr val="224464"/>
                </a:solidFill>
                <a:latin typeface="Calibri"/>
              </a:rPr>
              <a:t> на колоните трябва да съвпада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Разлика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20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EAC2D8-DFE5-453E-9C27-12B5ECF987AE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99" dur="indefinite" restart="never" nodeType="tmRoot">
          <p:childTnLst>
            <p:seq>
              <p:cTn id="200" dur="indefinite" nodeType="mainSeq">
                <p:childTnLst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Разлика 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(2)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5"/>
          <p:cNvSpPr/>
          <p:nvPr/>
        </p:nvSpPr>
        <p:spPr>
          <a:xfrm>
            <a:off x="1978560" y="1143000"/>
            <a:ext cx="222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alibri"/>
                <a:ea typeface="DejaVu Sans"/>
              </a:rPr>
              <a:t>OnlineShop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7"/>
          <p:cNvSpPr/>
          <p:nvPr/>
        </p:nvSpPr>
        <p:spPr>
          <a:xfrm>
            <a:off x="7157160" y="1066680"/>
            <a:ext cx="19778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alibri"/>
                <a:ea typeface="DejaVu Sans"/>
              </a:rPr>
              <a:t>LocalShop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61" name="Group 5"/>
          <p:cNvGrpSpPr/>
          <p:nvPr/>
        </p:nvGrpSpPr>
        <p:grpSpPr>
          <a:xfrm>
            <a:off x="2057400" y="3657600"/>
            <a:ext cx="1600200" cy="1295280"/>
            <a:chOff x="2057400" y="3657600"/>
            <a:chExt cx="1600200" cy="1295280"/>
          </a:xfrm>
        </p:grpSpPr>
        <p:sp>
          <p:nvSpPr>
            <p:cNvPr id="362" name="Line 6"/>
            <p:cNvSpPr/>
            <p:nvPr/>
          </p:nvSpPr>
          <p:spPr>
            <a:xfrm>
              <a:off x="2057400" y="3657600"/>
              <a:ext cx="360" cy="129528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  <p:sp>
          <p:nvSpPr>
            <p:cNvPr id="363" name="Line 7"/>
            <p:cNvSpPr/>
            <p:nvPr/>
          </p:nvSpPr>
          <p:spPr>
            <a:xfrm>
              <a:off x="2057400" y="4940640"/>
              <a:ext cx="1600200" cy="36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</p:grpSp>
      <p:grpSp>
        <p:nvGrpSpPr>
          <p:cNvPr id="364" name="Group 2"/>
          <p:cNvGrpSpPr/>
          <p:nvPr/>
        </p:nvGrpSpPr>
        <p:grpSpPr>
          <a:xfrm>
            <a:off x="8076960" y="3581280"/>
            <a:ext cx="1143360" cy="1371600"/>
            <a:chOff x="8076960" y="3581280"/>
            <a:chExt cx="1143360" cy="1371600"/>
          </a:xfrm>
        </p:grpSpPr>
        <p:sp>
          <p:nvSpPr>
            <p:cNvPr id="365" name="Line 3"/>
            <p:cNvSpPr/>
            <p:nvPr/>
          </p:nvSpPr>
          <p:spPr>
            <a:xfrm>
              <a:off x="9219960" y="3581280"/>
              <a:ext cx="360" cy="137160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  <p:sp>
          <p:nvSpPr>
            <p:cNvPr id="366" name="Line 4"/>
            <p:cNvSpPr/>
            <p:nvPr/>
          </p:nvSpPr>
          <p:spPr>
            <a:xfrm flipH="1">
              <a:off x="8076960" y="4939920"/>
              <a:ext cx="1143000" cy="360"/>
            </a:xfrm>
            <a:prstGeom prst="line">
              <a:avLst/>
            </a:prstGeom>
            <a:ln w="31750">
              <a:solidFill>
                <a:srgbClr val="e0e3e9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bg-BG" sz="18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</p:grpSp>
      <p:graphicFrame>
        <p:nvGraphicFramePr>
          <p:cNvPr id="367" name="Group 48"/>
          <p:cNvGraphicFramePr/>
          <p:nvPr/>
        </p:nvGraphicFramePr>
        <p:xfrm>
          <a:off x="3733920" y="4343400"/>
          <a:ext cx="4286520" cy="1259280"/>
        </p:xfrm>
        <a:graphic>
          <a:graphicData uri="http://schemas.openxmlformats.org/drawingml/2006/table">
            <a:tbl>
              <a:tblPr/>
              <a:tblGrid>
                <a:gridCol w="1714680"/>
                <a:gridCol w="2572200"/>
              </a:tblGrid>
              <a:tr h="342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Id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Name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3427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879"/>
                        </a:spcBef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799"/>
                        </a:spcBef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Smartwatch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3427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879"/>
                        </a:spcBef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95000"/>
                        </a:lnSpc>
                        <a:spcBef>
                          <a:spcPts val="799"/>
                        </a:spcBef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Microphone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8" name="AutoShape 7"/>
          <p:cNvSpPr/>
          <p:nvPr/>
        </p:nvSpPr>
        <p:spPr>
          <a:xfrm>
            <a:off x="685800" y="5715000"/>
            <a:ext cx="2818800" cy="913680"/>
          </a:xfrm>
          <a:prstGeom prst="wedgeRoundRectCallout">
            <a:avLst>
              <a:gd name="adj1" fmla="val 53975"/>
              <a:gd name="adj2" fmla="val -82556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Резултатната таблица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369" name="Group 48"/>
          <p:cNvGraphicFramePr/>
          <p:nvPr/>
        </p:nvGraphicFramePr>
        <p:xfrm>
          <a:off x="1676520" y="1771920"/>
          <a:ext cx="2818800" cy="2232360"/>
        </p:xfrm>
        <a:graphic>
          <a:graphicData uri="http://schemas.openxmlformats.org/drawingml/2006/table">
            <a:tbl>
              <a:tblPr/>
              <a:tblGrid>
                <a:gridCol w="916200"/>
                <a:gridCol w="190296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Id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Name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Smartwatch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Speakers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Microphone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70" name="Group 48"/>
          <p:cNvGraphicFramePr/>
          <p:nvPr/>
        </p:nvGraphicFramePr>
        <p:xfrm>
          <a:off x="6705720" y="1676520"/>
          <a:ext cx="2666160" cy="1884960"/>
        </p:xfrm>
        <a:graphic>
          <a:graphicData uri="http://schemas.openxmlformats.org/drawingml/2006/table">
            <a:tbl>
              <a:tblPr/>
              <a:tblGrid>
                <a:gridCol w="799920"/>
                <a:gridCol w="186660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Id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961"/>
                        </a:spcBef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Name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Speakers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TV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  <a:tr h="475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5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Camera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71" name="PlaceHolder 2"/>
          <p:cNvSpPr>
            <a:spLocks noGrp="1"/>
          </p:cNvSpPr>
          <p:nvPr>
            <p:ph type="sldNum" idx="21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64682E-F0B1-4757-BCF9-A2C2408BD522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09" dur="indefinite" restart="never" nodeType="tmRoot">
          <p:childTnLst>
            <p:seq>
              <p:cTn id="210" dur="indefinite" nodeType="mainSeq">
                <p:childTnLst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Разлика 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(3)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ectangle 4"/>
          <p:cNvSpPr/>
          <p:nvPr/>
        </p:nvSpPr>
        <p:spPr>
          <a:xfrm>
            <a:off x="2743200" y="2819520"/>
            <a:ext cx="7314480" cy="143316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SELECT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Id, Name </a:t>
            </a: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FROM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</a:t>
            </a:r>
            <a:r>
              <a:rPr b="1" lang="en-US" sz="2800" spc="-1" strike="noStrike">
                <a:solidFill>
                  <a:srgbClr val="234465"/>
                </a:solidFill>
                <a:latin typeface="Calibri"/>
                <a:ea typeface="DejaVu Sans"/>
              </a:rPr>
              <a:t>OnlineShop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EXCEPT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SELECT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Id, Name </a:t>
            </a: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FROM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 LocalShop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AutoShape 7"/>
          <p:cNvSpPr/>
          <p:nvPr/>
        </p:nvSpPr>
        <p:spPr>
          <a:xfrm>
            <a:off x="7238880" y="1828800"/>
            <a:ext cx="2818800" cy="685080"/>
          </a:xfrm>
          <a:prstGeom prst="wedgeRoundRectCallout">
            <a:avLst>
              <a:gd name="adj1" fmla="val -30823"/>
              <a:gd name="adj2" fmla="val 106680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Първа таблица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AutoShape 7"/>
          <p:cNvSpPr/>
          <p:nvPr/>
        </p:nvSpPr>
        <p:spPr>
          <a:xfrm>
            <a:off x="4876920" y="4572000"/>
            <a:ext cx="2818800" cy="685080"/>
          </a:xfrm>
          <a:prstGeom prst="wedgeRoundRectCallout">
            <a:avLst>
              <a:gd name="adj1" fmla="val 31339"/>
              <a:gd name="adj2" fmla="val -104431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Втора таблица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AutoShape 7"/>
          <p:cNvSpPr/>
          <p:nvPr/>
        </p:nvSpPr>
        <p:spPr>
          <a:xfrm>
            <a:off x="533520" y="2895480"/>
            <a:ext cx="1828080" cy="685080"/>
          </a:xfrm>
          <a:prstGeom prst="wedgeRoundRectCallout">
            <a:avLst>
              <a:gd name="adj1" fmla="val 70396"/>
              <a:gd name="adj2" fmla="val 48347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Разлика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 type="sldNum" idx="22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CA09EF-F87D-468F-BD8C-AF90C83743F9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23" dur="indefinite" restart="never" nodeType="tmRoot">
          <p:childTnLst>
            <p:seq>
              <p:cTn id="224" dur="indefinite" nodeType="mainSeq">
                <p:childTnLst>
                  <p:par>
                    <p:cTn id="225" fill="hold">
                      <p:stCondLst>
                        <p:cond delay="indefinite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600" spc="-1" strike="noStrike">
                <a:solidFill>
                  <a:srgbClr val="224464"/>
                </a:solidFill>
                <a:latin typeface="Calibri"/>
              </a:rPr>
              <a:t>Операцията </a:t>
            </a:r>
            <a:r>
              <a:rPr b="1" lang="en-US" sz="3600" spc="-1" strike="noStrike">
                <a:solidFill>
                  <a:srgbClr val="bf7800"/>
                </a:solidFill>
                <a:latin typeface="Consolas"/>
              </a:rPr>
              <a:t>DIVIDE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П</a:t>
            </a: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оказва какви стойности от първата таблица </a:t>
            </a:r>
            <a:r>
              <a:rPr b="1" lang="ru-RU" sz="3600" spc="-1" strike="noStrike">
                <a:solidFill>
                  <a:srgbClr val="bf7800"/>
                </a:solidFill>
                <a:latin typeface="Calibri"/>
              </a:rPr>
              <a:t>съответстват</a:t>
            </a: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 на всички стойности от втората таблица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24464"/>
                </a:solidFill>
                <a:latin typeface="Calibri"/>
              </a:rPr>
              <a:t>Използва се по-рядко и е по-сложна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2" marL="125568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24464"/>
                </a:solidFill>
                <a:latin typeface="Calibri"/>
              </a:rPr>
              <a:t>Например за намиране на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студентите</a:t>
            </a:r>
            <a:r>
              <a:rPr b="0" lang="bg-BG" sz="3200" spc="-1" strike="noStrike">
                <a:solidFill>
                  <a:srgbClr val="224464"/>
                </a:solidFill>
                <a:latin typeface="Calibri"/>
              </a:rPr>
              <a:t>, които са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записани</a:t>
            </a:r>
            <a:r>
              <a:rPr b="0" lang="bg-BG" sz="3200" spc="-1" strike="noStrike">
                <a:solidFill>
                  <a:srgbClr val="224464"/>
                </a:solidFill>
                <a:latin typeface="Calibri"/>
              </a:rPr>
              <a:t> на всички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задължителни курсове </a:t>
            </a:r>
            <a:r>
              <a:rPr b="0" lang="bg-BG" sz="3200" spc="-1" strike="noStrike">
                <a:solidFill>
                  <a:srgbClr val="224464"/>
                </a:solidFill>
                <a:latin typeface="Calibri"/>
              </a:rPr>
              <a:t>в университета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Деление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23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6ECAFE-B51D-4B25-982A-2711DAC3F3E0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33" dur="indefinite" restart="never" nodeType="tmRoot">
          <p:childTnLst>
            <p:seq>
              <p:cTn id="234" dur="indefinite" nodeType="mainSeq">
                <p:childTnLst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 fontScale="96000"/>
          </a:bodyPr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345600" indent="-3456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Вътрешните подзаявки 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сравняват записите между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двете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 таблиц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и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 и намират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студентите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, които са записани на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всички задължителни курсове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Деление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(2)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ectangle 9"/>
          <p:cNvSpPr/>
          <p:nvPr/>
        </p:nvSpPr>
        <p:spPr>
          <a:xfrm>
            <a:off x="685800" y="1295280"/>
            <a:ext cx="10743480" cy="392724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</a:pP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SELECT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 StudentId FROM EnrolledCourses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WHERE NOT EXISTS 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(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bg-BG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SELECT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 CourseId 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FROM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 MandatoryCourses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bg-BG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WHERE NOT EXISTS 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(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bg-BG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	</a:t>
            </a:r>
            <a:r>
              <a:rPr b="1" lang="bg-BG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SELECT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 * 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FROM 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EnrolledCourses AS ec </a:t>
            </a:r>
            <a:r>
              <a:rPr b="1" lang="bg-BG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bg-BG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bg-BG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bg-BG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bg-BG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WHERE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 ec.StudentId = EnrolledCourses.StudentId </a:t>
            </a:r>
            <a:r>
              <a:rPr b="1" lang="bg-BG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bg-BG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AND ec.CourseId = MandatoryCourses.CourseId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bg-BG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bg-BG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b="1" lang="bg-BG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sldNum" idx="24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03380A-468B-4FC0-8D5C-180191F861DF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24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43" dur="indefinite" restart="never" nodeType="tmRoot">
          <p:childTnLst>
            <p:seq>
              <p:cTn id="244" dur="indefinite" nodeType="mainSeq">
                <p:childTnLst>
                  <p:par>
                    <p:cTn id="245" fill="hold">
                      <p:stCondLst>
                        <p:cond delay="indefinite"/>
                      </p:stCondLst>
                      <p:childTnLst>
                        <p:par>
                          <p:cTn id="246" fill="hold">
                            <p:stCondLst>
                              <p:cond delay="0"/>
                            </p:stCondLst>
                            <p:childTnLst>
                              <p:par>
                                <p:cTn id="2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5" fill="hold">
                      <p:stCondLst>
                        <p:cond delay="indefinite"/>
                      </p:stCondLst>
                      <p:childTnLst>
                        <p:par>
                          <p:cTn id="256" fill="hold">
                            <p:stCondLst>
                              <p:cond delay="0"/>
                            </p:stCondLst>
                            <p:childTnLst>
                              <p:par>
                                <p:cTn id="25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5" name="Summary Box Group"/>
          <p:cNvGrpSpPr/>
          <p:nvPr/>
        </p:nvGrpSpPr>
        <p:grpSpPr>
          <a:xfrm>
            <a:off x="207000" y="1294200"/>
            <a:ext cx="9469800" cy="5393520"/>
            <a:chOff x="207000" y="1294200"/>
            <a:chExt cx="9469800" cy="5393520"/>
          </a:xfrm>
        </p:grpSpPr>
        <p:sp>
          <p:nvSpPr>
            <p:cNvPr id="386" name="Rounded Rectangle Blue"/>
            <p:cNvSpPr/>
            <p:nvPr/>
          </p:nvSpPr>
          <p:spPr>
            <a:xfrm>
              <a:off x="207000" y="1294200"/>
              <a:ext cx="9469800" cy="5393520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US" sz="2400" spc="-1" strike="noStrike">
                <a:solidFill>
                  <a:schemeClr val="lt1"/>
                </a:solidFill>
                <a:latin typeface="Calibri"/>
                <a:ea typeface="DejaVu Sans"/>
              </a:endParaRPr>
            </a:p>
          </p:txBody>
        </p:sp>
        <p:sp>
          <p:nvSpPr>
            <p:cNvPr id="387" name="Rounded Rectangle Left"/>
            <p:cNvSpPr/>
            <p:nvPr/>
          </p:nvSpPr>
          <p:spPr>
            <a:xfrm>
              <a:off x="393480" y="1502640"/>
              <a:ext cx="202680" cy="4977000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US" sz="2400" spc="-1" strike="noStrike">
                <a:solidFill>
                  <a:srgbClr val="bf7800"/>
                </a:solidFill>
                <a:latin typeface="Calibri"/>
                <a:ea typeface="DejaVu Sans"/>
              </a:endParaRPr>
            </a:p>
          </p:txBody>
        </p:sp>
      </p:grpSp>
      <p:sp>
        <p:nvSpPr>
          <p:cNvPr id="388" name="PlaceHolder 1"/>
          <p:cNvSpPr>
            <a:spLocks noGrp="1"/>
          </p:cNvSpPr>
          <p:nvPr>
            <p:ph/>
          </p:nvPr>
        </p:nvSpPr>
        <p:spPr>
          <a:xfrm>
            <a:off x="749160" y="228600"/>
            <a:ext cx="8775000" cy="622764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000">
              <a:lnSpc>
                <a:spcPct val="100000"/>
              </a:lnSpc>
              <a:spcBef>
                <a:spcPts val="601"/>
              </a:spcBef>
              <a:buClr>
                <a:srgbClr val="ffffff"/>
              </a:buClr>
              <a:buFont typeface="Wingdings" charset="2"/>
              <a:buChar char=""/>
            </a:pPr>
            <a:r>
              <a:rPr b="1" lang="bg-BG" sz="2700" spc="-1" strike="noStrike">
                <a:solidFill>
                  <a:srgbClr val="ffb840"/>
                </a:solidFill>
                <a:latin typeface="Calibri"/>
              </a:rPr>
              <a:t>По-сложни </a:t>
            </a:r>
            <a:r>
              <a:rPr b="1" lang="en-US" sz="2700" spc="-1" strike="noStrike">
                <a:solidFill>
                  <a:srgbClr val="ffb840"/>
                </a:solidFill>
                <a:latin typeface="Consolas"/>
              </a:rPr>
              <a:t>JOIN</a:t>
            </a:r>
            <a:r>
              <a:rPr b="1" lang="en-US" sz="2700" spc="-1" strike="noStrike">
                <a:solidFill>
                  <a:srgbClr val="ffb840"/>
                </a:solidFill>
                <a:latin typeface="Calibri"/>
              </a:rPr>
              <a:t> </a:t>
            </a:r>
            <a:r>
              <a:rPr b="0" lang="bg-BG" sz="2700" spc="-1" strike="noStrike">
                <a:solidFill>
                  <a:srgbClr val="ffffff"/>
                </a:solidFill>
                <a:latin typeface="Calibri"/>
              </a:rPr>
              <a:t>заявки</a:t>
            </a:r>
            <a:r>
              <a:rPr b="0" lang="en-US" sz="2700" spc="-1" strike="noStrike">
                <a:solidFill>
                  <a:srgbClr val="ffffff"/>
                </a:solidFill>
                <a:latin typeface="Calibri"/>
              </a:rPr>
              <a:t> – </a:t>
            </a:r>
            <a:r>
              <a:rPr b="0" lang="bg-BG" sz="2700" spc="-1" strike="noStrike">
                <a:solidFill>
                  <a:srgbClr val="ffffff"/>
                </a:solidFill>
                <a:latin typeface="Calibri"/>
              </a:rPr>
              <a:t>данни от повече от 2 таблици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  <a:p>
            <a:pPr marL="360360" indent="-360000">
              <a:lnSpc>
                <a:spcPct val="100000"/>
              </a:lnSpc>
              <a:spcBef>
                <a:spcPts val="601"/>
              </a:spcBef>
              <a:buClr>
                <a:srgbClr val="ffffff"/>
              </a:buClr>
              <a:buFont typeface="Wingdings" charset="2"/>
              <a:buChar char=""/>
            </a:pPr>
            <a:r>
              <a:rPr b="1" lang="bg-BG" sz="2700" spc="-1" strike="noStrike">
                <a:solidFill>
                  <a:srgbClr val="ffb840"/>
                </a:solidFill>
                <a:latin typeface="Calibri"/>
              </a:rPr>
              <a:t>Подзаявки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  <a:p>
            <a:pPr lvl="1" marL="969840" indent="-360000">
              <a:lnSpc>
                <a:spcPct val="100000"/>
              </a:lnSpc>
              <a:spcBef>
                <a:spcPts val="601"/>
              </a:spcBef>
              <a:buClr>
                <a:srgbClr val="ffffff"/>
              </a:buClr>
              <a:buFont typeface="Wingdings" charset="2"/>
              <a:buChar char=""/>
            </a:pPr>
            <a:r>
              <a:rPr b="0" lang="ru-RU" sz="2500" spc="-1" strike="noStrike">
                <a:solidFill>
                  <a:srgbClr val="ffffff"/>
                </a:solidFill>
                <a:latin typeface="Calibri"/>
              </a:rPr>
              <a:t>Използват</a:t>
            </a:r>
            <a:r>
              <a:rPr b="0" lang="en-US" sz="2500" spc="-1" strike="noStrike">
                <a:solidFill>
                  <a:srgbClr val="ffffff"/>
                </a:solidFill>
                <a:latin typeface="Calibri"/>
              </a:rPr>
              <a:t> </a:t>
            </a:r>
            <a:r>
              <a:rPr b="0" lang="bg-BG" sz="2500" spc="-1" strike="noStrike">
                <a:solidFill>
                  <a:srgbClr val="ffffff"/>
                </a:solidFill>
                <a:latin typeface="Calibri"/>
              </a:rPr>
              <a:t>се</a:t>
            </a:r>
            <a:r>
              <a:rPr b="0" lang="ru-RU" sz="2500" spc="-1" strike="noStrike">
                <a:solidFill>
                  <a:srgbClr val="ffffff"/>
                </a:solidFill>
                <a:latin typeface="Calibri"/>
              </a:rPr>
              <a:t> за влагане на заявки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  <a:p>
            <a:pPr lvl="1" marL="969840" indent="-360000">
              <a:lnSpc>
                <a:spcPct val="100000"/>
              </a:lnSpc>
              <a:spcBef>
                <a:spcPts val="601"/>
              </a:spcBef>
              <a:buClr>
                <a:srgbClr val="ffffff"/>
              </a:buClr>
              <a:buFont typeface="Wingdings" charset="2"/>
              <a:buChar char=""/>
            </a:pPr>
            <a:r>
              <a:rPr b="0" lang="ru-RU" sz="2500" spc="-1" strike="noStrike">
                <a:solidFill>
                  <a:srgbClr val="ffffff"/>
                </a:solidFill>
                <a:latin typeface="Calibri"/>
              </a:rPr>
              <a:t>Използваме резултата от заявка като данни за друга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  <a:p>
            <a:pPr marL="360360" indent="-360000">
              <a:lnSpc>
                <a:spcPct val="100000"/>
              </a:lnSpc>
              <a:spcBef>
                <a:spcPts val="601"/>
              </a:spcBef>
              <a:buClr>
                <a:srgbClr val="ffffff"/>
              </a:buClr>
              <a:buFont typeface="Wingdings" charset="2"/>
              <a:buChar char=""/>
            </a:pPr>
            <a:r>
              <a:rPr b="1" lang="en-US" sz="2700" spc="-1" strike="noStrike">
                <a:solidFill>
                  <a:srgbClr val="ffb840"/>
                </a:solidFill>
                <a:latin typeface="Consolas"/>
              </a:rPr>
              <a:t>UNION</a:t>
            </a:r>
            <a:r>
              <a:rPr b="0" lang="en-US" sz="2700" spc="-1" strike="noStrike">
                <a:solidFill>
                  <a:srgbClr val="ffffff"/>
                </a:solidFill>
                <a:latin typeface="Calibri"/>
              </a:rPr>
              <a:t> == </a:t>
            </a:r>
            <a:r>
              <a:rPr b="0" lang="ru-RU" sz="2700" spc="-1" strike="noStrike">
                <a:solidFill>
                  <a:srgbClr val="ffffff"/>
                </a:solidFill>
                <a:latin typeface="Calibri"/>
              </a:rPr>
              <a:t>уникални редове от две или повече заявки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  <a:p>
            <a:pPr marL="360360" indent="-360000">
              <a:lnSpc>
                <a:spcPct val="100000"/>
              </a:lnSpc>
              <a:spcBef>
                <a:spcPts val="601"/>
              </a:spcBef>
              <a:buClr>
                <a:srgbClr val="ffffff"/>
              </a:buClr>
              <a:buFont typeface="Wingdings" charset="2"/>
              <a:buChar char=""/>
            </a:pPr>
            <a:r>
              <a:rPr b="1" lang="en-US" sz="2700" spc="-1" strike="noStrike">
                <a:solidFill>
                  <a:srgbClr val="ffb840"/>
                </a:solidFill>
                <a:latin typeface="Consolas"/>
              </a:rPr>
              <a:t>INTERSECT</a:t>
            </a:r>
            <a:r>
              <a:rPr b="1" lang="en-US" sz="2700" spc="-1" strike="noStrike">
                <a:solidFill>
                  <a:srgbClr val="ffb840"/>
                </a:solidFill>
                <a:latin typeface="Calibri"/>
              </a:rPr>
              <a:t> </a:t>
            </a:r>
            <a:r>
              <a:rPr b="0" lang="en-US" sz="2700" spc="-1" strike="noStrike">
                <a:solidFill>
                  <a:srgbClr val="ffffff"/>
                </a:solidFill>
                <a:latin typeface="Calibri"/>
              </a:rPr>
              <a:t>== </a:t>
            </a:r>
            <a:r>
              <a:rPr b="0" lang="ru-RU" sz="2700" spc="-1" strike="noStrike">
                <a:solidFill>
                  <a:srgbClr val="ffffff"/>
                </a:solidFill>
                <a:latin typeface="Calibri"/>
              </a:rPr>
              <a:t>общи</a:t>
            </a:r>
            <a:r>
              <a:rPr b="0" lang="bg-BG" sz="2700" spc="-1" strike="noStrike">
                <a:solidFill>
                  <a:srgbClr val="ffffff"/>
                </a:solidFill>
                <a:latin typeface="Calibri"/>
              </a:rPr>
              <a:t>те</a:t>
            </a:r>
            <a:r>
              <a:rPr b="0" lang="ru-RU" sz="2700" spc="-1" strike="noStrike">
                <a:solidFill>
                  <a:srgbClr val="ffffff"/>
                </a:solidFill>
                <a:latin typeface="Calibri"/>
              </a:rPr>
              <a:t> редове между резултатите на две или повече заявки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  <a:p>
            <a:pPr marL="360360" indent="-360000">
              <a:lnSpc>
                <a:spcPct val="100000"/>
              </a:lnSpc>
              <a:spcBef>
                <a:spcPts val="601"/>
              </a:spcBef>
              <a:buClr>
                <a:srgbClr val="ffffff"/>
              </a:buClr>
              <a:buFont typeface="Wingdings" charset="2"/>
              <a:buChar char=""/>
            </a:pPr>
            <a:r>
              <a:rPr b="1" lang="en-US" sz="2700" spc="-1" strike="noStrike">
                <a:solidFill>
                  <a:srgbClr val="ffb840"/>
                </a:solidFill>
                <a:latin typeface="Consolas"/>
              </a:rPr>
              <a:t>EXCEPT</a:t>
            </a:r>
            <a:r>
              <a:rPr b="1" lang="en-US" sz="2700" spc="-1" strike="noStrike">
                <a:solidFill>
                  <a:srgbClr val="ffb840"/>
                </a:solidFill>
                <a:latin typeface="Calibri"/>
              </a:rPr>
              <a:t> </a:t>
            </a:r>
            <a:r>
              <a:rPr b="0" lang="en-US" sz="2700" spc="-1" strike="noStrike">
                <a:solidFill>
                  <a:srgbClr val="ffffff"/>
                </a:solidFill>
                <a:latin typeface="Calibri"/>
              </a:rPr>
              <a:t>==</a:t>
            </a:r>
            <a:r>
              <a:rPr b="1" lang="en-US" sz="2700" spc="-1" strike="noStrike">
                <a:solidFill>
                  <a:srgbClr val="ffb840"/>
                </a:solidFill>
                <a:latin typeface="Calibri"/>
              </a:rPr>
              <a:t> </a:t>
            </a:r>
            <a:r>
              <a:rPr b="0" lang="ru-RU" sz="2700" spc="-1" strike="noStrike">
                <a:solidFill>
                  <a:srgbClr val="ffffff"/>
                </a:solidFill>
                <a:latin typeface="Calibri"/>
              </a:rPr>
              <a:t>редове от първата заявка, които не се срещат във втората заявка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  <a:p>
            <a:pPr marL="360360" indent="-360000">
              <a:lnSpc>
                <a:spcPct val="100000"/>
              </a:lnSpc>
              <a:spcBef>
                <a:spcPts val="601"/>
              </a:spcBef>
              <a:buClr>
                <a:srgbClr val="ffffff"/>
              </a:buClr>
              <a:buFont typeface="Wingdings" charset="2"/>
              <a:buChar char=""/>
            </a:pPr>
            <a:r>
              <a:rPr b="1" lang="en-US" sz="2700" spc="-1" strike="noStrike">
                <a:solidFill>
                  <a:srgbClr val="ffb840"/>
                </a:solidFill>
                <a:latin typeface="Consolas"/>
              </a:rPr>
              <a:t>DIVIDE</a:t>
            </a:r>
            <a:r>
              <a:rPr b="0" lang="bg-BG" sz="2700" spc="-1" strike="noStrike">
                <a:solidFill>
                  <a:srgbClr val="ffffff"/>
                </a:solidFill>
                <a:latin typeface="Calibri"/>
              </a:rPr>
              <a:t> == </a:t>
            </a:r>
            <a:r>
              <a:rPr b="0" lang="ru-RU" sz="2700" spc="-1" strike="noStrike">
                <a:solidFill>
                  <a:srgbClr val="ffffff"/>
                </a:solidFill>
                <a:latin typeface="Calibri"/>
              </a:rPr>
              <a:t>стойности от първата таблица, съответстващи на всички стойности от втората таблица</a:t>
            </a:r>
            <a:r>
              <a:rPr b="0" lang="bg-BG" sz="2700" spc="-1" strike="noStrike">
                <a:solidFill>
                  <a:srgbClr val="ffffff"/>
                </a:solidFill>
                <a:latin typeface="Calibri"/>
              </a:rPr>
              <a:t> 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9" name="Picture SoftUni Mascot" descr=""/>
          <p:cNvPicPr/>
          <p:nvPr/>
        </p:nvPicPr>
        <p:blipFill>
          <a:blip r:embed="rId1"/>
          <a:stretch/>
        </p:blipFill>
        <p:spPr>
          <a:xfrm flipH="1">
            <a:off x="9811440" y="4204080"/>
            <a:ext cx="2055240" cy="2224440"/>
          </a:xfrm>
          <a:prstGeom prst="rect">
            <a:avLst/>
          </a:prstGeom>
          <a:ln w="0">
            <a:noFill/>
          </a:ln>
        </p:spPr>
      </p:pic>
      <p:sp>
        <p:nvSpPr>
          <p:cNvPr id="390" name="PlaceHolder 2"/>
          <p:cNvSpPr>
            <a:spLocks noGrp="1"/>
          </p:cNvSpPr>
          <p:nvPr>
            <p:ph type="title"/>
          </p:nvPr>
        </p:nvSpPr>
        <p:spPr>
          <a:xfrm>
            <a:off x="16920" y="-2286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Обобщение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25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452428-A132-45D1-8FF6-C0EE0AAD871F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25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59" dur="indefinite" restart="never" nodeType="tmRoot">
          <p:childTnLst>
            <p:seq>
              <p:cTn id="260" dur="indefinite" nodeType="mainSeq">
                <p:childTnLst>
                  <p:par>
                    <p:cTn id="261" fill="hold">
                      <p:stCondLst>
                        <p:cond delay="indefinite"/>
                      </p:stCondLst>
                      <p:childTnLst>
                        <p:par>
                          <p:cTn id="262" fill="hold">
                            <p:stCondLst>
                              <p:cond delay="0"/>
                            </p:stCondLst>
                            <p:childTnLst>
                              <p:par>
                                <p:cTn id="2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7" fill="hold">
                      <p:stCondLst>
                        <p:cond delay="indefinite"/>
                      </p:stCondLst>
                      <p:childTnLst>
                        <p:par>
                          <p:cTn id="268" fill="hold">
                            <p:stCondLst>
                              <p:cond delay="0"/>
                            </p:stCondLst>
                            <p:childTnLst>
                              <p:par>
                                <p:cTn id="2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1" fill="hold">
                      <p:stCondLst>
                        <p:cond delay="indefinite"/>
                      </p:stCondLst>
                      <p:childTnLst>
                        <p:par>
                          <p:cTn id="272" fill="hold">
                            <p:stCondLst>
                              <p:cond delay="0"/>
                            </p:stCondLst>
                            <p:childTnLst>
                              <p:par>
                                <p:cTn id="2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5" fill="hold">
                      <p:stCondLst>
                        <p:cond delay="indefinite"/>
                      </p:stCondLst>
                      <p:childTnLst>
                        <p:par>
                          <p:cTn id="276" fill="hold">
                            <p:stCondLst>
                              <p:cond delay="0"/>
                            </p:stCondLst>
                            <p:childTnLst>
                              <p:par>
                                <p:cTn id="2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indefinite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3" fill="hold">
                      <p:stCondLst>
                        <p:cond delay="indefinite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id="28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726840" y="1461960"/>
            <a:ext cx="10730880" cy="30463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13800" spc="-1" strike="noStrike">
                <a:solidFill>
                  <a:srgbClr val="234465"/>
                </a:solidFill>
                <a:latin typeface="Calibri"/>
              </a:rPr>
              <a:t>Въпроси</a:t>
            </a:r>
            <a:r>
              <a:rPr b="1" lang="en-US" sz="13800" spc="-1" strike="noStrike">
                <a:solidFill>
                  <a:srgbClr val="234465"/>
                </a:solidFill>
                <a:latin typeface="Calibri"/>
              </a:rPr>
              <a:t>?</a:t>
            </a:r>
            <a:endParaRPr b="0" lang="en-US" sz="13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Rectangle Bottom Copyright"/>
          <p:cNvSpPr/>
          <p:nvPr/>
        </p:nvSpPr>
        <p:spPr>
          <a:xfrm>
            <a:off x="110880" y="6454800"/>
            <a:ext cx="1196928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bg-BG" sz="1600" spc="-1" strike="noStrike">
                <a:solidFill>
                  <a:srgbClr val="ffffff"/>
                </a:solidFill>
                <a:latin typeface="Calibri"/>
                <a:ea typeface="Calibri"/>
              </a:rPr>
              <a:t>Проект "</a:t>
            </a:r>
            <a:r>
              <a:rPr b="0" lang="bg-BG" sz="1600" spc="-1" strike="noStrike" u="sng">
                <a:solidFill>
                  <a:srgbClr val="bf7800"/>
                </a:solidFill>
                <a:uFillTx/>
                <a:latin typeface="Calibri"/>
                <a:ea typeface="Calibri"/>
                <a:hlinkClick r:id="rId1"/>
              </a:rPr>
              <a:t>Отворено учебно съдържание по програмиране и ИТ</a:t>
            </a:r>
            <a:r>
              <a:rPr b="0" lang="bg-BG" sz="1600" spc="-1" strike="noStrike">
                <a:solidFill>
                  <a:srgbClr val="ffffff"/>
                </a:solidFill>
                <a:latin typeface="Calibri"/>
                <a:ea typeface="Calibri"/>
              </a:rPr>
              <a:t>", СофтУни Фондация (лиценз </a:t>
            </a: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CC-BY-NC-SA</a:t>
            </a:r>
            <a:r>
              <a:rPr b="0" lang="bg-BG" sz="1600" spc="-1" strike="noStrike">
                <a:solidFill>
                  <a:srgbClr val="ffffff"/>
                </a:solidFill>
                <a:latin typeface="Calibri"/>
                <a:ea typeface="Calibri"/>
              </a:rPr>
              <a:t>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/>
          </p:nvPr>
        </p:nvSpPr>
        <p:spPr>
          <a:xfrm>
            <a:off x="190440" y="1269000"/>
            <a:ext cx="9864720" cy="247428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 fontScale="87000"/>
          </a:bodyPr>
          <a:p>
            <a:pPr marL="313200" indent="-313200">
              <a:lnSpc>
                <a:spcPct val="12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Този курс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(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презентации, примери, демонстрационен код, упражнения, домашни, видео и други активи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)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представлява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bg-BG" sz="3200" spc="-1" strike="noStrike">
                <a:solidFill>
                  <a:srgbClr val="234465"/>
                </a:solidFill>
                <a:latin typeface="Calibri"/>
              </a:rPr>
              <a:t>свободно учебно съдържание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и се разпространява под свободен лиценз </a:t>
            </a:r>
            <a:r>
              <a:rPr b="1" lang="en-US" sz="3200" spc="-1" strike="noStrike">
                <a:solidFill>
                  <a:srgbClr val="234465"/>
                </a:solidFill>
                <a:latin typeface="Calibri"/>
              </a:rPr>
              <a:t>CC-BY-NC-SA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5" name="Picture License" descr="License"/>
          <p:cNvPicPr/>
          <p:nvPr/>
        </p:nvPicPr>
        <p:blipFill>
          <a:blip r:embed="rId1"/>
          <a:stretch/>
        </p:blipFill>
        <p:spPr>
          <a:xfrm>
            <a:off x="10226160" y="1440000"/>
            <a:ext cx="1198440" cy="1268280"/>
          </a:xfrm>
          <a:prstGeom prst="rect">
            <a:avLst/>
          </a:prstGeom>
          <a:ln w="0">
            <a:noFill/>
          </a:ln>
        </p:spPr>
      </p:pic>
      <p:sp>
        <p:nvSpPr>
          <p:cNvPr id="396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Лиценз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10"/>
          <p:cNvSpPr/>
          <p:nvPr/>
        </p:nvSpPr>
        <p:spPr>
          <a:xfrm>
            <a:off x="190440" y="3927600"/>
            <a:ext cx="11709720" cy="2660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60360" indent="-360360">
              <a:lnSpc>
                <a:spcPct val="12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  <a:ea typeface="DejaVu Sans"/>
              </a:rPr>
              <a:t>Проект "</a:t>
            </a:r>
            <a:r>
              <a:rPr b="1" lang="bg-BG" sz="3200" spc="-1" strike="noStrike">
                <a:solidFill>
                  <a:srgbClr val="234465"/>
                </a:solidFill>
                <a:latin typeface="Calibri"/>
                <a:ea typeface="DejaVu Sans"/>
              </a:rPr>
              <a:t>Отворено учебно съдържание по програмиране и ИТ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  <a:ea typeface="DejaVu Sans"/>
              </a:rPr>
              <a:t>" към Фондация "Софтуерен университет"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  <a:ea typeface="DejaVu Sans"/>
              </a:rPr>
              <a:t>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17560" indent="-360360">
              <a:lnSpc>
                <a:spcPct val="12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en-US" sz="3200" spc="-1" strike="noStrike" u="sng">
                <a:solidFill>
                  <a:srgbClr val="bf7800"/>
                </a:solidFill>
                <a:uFillTx/>
                <a:latin typeface="Calibri"/>
                <a:ea typeface="DejaVu Sans"/>
                <a:hlinkClick r:id="rId2"/>
              </a:rPr>
              <a:t>https://github.com/BG-IT-Edu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icture 6">
            <a:hlinkClick r:id="rId3"/>
          </p:cNvPr>
          <p:cNvSpPr/>
          <p:nvPr/>
        </p:nvSpPr>
        <p:spPr>
          <a:xfrm>
            <a:off x="9830880" y="2908440"/>
            <a:ext cx="1988640" cy="695160"/>
          </a:xfrm>
          <a:prstGeom prst="roundRect">
            <a:avLst>
              <a:gd name="adj" fmla="val 3940"/>
            </a:avLst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sldNum" idx="26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9C57C2-05C0-4745-8F55-AB840412AC68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27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3909</TotalTime>
  <Application>LibreOffice/7.4.7.2$Linux_X86_64 LibreOffice_project/40$Build-2</Application>
  <AppVersion>15.0000</AppVersion>
  <Words>1283</Words>
  <Paragraphs>317</Paragraphs>
  <Company>BG-IT-Edu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category>computer programming;programming;software development;software engineering</cp:category>
  <dcterms:created xsi:type="dcterms:W3CDTF">2018-05-23T13:08:44Z</dcterms:created>
  <dc:creator>BG-IT-Edu</dc:creator>
  <dc:description>Open Programming and IT Courseware for IT Teachers (BG-IT-Edu): https://github.com/BG-IT-Edu
With the kind support of SoftUni: https://softuni.bg</dc:description>
  <cp:keywords>SoftUni Software University programming coding computer programming software development software engineering software technologies digital skills technical skills training course</cp:keywords>
  <dc:language>en-US</dc:language>
  <cp:lastModifiedBy/>
  <dcterms:modified xsi:type="dcterms:W3CDTF">2025-11-04T09:48:10Z</dcterms:modified>
  <cp:revision>110</cp:revision>
  <dc:subject>Модул 3: Релационни бази данни</dc:subject>
  <dc:title>По-сложни съединения и вложени заявки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</vt:i4>
  </property>
  <property fmtid="{D5CDD505-2E9C-101B-9397-08002B2CF9AE}" pid="3" name="Notes">
    <vt:i4>14</vt:i4>
  </property>
  <property fmtid="{D5CDD505-2E9C-101B-9397-08002B2CF9AE}" pid="4" name="PresentationFormat">
    <vt:lpwstr>Widescreen</vt:lpwstr>
  </property>
  <property fmtid="{D5CDD505-2E9C-101B-9397-08002B2CF9AE}" pid="5" name="Slides">
    <vt:i4>27</vt:i4>
  </property>
</Properties>
</file>